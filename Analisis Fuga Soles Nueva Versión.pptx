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73" r:id="rId7"/>
    <p:sldId id="274" r:id="rId8"/>
    <p:sldId id="261" r:id="rId9"/>
    <p:sldId id="262" r:id="rId10"/>
    <p:sldId id="263" r:id="rId11"/>
    <p:sldId id="264" r:id="rId12"/>
    <p:sldId id="265" r:id="rId13"/>
    <p:sldId id="267" r:id="rId14"/>
    <p:sldId id="269" r:id="rId15"/>
    <p:sldId id="268"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FBEBC3-3813-494F-89DB-428DF6814B5F}" v="1" dt="2026-08-11T22:05:31.095"/>
    <p1510:client id="{B235B8B6-6DDB-C586-087C-1E5B2DD87809}" v="6" dt="2026-08-11T21:42:51.274"/>
    <p1510:client id="{E84DA1C0-2ECB-D0AB-0F45-965A73CBD4E8}" v="158" dt="2026-08-05T15:43:05.0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 de operaciones</c:v>
                </c:pt>
              </c:strCache>
            </c:strRef>
          </c:tx>
          <c:spPr>
            <a:solidFill>
              <a:srgbClr val="3D5A99"/>
            </a:solidFill>
            <a:effectLst/>
          </c:spPr>
          <c:invertIfNegative val="0"/>
          <c:dLbls>
            <c:numFmt formatCode="0.0&quot;%&quot;" sourceLinked="0"/>
            <c:spPr>
              <a:noFill/>
              <a:ln>
                <a:noFill/>
              </a:ln>
              <a:effectLst/>
            </c:spPr>
            <c:txPr>
              <a:bodyPr/>
              <a:lstStyle/>
              <a:p>
                <a:pPr>
                  <a:defRPr sz="900" b="0" i="0" u="none" strike="noStrike">
                    <a:solidFill>
                      <a:srgbClr val="333333"/>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 S/500</c:v>
                </c:pt>
                <c:pt idx="1">
                  <c:v>Solo S/500</c:v>
                </c:pt>
                <c:pt idx="2">
                  <c:v>Moderado
501–5,000</c:v>
                </c:pt>
                <c:pt idx="3">
                  <c:v>Alto
5,001–20,000</c:v>
                </c:pt>
                <c:pt idx="4">
                  <c:v>Crítico
&gt; 20,000</c:v>
                </c:pt>
              </c:strCache>
            </c:strRef>
          </c:cat>
          <c:val>
            <c:numRef>
              <c:f>Sheet1!$B$2:$B$6</c:f>
              <c:numCache>
                <c:formatCode>General</c:formatCode>
                <c:ptCount val="5"/>
                <c:pt idx="0">
                  <c:v>60.9</c:v>
                </c:pt>
                <c:pt idx="1">
                  <c:v>28.1</c:v>
                </c:pt>
                <c:pt idx="2">
                  <c:v>8.6999999999999993</c:v>
                </c:pt>
                <c:pt idx="3">
                  <c:v>1.7</c:v>
                </c:pt>
                <c:pt idx="4">
                  <c:v>0.6</c:v>
                </c:pt>
              </c:numCache>
            </c:numRef>
          </c:val>
          <c:extLst>
            <c:ext xmlns:c16="http://schemas.microsoft.com/office/drawing/2014/chart" uri="{C3380CC4-5D6E-409C-BE32-E72D297353CC}">
              <c16:uniqueId val="{00000000-C79C-4043-8926-3D7FA41651CD}"/>
            </c:ext>
          </c:extLst>
        </c:ser>
        <c:ser>
          <c:idx val="1"/>
          <c:order val="1"/>
          <c:tx>
            <c:strRef>
              <c:f>Sheet1!$C$1</c:f>
              <c:strCache>
                <c:ptCount val="1"/>
                <c:pt idx="0">
                  <c:v>% del monto</c:v>
                </c:pt>
              </c:strCache>
            </c:strRef>
          </c:tx>
          <c:spPr>
            <a:solidFill>
              <a:srgbClr val="C9A15A"/>
            </a:solidFill>
            <a:effectLst/>
          </c:spPr>
          <c:invertIfNegative val="0"/>
          <c:dLbls>
            <c:numFmt formatCode="0.0&quot;%&quot;" sourceLinked="0"/>
            <c:spPr>
              <a:noFill/>
              <a:ln>
                <a:noFill/>
              </a:ln>
              <a:effectLst/>
            </c:spPr>
            <c:txPr>
              <a:bodyPr/>
              <a:lstStyle/>
              <a:p>
                <a:pPr>
                  <a:defRPr sz="900" b="0" i="0" u="none" strike="noStrike">
                    <a:solidFill>
                      <a:srgbClr val="333333"/>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 S/500</c:v>
                </c:pt>
                <c:pt idx="1">
                  <c:v>Solo S/500</c:v>
                </c:pt>
                <c:pt idx="2">
                  <c:v>Moderado
501–5,000</c:v>
                </c:pt>
                <c:pt idx="3">
                  <c:v>Alto
5,001–20,000</c:v>
                </c:pt>
                <c:pt idx="4">
                  <c:v>Crítico
&gt; 20,000</c:v>
                </c:pt>
              </c:strCache>
            </c:strRef>
          </c:cat>
          <c:val>
            <c:numRef>
              <c:f>Sheet1!$C$2:$C$6</c:f>
              <c:numCache>
                <c:formatCode>General</c:formatCode>
                <c:ptCount val="5"/>
                <c:pt idx="0">
                  <c:v>8</c:v>
                </c:pt>
                <c:pt idx="1">
                  <c:v>19.8</c:v>
                </c:pt>
                <c:pt idx="2">
                  <c:v>24.7</c:v>
                </c:pt>
                <c:pt idx="3">
                  <c:v>25.3</c:v>
                </c:pt>
                <c:pt idx="4">
                  <c:v>22.2</c:v>
                </c:pt>
              </c:numCache>
            </c:numRef>
          </c:val>
          <c:extLst>
            <c:ext xmlns:c16="http://schemas.microsoft.com/office/drawing/2014/chart" uri="{C3380CC4-5D6E-409C-BE32-E72D297353CC}">
              <c16:uniqueId val="{00000001-C79C-4043-8926-3D7FA41651CD}"/>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000">
              <a:solidFill>
                <a:srgbClr val="333333"/>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Bancos grandes (BCP, BBVA, Scotia, Interbank)</c:v>
                </c:pt>
              </c:strCache>
            </c:strRef>
          </c:tx>
          <c:spPr>
            <a:solidFill>
              <a:srgbClr val="3D5A99"/>
            </a:solidFill>
            <a:effectLst/>
          </c:spPr>
          <c:invertIfNegative val="0"/>
          <c:dLbls>
            <c:numFmt formatCode="0&quot;%&quot;" sourceLinked="0"/>
            <c:spPr>
              <a:noFill/>
              <a:ln>
                <a:noFill/>
              </a:ln>
              <a:effectLst/>
            </c:spPr>
            <c:txPr>
              <a:bodyPr/>
              <a:lstStyle/>
              <a:p>
                <a:pPr>
                  <a:defRPr sz="900" b="0" i="0" u="none" strike="noStrike">
                    <a:solidFill>
                      <a:srgbClr val="333333"/>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Mejor tasa
de interés</c:v>
                </c:pt>
                <c:pt idx="1">
                  <c:v>Vínculo previo
(sueldo/productos)</c:v>
                </c:pt>
                <c:pt idx="2">
                  <c:v>Promociones
o beneficios</c:v>
                </c:pt>
              </c:strCache>
            </c:strRef>
          </c:cat>
          <c:val>
            <c:numRef>
              <c:f>Sheet1!$B$2:$B$4</c:f>
              <c:numCache>
                <c:formatCode>General</c:formatCode>
                <c:ptCount val="3"/>
                <c:pt idx="0">
                  <c:v>42</c:v>
                </c:pt>
                <c:pt idx="1">
                  <c:v>47</c:v>
                </c:pt>
                <c:pt idx="2">
                  <c:v>23</c:v>
                </c:pt>
              </c:numCache>
            </c:numRef>
          </c:val>
          <c:extLst>
            <c:ext xmlns:c16="http://schemas.microsoft.com/office/drawing/2014/chart" uri="{C3380CC4-5D6E-409C-BE32-E72D297353CC}">
              <c16:uniqueId val="{00000000-93D1-3F41-A866-CB69A7DF3B4C}"/>
            </c:ext>
          </c:extLst>
        </c:ser>
        <c:ser>
          <c:idx val="1"/>
          <c:order val="1"/>
          <c:tx>
            <c:strRef>
              <c:f>Sheet1!$C$1</c:f>
              <c:strCache>
                <c:ptCount val="1"/>
                <c:pt idx="0">
                  <c:v>Otras entidades (cajas, financieras)</c:v>
                </c:pt>
              </c:strCache>
            </c:strRef>
          </c:tx>
          <c:spPr>
            <a:solidFill>
              <a:srgbClr val="C9A15A"/>
            </a:solidFill>
            <a:effectLst/>
          </c:spPr>
          <c:invertIfNegative val="0"/>
          <c:dLbls>
            <c:numFmt formatCode="0&quot;%&quot;" sourceLinked="0"/>
            <c:spPr>
              <a:noFill/>
              <a:ln>
                <a:noFill/>
              </a:ln>
              <a:effectLst/>
            </c:spPr>
            <c:txPr>
              <a:bodyPr/>
              <a:lstStyle/>
              <a:p>
                <a:pPr>
                  <a:defRPr sz="900" b="0" i="0" u="none" strike="noStrike">
                    <a:solidFill>
                      <a:srgbClr val="333333"/>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Mejor tasa
de interés</c:v>
                </c:pt>
                <c:pt idx="1">
                  <c:v>Vínculo previo
(sueldo/productos)</c:v>
                </c:pt>
                <c:pt idx="2">
                  <c:v>Promociones
o beneficios</c:v>
                </c:pt>
              </c:strCache>
            </c:strRef>
          </c:cat>
          <c:val>
            <c:numRef>
              <c:f>Sheet1!$C$2:$C$4</c:f>
              <c:numCache>
                <c:formatCode>General</c:formatCode>
                <c:ptCount val="3"/>
                <c:pt idx="0">
                  <c:v>90</c:v>
                </c:pt>
                <c:pt idx="1">
                  <c:v>7</c:v>
                </c:pt>
                <c:pt idx="2">
                  <c:v>15</c:v>
                </c:pt>
              </c:numCache>
            </c:numRef>
          </c:val>
          <c:extLst>
            <c:ext xmlns:c16="http://schemas.microsoft.com/office/drawing/2014/chart" uri="{C3380CC4-5D6E-409C-BE32-E72D297353CC}">
              <c16:uniqueId val="{00000001-93D1-3F41-A866-CB69A7DF3B4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950">
              <a:solidFill>
                <a:srgbClr val="333333"/>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&lt; S/500</c:v>
                </c:pt>
              </c:strCache>
            </c:strRef>
          </c:tx>
          <c:spPr>
            <a:ln w="28575" cap="flat">
              <a:solidFill>
                <a:srgbClr val="9CA3AF"/>
              </a:solidFill>
              <a:prstDash val="solid"/>
              <a:round/>
            </a:ln>
            <a:effectLst/>
          </c:spPr>
          <c:marker>
            <c:symbol val="circle"/>
            <c:size val="5"/>
            <c:spPr>
              <a:solidFill>
                <a:srgbClr val="9CA3AF"/>
              </a:solidFill>
              <a:ln w="9525" cap="flat">
                <a:solidFill>
                  <a:srgbClr val="9CA3AF"/>
                </a:solidFill>
                <a:prstDash val="solid"/>
                <a:round/>
              </a:ln>
              <a:effectLst/>
            </c:spPr>
          </c:marker>
          <c:cat>
            <c:strRef>
              <c:f>Sheet1!$A$2:$A$31</c:f>
              <c:strCache>
                <c:ptCount val="30"/>
                <c:pt idx="0">
                  <c:v>1-Jun</c:v>
                </c:pt>
                <c:pt idx="1">
                  <c:v>2-Jun</c:v>
                </c:pt>
                <c:pt idx="2">
                  <c:v>3-Jun</c:v>
                </c:pt>
                <c:pt idx="3">
                  <c:v>4-Jun</c:v>
                </c:pt>
                <c:pt idx="4">
                  <c:v>5-Jun</c:v>
                </c:pt>
                <c:pt idx="5">
                  <c:v>6-Jun</c:v>
                </c:pt>
                <c:pt idx="6">
                  <c:v>7-Jun</c:v>
                </c:pt>
                <c:pt idx="7">
                  <c:v>8-Jun</c:v>
                </c:pt>
                <c:pt idx="8">
                  <c:v>9-Jun</c:v>
                </c:pt>
                <c:pt idx="9">
                  <c:v>10-Jun</c:v>
                </c:pt>
                <c:pt idx="10">
                  <c:v>11-Jun</c:v>
                </c:pt>
                <c:pt idx="11">
                  <c:v>12-Jun</c:v>
                </c:pt>
                <c:pt idx="12">
                  <c:v>13-Jun</c:v>
                </c:pt>
                <c:pt idx="13">
                  <c:v>14-Jun</c:v>
                </c:pt>
                <c:pt idx="14">
                  <c:v>15-Jun</c:v>
                </c:pt>
                <c:pt idx="15">
                  <c:v>16-Jun</c:v>
                </c:pt>
                <c:pt idx="16">
                  <c:v>17-Jun</c:v>
                </c:pt>
                <c:pt idx="17">
                  <c:v>18-Jun</c:v>
                </c:pt>
                <c:pt idx="18">
                  <c:v>19-Jun</c:v>
                </c:pt>
                <c:pt idx="19">
                  <c:v>20-Jun</c:v>
                </c:pt>
                <c:pt idx="20">
                  <c:v>21-Jun</c:v>
                </c:pt>
                <c:pt idx="21">
                  <c:v>22-Jun</c:v>
                </c:pt>
                <c:pt idx="22">
                  <c:v>23-Jun</c:v>
                </c:pt>
                <c:pt idx="23">
                  <c:v>24-Jun</c:v>
                </c:pt>
                <c:pt idx="24">
                  <c:v>25-Jun</c:v>
                </c:pt>
                <c:pt idx="25">
                  <c:v>26-Jun</c:v>
                </c:pt>
                <c:pt idx="26">
                  <c:v>27-Jun</c:v>
                </c:pt>
                <c:pt idx="27">
                  <c:v>28-Jun</c:v>
                </c:pt>
                <c:pt idx="28">
                  <c:v>29-Jun</c:v>
                </c:pt>
                <c:pt idx="29">
                  <c:v>30-Jun</c:v>
                </c:pt>
              </c:strCache>
            </c:strRef>
          </c:cat>
          <c:val>
            <c:numRef>
              <c:f>Sheet1!$B$2:$B$31</c:f>
              <c:numCache>
                <c:formatCode>General</c:formatCode>
                <c:ptCount val="30"/>
                <c:pt idx="0">
                  <c:v>0</c:v>
                </c:pt>
                <c:pt idx="1">
                  <c:v>10</c:v>
                </c:pt>
                <c:pt idx="2">
                  <c:v>22</c:v>
                </c:pt>
                <c:pt idx="3">
                  <c:v>13</c:v>
                </c:pt>
                <c:pt idx="4">
                  <c:v>13</c:v>
                </c:pt>
                <c:pt idx="5">
                  <c:v>11</c:v>
                </c:pt>
                <c:pt idx="6">
                  <c:v>10</c:v>
                </c:pt>
                <c:pt idx="7">
                  <c:v>18</c:v>
                </c:pt>
                <c:pt idx="8">
                  <c:v>19</c:v>
                </c:pt>
                <c:pt idx="9">
                  <c:v>16</c:v>
                </c:pt>
                <c:pt idx="10">
                  <c:v>12</c:v>
                </c:pt>
                <c:pt idx="11">
                  <c:v>14</c:v>
                </c:pt>
                <c:pt idx="12">
                  <c:v>20</c:v>
                </c:pt>
                <c:pt idx="13">
                  <c:v>16</c:v>
                </c:pt>
                <c:pt idx="14">
                  <c:v>18</c:v>
                </c:pt>
                <c:pt idx="15">
                  <c:v>18</c:v>
                </c:pt>
                <c:pt idx="16">
                  <c:v>15</c:v>
                </c:pt>
                <c:pt idx="17">
                  <c:v>17</c:v>
                </c:pt>
                <c:pt idx="18">
                  <c:v>18</c:v>
                </c:pt>
                <c:pt idx="19">
                  <c:v>20</c:v>
                </c:pt>
                <c:pt idx="20">
                  <c:v>16</c:v>
                </c:pt>
                <c:pt idx="21">
                  <c:v>10</c:v>
                </c:pt>
                <c:pt idx="22">
                  <c:v>20</c:v>
                </c:pt>
                <c:pt idx="23">
                  <c:v>20</c:v>
                </c:pt>
                <c:pt idx="24">
                  <c:v>16</c:v>
                </c:pt>
                <c:pt idx="25">
                  <c:v>18</c:v>
                </c:pt>
                <c:pt idx="26">
                  <c:v>23</c:v>
                </c:pt>
                <c:pt idx="27">
                  <c:v>15</c:v>
                </c:pt>
                <c:pt idx="28">
                  <c:v>13</c:v>
                </c:pt>
                <c:pt idx="29">
                  <c:v>11</c:v>
                </c:pt>
              </c:numCache>
            </c:numRef>
          </c:val>
          <c:smooth val="0"/>
          <c:extLst>
            <c:ext xmlns:c16="http://schemas.microsoft.com/office/drawing/2014/chart" uri="{C3380CC4-5D6E-409C-BE32-E72D297353CC}">
              <c16:uniqueId val="{00000000-A6F4-4376-AD7F-3A07B95AD135}"/>
            </c:ext>
          </c:extLst>
        </c:ser>
        <c:ser>
          <c:idx val="1"/>
          <c:order val="1"/>
          <c:tx>
            <c:strRef>
              <c:f>Sheet1!$C$1</c:f>
              <c:strCache>
                <c:ptCount val="1"/>
                <c:pt idx="0">
                  <c:v>Solo S/500</c:v>
                </c:pt>
              </c:strCache>
            </c:strRef>
          </c:tx>
          <c:spPr>
            <a:ln w="28575" cap="flat">
              <a:solidFill>
                <a:srgbClr val="60A5FA"/>
              </a:solidFill>
              <a:prstDash val="solid"/>
              <a:round/>
            </a:ln>
            <a:effectLst/>
          </c:spPr>
          <c:marker>
            <c:symbol val="circle"/>
            <c:size val="5"/>
            <c:spPr>
              <a:solidFill>
                <a:srgbClr val="60A5FA"/>
              </a:solidFill>
              <a:ln w="9525" cap="flat">
                <a:solidFill>
                  <a:srgbClr val="60A5FA"/>
                </a:solidFill>
                <a:prstDash val="solid"/>
                <a:round/>
              </a:ln>
              <a:effectLst/>
            </c:spPr>
          </c:marker>
          <c:cat>
            <c:strRef>
              <c:f>Sheet1!$A$2:$A$31</c:f>
              <c:strCache>
                <c:ptCount val="30"/>
                <c:pt idx="0">
                  <c:v>1-Jun</c:v>
                </c:pt>
                <c:pt idx="1">
                  <c:v>2-Jun</c:v>
                </c:pt>
                <c:pt idx="2">
                  <c:v>3-Jun</c:v>
                </c:pt>
                <c:pt idx="3">
                  <c:v>4-Jun</c:v>
                </c:pt>
                <c:pt idx="4">
                  <c:v>5-Jun</c:v>
                </c:pt>
                <c:pt idx="5">
                  <c:v>6-Jun</c:v>
                </c:pt>
                <c:pt idx="6">
                  <c:v>7-Jun</c:v>
                </c:pt>
                <c:pt idx="7">
                  <c:v>8-Jun</c:v>
                </c:pt>
                <c:pt idx="8">
                  <c:v>9-Jun</c:v>
                </c:pt>
                <c:pt idx="9">
                  <c:v>10-Jun</c:v>
                </c:pt>
                <c:pt idx="10">
                  <c:v>11-Jun</c:v>
                </c:pt>
                <c:pt idx="11">
                  <c:v>12-Jun</c:v>
                </c:pt>
                <c:pt idx="12">
                  <c:v>13-Jun</c:v>
                </c:pt>
                <c:pt idx="13">
                  <c:v>14-Jun</c:v>
                </c:pt>
                <c:pt idx="14">
                  <c:v>15-Jun</c:v>
                </c:pt>
                <c:pt idx="15">
                  <c:v>16-Jun</c:v>
                </c:pt>
                <c:pt idx="16">
                  <c:v>17-Jun</c:v>
                </c:pt>
                <c:pt idx="17">
                  <c:v>18-Jun</c:v>
                </c:pt>
                <c:pt idx="18">
                  <c:v>19-Jun</c:v>
                </c:pt>
                <c:pt idx="19">
                  <c:v>20-Jun</c:v>
                </c:pt>
                <c:pt idx="20">
                  <c:v>21-Jun</c:v>
                </c:pt>
                <c:pt idx="21">
                  <c:v>22-Jun</c:v>
                </c:pt>
                <c:pt idx="22">
                  <c:v>23-Jun</c:v>
                </c:pt>
                <c:pt idx="23">
                  <c:v>24-Jun</c:v>
                </c:pt>
                <c:pt idx="24">
                  <c:v>25-Jun</c:v>
                </c:pt>
                <c:pt idx="25">
                  <c:v>26-Jun</c:v>
                </c:pt>
                <c:pt idx="26">
                  <c:v>27-Jun</c:v>
                </c:pt>
                <c:pt idx="27">
                  <c:v>28-Jun</c:v>
                </c:pt>
                <c:pt idx="28">
                  <c:v>29-Jun</c:v>
                </c:pt>
                <c:pt idx="29">
                  <c:v>30-Jun</c:v>
                </c:pt>
              </c:strCache>
            </c:strRef>
          </c:cat>
          <c:val>
            <c:numRef>
              <c:f>Sheet1!$C$2:$C$31</c:f>
              <c:numCache>
                <c:formatCode>General</c:formatCode>
                <c:ptCount val="30"/>
                <c:pt idx="0">
                  <c:v>0</c:v>
                </c:pt>
                <c:pt idx="1">
                  <c:v>2</c:v>
                </c:pt>
                <c:pt idx="2">
                  <c:v>3</c:v>
                </c:pt>
                <c:pt idx="3">
                  <c:v>2</c:v>
                </c:pt>
                <c:pt idx="4">
                  <c:v>5</c:v>
                </c:pt>
                <c:pt idx="5">
                  <c:v>5</c:v>
                </c:pt>
                <c:pt idx="6">
                  <c:v>3</c:v>
                </c:pt>
                <c:pt idx="7">
                  <c:v>2</c:v>
                </c:pt>
                <c:pt idx="8">
                  <c:v>3</c:v>
                </c:pt>
                <c:pt idx="9">
                  <c:v>0</c:v>
                </c:pt>
                <c:pt idx="10">
                  <c:v>4</c:v>
                </c:pt>
                <c:pt idx="11">
                  <c:v>3</c:v>
                </c:pt>
                <c:pt idx="12">
                  <c:v>4</c:v>
                </c:pt>
                <c:pt idx="13">
                  <c:v>0</c:v>
                </c:pt>
                <c:pt idx="14">
                  <c:v>3</c:v>
                </c:pt>
                <c:pt idx="15">
                  <c:v>0</c:v>
                </c:pt>
                <c:pt idx="16">
                  <c:v>0</c:v>
                </c:pt>
                <c:pt idx="17">
                  <c:v>3</c:v>
                </c:pt>
                <c:pt idx="18">
                  <c:v>4</c:v>
                </c:pt>
                <c:pt idx="19">
                  <c:v>1</c:v>
                </c:pt>
                <c:pt idx="20">
                  <c:v>0</c:v>
                </c:pt>
                <c:pt idx="21">
                  <c:v>3</c:v>
                </c:pt>
                <c:pt idx="22">
                  <c:v>2</c:v>
                </c:pt>
                <c:pt idx="23">
                  <c:v>3</c:v>
                </c:pt>
                <c:pt idx="24">
                  <c:v>1</c:v>
                </c:pt>
                <c:pt idx="25">
                  <c:v>2</c:v>
                </c:pt>
                <c:pt idx="26">
                  <c:v>3</c:v>
                </c:pt>
                <c:pt idx="27">
                  <c:v>2</c:v>
                </c:pt>
                <c:pt idx="28">
                  <c:v>1</c:v>
                </c:pt>
                <c:pt idx="29">
                  <c:v>0</c:v>
                </c:pt>
              </c:numCache>
            </c:numRef>
          </c:val>
          <c:smooth val="0"/>
          <c:extLst>
            <c:ext xmlns:c16="http://schemas.microsoft.com/office/drawing/2014/chart" uri="{C3380CC4-5D6E-409C-BE32-E72D297353CC}">
              <c16:uniqueId val="{00000001-A6F4-4376-AD7F-3A07B95AD135}"/>
            </c:ext>
          </c:extLst>
        </c:ser>
        <c:ser>
          <c:idx val="2"/>
          <c:order val="2"/>
          <c:tx>
            <c:strRef>
              <c:f>Sheet1!$D$1</c:f>
              <c:strCache>
                <c:ptCount val="1"/>
                <c:pt idx="0">
                  <c:v>Moderado (501-5000)</c:v>
                </c:pt>
              </c:strCache>
            </c:strRef>
          </c:tx>
          <c:spPr>
            <a:ln w="28575" cap="flat">
              <a:solidFill>
                <a:srgbClr val="F4B942"/>
              </a:solidFill>
              <a:prstDash val="solid"/>
              <a:round/>
            </a:ln>
            <a:effectLst/>
          </c:spPr>
          <c:marker>
            <c:symbol val="circle"/>
            <c:size val="5"/>
            <c:spPr>
              <a:solidFill>
                <a:srgbClr val="F4B942"/>
              </a:solidFill>
              <a:ln w="9525" cap="flat">
                <a:solidFill>
                  <a:srgbClr val="F4B942"/>
                </a:solidFill>
                <a:prstDash val="solid"/>
                <a:round/>
              </a:ln>
              <a:effectLst/>
            </c:spPr>
          </c:marker>
          <c:cat>
            <c:strRef>
              <c:f>Sheet1!$A$2:$A$31</c:f>
              <c:strCache>
                <c:ptCount val="30"/>
                <c:pt idx="0">
                  <c:v>1-Jun</c:v>
                </c:pt>
                <c:pt idx="1">
                  <c:v>2-Jun</c:v>
                </c:pt>
                <c:pt idx="2">
                  <c:v>3-Jun</c:v>
                </c:pt>
                <c:pt idx="3">
                  <c:v>4-Jun</c:v>
                </c:pt>
                <c:pt idx="4">
                  <c:v>5-Jun</c:v>
                </c:pt>
                <c:pt idx="5">
                  <c:v>6-Jun</c:v>
                </c:pt>
                <c:pt idx="6">
                  <c:v>7-Jun</c:v>
                </c:pt>
                <c:pt idx="7">
                  <c:v>8-Jun</c:v>
                </c:pt>
                <c:pt idx="8">
                  <c:v>9-Jun</c:v>
                </c:pt>
                <c:pt idx="9">
                  <c:v>10-Jun</c:v>
                </c:pt>
                <c:pt idx="10">
                  <c:v>11-Jun</c:v>
                </c:pt>
                <c:pt idx="11">
                  <c:v>12-Jun</c:v>
                </c:pt>
                <c:pt idx="12">
                  <c:v>13-Jun</c:v>
                </c:pt>
                <c:pt idx="13">
                  <c:v>14-Jun</c:v>
                </c:pt>
                <c:pt idx="14">
                  <c:v>15-Jun</c:v>
                </c:pt>
                <c:pt idx="15">
                  <c:v>16-Jun</c:v>
                </c:pt>
                <c:pt idx="16">
                  <c:v>17-Jun</c:v>
                </c:pt>
                <c:pt idx="17">
                  <c:v>18-Jun</c:v>
                </c:pt>
                <c:pt idx="18">
                  <c:v>19-Jun</c:v>
                </c:pt>
                <c:pt idx="19">
                  <c:v>20-Jun</c:v>
                </c:pt>
                <c:pt idx="20">
                  <c:v>21-Jun</c:v>
                </c:pt>
                <c:pt idx="21">
                  <c:v>22-Jun</c:v>
                </c:pt>
                <c:pt idx="22">
                  <c:v>23-Jun</c:v>
                </c:pt>
                <c:pt idx="23">
                  <c:v>24-Jun</c:v>
                </c:pt>
                <c:pt idx="24">
                  <c:v>25-Jun</c:v>
                </c:pt>
                <c:pt idx="25">
                  <c:v>26-Jun</c:v>
                </c:pt>
                <c:pt idx="26">
                  <c:v>27-Jun</c:v>
                </c:pt>
                <c:pt idx="27">
                  <c:v>28-Jun</c:v>
                </c:pt>
                <c:pt idx="28">
                  <c:v>29-Jun</c:v>
                </c:pt>
                <c:pt idx="29">
                  <c:v>30-Jun</c:v>
                </c:pt>
              </c:strCache>
            </c:strRef>
          </c:cat>
          <c:val>
            <c:numRef>
              <c:f>Sheet1!$D$2:$D$31</c:f>
              <c:numCache>
                <c:formatCode>General</c:formatCode>
                <c:ptCount val="30"/>
                <c:pt idx="0">
                  <c:v>0</c:v>
                </c:pt>
                <c:pt idx="1">
                  <c:v>29</c:v>
                </c:pt>
                <c:pt idx="2">
                  <c:v>16</c:v>
                </c:pt>
                <c:pt idx="3">
                  <c:v>25</c:v>
                </c:pt>
                <c:pt idx="4">
                  <c:v>22</c:v>
                </c:pt>
                <c:pt idx="5">
                  <c:v>17</c:v>
                </c:pt>
                <c:pt idx="6">
                  <c:v>9</c:v>
                </c:pt>
                <c:pt idx="7">
                  <c:v>15</c:v>
                </c:pt>
                <c:pt idx="8">
                  <c:v>18</c:v>
                </c:pt>
                <c:pt idx="9">
                  <c:v>16</c:v>
                </c:pt>
                <c:pt idx="10">
                  <c:v>15</c:v>
                </c:pt>
                <c:pt idx="11">
                  <c:v>19</c:v>
                </c:pt>
                <c:pt idx="12">
                  <c:v>13</c:v>
                </c:pt>
                <c:pt idx="13">
                  <c:v>10</c:v>
                </c:pt>
                <c:pt idx="14">
                  <c:v>19</c:v>
                </c:pt>
                <c:pt idx="15">
                  <c:v>17</c:v>
                </c:pt>
                <c:pt idx="16">
                  <c:v>13</c:v>
                </c:pt>
                <c:pt idx="17">
                  <c:v>8</c:v>
                </c:pt>
                <c:pt idx="18">
                  <c:v>12</c:v>
                </c:pt>
                <c:pt idx="19">
                  <c:v>11</c:v>
                </c:pt>
                <c:pt idx="20">
                  <c:v>8</c:v>
                </c:pt>
                <c:pt idx="21">
                  <c:v>14</c:v>
                </c:pt>
                <c:pt idx="22">
                  <c:v>14</c:v>
                </c:pt>
                <c:pt idx="23">
                  <c:v>10</c:v>
                </c:pt>
                <c:pt idx="24">
                  <c:v>15</c:v>
                </c:pt>
                <c:pt idx="25">
                  <c:v>11</c:v>
                </c:pt>
                <c:pt idx="26">
                  <c:v>10</c:v>
                </c:pt>
                <c:pt idx="27">
                  <c:v>6</c:v>
                </c:pt>
                <c:pt idx="28">
                  <c:v>4</c:v>
                </c:pt>
                <c:pt idx="29">
                  <c:v>19</c:v>
                </c:pt>
              </c:numCache>
            </c:numRef>
          </c:val>
          <c:smooth val="0"/>
          <c:extLst>
            <c:ext xmlns:c16="http://schemas.microsoft.com/office/drawing/2014/chart" uri="{C3380CC4-5D6E-409C-BE32-E72D297353CC}">
              <c16:uniqueId val="{00000002-A6F4-4376-AD7F-3A07B95AD135}"/>
            </c:ext>
          </c:extLst>
        </c:ser>
        <c:ser>
          <c:idx val="3"/>
          <c:order val="3"/>
          <c:tx>
            <c:strRef>
              <c:f>Sheet1!$E$1</c:f>
              <c:strCache>
                <c:ptCount val="1"/>
                <c:pt idx="0">
                  <c:v>Alto (5001-20000)</c:v>
                </c:pt>
              </c:strCache>
            </c:strRef>
          </c:tx>
          <c:spPr>
            <a:ln w="28575" cap="flat">
              <a:solidFill>
                <a:srgbClr val="F2724B"/>
              </a:solidFill>
              <a:prstDash val="solid"/>
              <a:round/>
            </a:ln>
            <a:effectLst/>
          </c:spPr>
          <c:marker>
            <c:symbol val="circle"/>
            <c:size val="5"/>
            <c:spPr>
              <a:solidFill>
                <a:srgbClr val="F2724B"/>
              </a:solidFill>
              <a:ln w="9525" cap="flat">
                <a:solidFill>
                  <a:srgbClr val="F2724B"/>
                </a:solidFill>
                <a:prstDash val="solid"/>
                <a:round/>
              </a:ln>
              <a:effectLst/>
            </c:spPr>
          </c:marker>
          <c:cat>
            <c:strRef>
              <c:f>Sheet1!$A$2:$A$31</c:f>
              <c:strCache>
                <c:ptCount val="30"/>
                <c:pt idx="0">
                  <c:v>1-Jun</c:v>
                </c:pt>
                <c:pt idx="1">
                  <c:v>2-Jun</c:v>
                </c:pt>
                <c:pt idx="2">
                  <c:v>3-Jun</c:v>
                </c:pt>
                <c:pt idx="3">
                  <c:v>4-Jun</c:v>
                </c:pt>
                <c:pt idx="4">
                  <c:v>5-Jun</c:v>
                </c:pt>
                <c:pt idx="5">
                  <c:v>6-Jun</c:v>
                </c:pt>
                <c:pt idx="6">
                  <c:v>7-Jun</c:v>
                </c:pt>
                <c:pt idx="7">
                  <c:v>8-Jun</c:v>
                </c:pt>
                <c:pt idx="8">
                  <c:v>9-Jun</c:v>
                </c:pt>
                <c:pt idx="9">
                  <c:v>10-Jun</c:v>
                </c:pt>
                <c:pt idx="10">
                  <c:v>11-Jun</c:v>
                </c:pt>
                <c:pt idx="11">
                  <c:v>12-Jun</c:v>
                </c:pt>
                <c:pt idx="12">
                  <c:v>13-Jun</c:v>
                </c:pt>
                <c:pt idx="13">
                  <c:v>14-Jun</c:v>
                </c:pt>
                <c:pt idx="14">
                  <c:v>15-Jun</c:v>
                </c:pt>
                <c:pt idx="15">
                  <c:v>16-Jun</c:v>
                </c:pt>
                <c:pt idx="16">
                  <c:v>17-Jun</c:v>
                </c:pt>
                <c:pt idx="17">
                  <c:v>18-Jun</c:v>
                </c:pt>
                <c:pt idx="18">
                  <c:v>19-Jun</c:v>
                </c:pt>
                <c:pt idx="19">
                  <c:v>20-Jun</c:v>
                </c:pt>
                <c:pt idx="20">
                  <c:v>21-Jun</c:v>
                </c:pt>
                <c:pt idx="21">
                  <c:v>22-Jun</c:v>
                </c:pt>
                <c:pt idx="22">
                  <c:v>23-Jun</c:v>
                </c:pt>
                <c:pt idx="23">
                  <c:v>24-Jun</c:v>
                </c:pt>
                <c:pt idx="24">
                  <c:v>25-Jun</c:v>
                </c:pt>
                <c:pt idx="25">
                  <c:v>26-Jun</c:v>
                </c:pt>
                <c:pt idx="26">
                  <c:v>27-Jun</c:v>
                </c:pt>
                <c:pt idx="27">
                  <c:v>28-Jun</c:v>
                </c:pt>
                <c:pt idx="28">
                  <c:v>29-Jun</c:v>
                </c:pt>
                <c:pt idx="29">
                  <c:v>30-Jun</c:v>
                </c:pt>
              </c:strCache>
            </c:strRef>
          </c:cat>
          <c:val>
            <c:numRef>
              <c:f>Sheet1!$E$2:$E$31</c:f>
              <c:numCache>
                <c:formatCode>General</c:formatCode>
                <c:ptCount val="30"/>
                <c:pt idx="0">
                  <c:v>0</c:v>
                </c:pt>
                <c:pt idx="1">
                  <c:v>6</c:v>
                </c:pt>
                <c:pt idx="2">
                  <c:v>11</c:v>
                </c:pt>
                <c:pt idx="3">
                  <c:v>10</c:v>
                </c:pt>
                <c:pt idx="4">
                  <c:v>7</c:v>
                </c:pt>
                <c:pt idx="5">
                  <c:v>4</c:v>
                </c:pt>
                <c:pt idx="6">
                  <c:v>3</c:v>
                </c:pt>
                <c:pt idx="7">
                  <c:v>4</c:v>
                </c:pt>
                <c:pt idx="8">
                  <c:v>7</c:v>
                </c:pt>
                <c:pt idx="9">
                  <c:v>3</c:v>
                </c:pt>
                <c:pt idx="10">
                  <c:v>7</c:v>
                </c:pt>
                <c:pt idx="11">
                  <c:v>4</c:v>
                </c:pt>
                <c:pt idx="12">
                  <c:v>4</c:v>
                </c:pt>
                <c:pt idx="13">
                  <c:v>1</c:v>
                </c:pt>
                <c:pt idx="14">
                  <c:v>5</c:v>
                </c:pt>
                <c:pt idx="15">
                  <c:v>9</c:v>
                </c:pt>
                <c:pt idx="16">
                  <c:v>2</c:v>
                </c:pt>
                <c:pt idx="17">
                  <c:v>4</c:v>
                </c:pt>
                <c:pt idx="18">
                  <c:v>4</c:v>
                </c:pt>
                <c:pt idx="19">
                  <c:v>3</c:v>
                </c:pt>
                <c:pt idx="20">
                  <c:v>1</c:v>
                </c:pt>
                <c:pt idx="21">
                  <c:v>6</c:v>
                </c:pt>
                <c:pt idx="22">
                  <c:v>4</c:v>
                </c:pt>
                <c:pt idx="23">
                  <c:v>2</c:v>
                </c:pt>
                <c:pt idx="24">
                  <c:v>5</c:v>
                </c:pt>
                <c:pt idx="25">
                  <c:v>1</c:v>
                </c:pt>
                <c:pt idx="26">
                  <c:v>2</c:v>
                </c:pt>
                <c:pt idx="27">
                  <c:v>0</c:v>
                </c:pt>
                <c:pt idx="28">
                  <c:v>2</c:v>
                </c:pt>
                <c:pt idx="29">
                  <c:v>3</c:v>
                </c:pt>
              </c:numCache>
            </c:numRef>
          </c:val>
          <c:smooth val="0"/>
          <c:extLst>
            <c:ext xmlns:c16="http://schemas.microsoft.com/office/drawing/2014/chart" uri="{C3380CC4-5D6E-409C-BE32-E72D297353CC}">
              <c16:uniqueId val="{00000003-A6F4-4376-AD7F-3A07B95AD135}"/>
            </c:ext>
          </c:extLst>
        </c:ser>
        <c:ser>
          <c:idx val="4"/>
          <c:order val="4"/>
          <c:tx>
            <c:strRef>
              <c:f>Sheet1!$F$1</c:f>
              <c:strCache>
                <c:ptCount val="1"/>
                <c:pt idx="0">
                  <c:v>Critico (&gt;20000)
</c:v>
                </c:pt>
              </c:strCache>
            </c:strRef>
          </c:tx>
          <c:spPr>
            <a:ln w="28575" cap="flat">
              <a:solidFill>
                <a:srgbClr val="C0152F"/>
              </a:solidFill>
              <a:prstDash val="solid"/>
              <a:round/>
            </a:ln>
            <a:effectLst/>
          </c:spPr>
          <c:marker>
            <c:symbol val="circle"/>
            <c:size val="5"/>
            <c:spPr>
              <a:solidFill>
                <a:srgbClr val="C0152F"/>
              </a:solidFill>
              <a:ln w="9525" cap="flat">
                <a:solidFill>
                  <a:srgbClr val="C0152F"/>
                </a:solidFill>
                <a:prstDash val="solid"/>
                <a:round/>
              </a:ln>
              <a:effectLst/>
            </c:spPr>
          </c:marker>
          <c:cat>
            <c:strRef>
              <c:f>Sheet1!$A$2:$A$31</c:f>
              <c:strCache>
                <c:ptCount val="30"/>
                <c:pt idx="0">
                  <c:v>1-Jun</c:v>
                </c:pt>
                <c:pt idx="1">
                  <c:v>2-Jun</c:v>
                </c:pt>
                <c:pt idx="2">
                  <c:v>3-Jun</c:v>
                </c:pt>
                <c:pt idx="3">
                  <c:v>4-Jun</c:v>
                </c:pt>
                <c:pt idx="4">
                  <c:v>5-Jun</c:v>
                </c:pt>
                <c:pt idx="5">
                  <c:v>6-Jun</c:v>
                </c:pt>
                <c:pt idx="6">
                  <c:v>7-Jun</c:v>
                </c:pt>
                <c:pt idx="7">
                  <c:v>8-Jun</c:v>
                </c:pt>
                <c:pt idx="8">
                  <c:v>9-Jun</c:v>
                </c:pt>
                <c:pt idx="9">
                  <c:v>10-Jun</c:v>
                </c:pt>
                <c:pt idx="10">
                  <c:v>11-Jun</c:v>
                </c:pt>
                <c:pt idx="11">
                  <c:v>12-Jun</c:v>
                </c:pt>
                <c:pt idx="12">
                  <c:v>13-Jun</c:v>
                </c:pt>
                <c:pt idx="13">
                  <c:v>14-Jun</c:v>
                </c:pt>
                <c:pt idx="14">
                  <c:v>15-Jun</c:v>
                </c:pt>
                <c:pt idx="15">
                  <c:v>16-Jun</c:v>
                </c:pt>
                <c:pt idx="16">
                  <c:v>17-Jun</c:v>
                </c:pt>
                <c:pt idx="17">
                  <c:v>18-Jun</c:v>
                </c:pt>
                <c:pt idx="18">
                  <c:v>19-Jun</c:v>
                </c:pt>
                <c:pt idx="19">
                  <c:v>20-Jun</c:v>
                </c:pt>
                <c:pt idx="20">
                  <c:v>21-Jun</c:v>
                </c:pt>
                <c:pt idx="21">
                  <c:v>22-Jun</c:v>
                </c:pt>
                <c:pt idx="22">
                  <c:v>23-Jun</c:v>
                </c:pt>
                <c:pt idx="23">
                  <c:v>24-Jun</c:v>
                </c:pt>
                <c:pt idx="24">
                  <c:v>25-Jun</c:v>
                </c:pt>
                <c:pt idx="25">
                  <c:v>26-Jun</c:v>
                </c:pt>
                <c:pt idx="26">
                  <c:v>27-Jun</c:v>
                </c:pt>
                <c:pt idx="27">
                  <c:v>28-Jun</c:v>
                </c:pt>
                <c:pt idx="28">
                  <c:v>29-Jun</c:v>
                </c:pt>
                <c:pt idx="29">
                  <c:v>30-Jun</c:v>
                </c:pt>
              </c:strCache>
            </c:strRef>
          </c:cat>
          <c:val>
            <c:numRef>
              <c:f>Sheet1!$F$2:$F$31</c:f>
              <c:numCache>
                <c:formatCode>General</c:formatCode>
                <c:ptCount val="30"/>
                <c:pt idx="0">
                  <c:v>0</c:v>
                </c:pt>
                <c:pt idx="1">
                  <c:v>2</c:v>
                </c:pt>
                <c:pt idx="2">
                  <c:v>2</c:v>
                </c:pt>
                <c:pt idx="3">
                  <c:v>1</c:v>
                </c:pt>
                <c:pt idx="4">
                  <c:v>2</c:v>
                </c:pt>
                <c:pt idx="5">
                  <c:v>0</c:v>
                </c:pt>
                <c:pt idx="6">
                  <c:v>0</c:v>
                </c:pt>
                <c:pt idx="7">
                  <c:v>3</c:v>
                </c:pt>
                <c:pt idx="8">
                  <c:v>3</c:v>
                </c:pt>
                <c:pt idx="9">
                  <c:v>3</c:v>
                </c:pt>
                <c:pt idx="10">
                  <c:v>3</c:v>
                </c:pt>
                <c:pt idx="11">
                  <c:v>2</c:v>
                </c:pt>
                <c:pt idx="12">
                  <c:v>2</c:v>
                </c:pt>
                <c:pt idx="13">
                  <c:v>0</c:v>
                </c:pt>
                <c:pt idx="14">
                  <c:v>1</c:v>
                </c:pt>
                <c:pt idx="15">
                  <c:v>1</c:v>
                </c:pt>
                <c:pt idx="16">
                  <c:v>2</c:v>
                </c:pt>
                <c:pt idx="17">
                  <c:v>0</c:v>
                </c:pt>
                <c:pt idx="18">
                  <c:v>3</c:v>
                </c:pt>
                <c:pt idx="19">
                  <c:v>3</c:v>
                </c:pt>
                <c:pt idx="20">
                  <c:v>0</c:v>
                </c:pt>
                <c:pt idx="21">
                  <c:v>3</c:v>
                </c:pt>
                <c:pt idx="22">
                  <c:v>3</c:v>
                </c:pt>
                <c:pt idx="23">
                  <c:v>2</c:v>
                </c:pt>
                <c:pt idx="24">
                  <c:v>4</c:v>
                </c:pt>
                <c:pt idx="25">
                  <c:v>2</c:v>
                </c:pt>
                <c:pt idx="26">
                  <c:v>0</c:v>
                </c:pt>
                <c:pt idx="27">
                  <c:v>0</c:v>
                </c:pt>
                <c:pt idx="28">
                  <c:v>0</c:v>
                </c:pt>
                <c:pt idx="29">
                  <c:v>3</c:v>
                </c:pt>
              </c:numCache>
            </c:numRef>
          </c:val>
          <c:smooth val="0"/>
          <c:extLst>
            <c:ext xmlns:c16="http://schemas.microsoft.com/office/drawing/2014/chart" uri="{C3380CC4-5D6E-409C-BE32-E72D297353CC}">
              <c16:uniqueId val="{00000004-A6F4-4376-AD7F-3A07B95AD13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title>
          <c:tx>
            <c:rich>
              <a:bodyPr/>
              <a:lstStyle/>
              <a:p>
                <a:pPr>
                  <a:defRPr sz="900" b="0" i="0" u="none" strike="noStrike">
                    <a:solidFill>
                      <a:srgbClr val="6B7280"/>
                    </a:solidFill>
                    <a:latin typeface="Arial"/>
                  </a:defRPr>
                </a:pPr>
                <a:r>
                  <a:rPr lang="en-US" sz="900" b="0" i="0" u="none" strike="noStrike">
                    <a:solidFill>
                      <a:srgbClr val="6B7280"/>
                    </a:solidFill>
                    <a:latin typeface="Arial"/>
                  </a:rPr>
                  <a:t>N.º de clientes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12121"/>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Usuarios únicos</c:v>
                </c:pt>
              </c:strCache>
            </c:strRef>
          </c:tx>
          <c:spPr>
            <a:solidFill>
              <a:srgbClr val="9CA3AF"/>
            </a:solidFill>
            <a:effectLst/>
          </c:spPr>
          <c:invertIfNegative val="0"/>
          <c:dPt>
            <c:idx val="0"/>
            <c:invertIfNegative val="0"/>
            <c:bubble3D val="0"/>
            <c:extLst>
              <c:ext xmlns:c16="http://schemas.microsoft.com/office/drawing/2014/chart" uri="{C3380CC4-5D6E-409C-BE32-E72D297353CC}">
                <c16:uniqueId val="{00000001-06C9-408E-9F9A-4AA45E25CC8B}"/>
              </c:ext>
            </c:extLst>
          </c:dPt>
          <c:dPt>
            <c:idx val="1"/>
            <c:invertIfNegative val="0"/>
            <c:bubble3D val="0"/>
            <c:spPr>
              <a:solidFill>
                <a:srgbClr val="60A5FA"/>
              </a:solidFill>
              <a:effectLst/>
            </c:spPr>
            <c:extLst>
              <c:ext xmlns:c16="http://schemas.microsoft.com/office/drawing/2014/chart" uri="{C3380CC4-5D6E-409C-BE32-E72D297353CC}">
                <c16:uniqueId val="{00000003-06C9-408E-9F9A-4AA45E25CC8B}"/>
              </c:ext>
            </c:extLst>
          </c:dPt>
          <c:dPt>
            <c:idx val="2"/>
            <c:invertIfNegative val="0"/>
            <c:bubble3D val="0"/>
            <c:spPr>
              <a:solidFill>
                <a:srgbClr val="F4B942"/>
              </a:solidFill>
              <a:effectLst/>
            </c:spPr>
            <c:extLst>
              <c:ext xmlns:c16="http://schemas.microsoft.com/office/drawing/2014/chart" uri="{C3380CC4-5D6E-409C-BE32-E72D297353CC}">
                <c16:uniqueId val="{00000005-06C9-408E-9F9A-4AA45E25CC8B}"/>
              </c:ext>
            </c:extLst>
          </c:dPt>
          <c:dPt>
            <c:idx val="3"/>
            <c:invertIfNegative val="0"/>
            <c:bubble3D val="0"/>
            <c:spPr>
              <a:solidFill>
                <a:srgbClr val="F2724B"/>
              </a:solidFill>
              <a:effectLst/>
            </c:spPr>
            <c:extLst>
              <c:ext xmlns:c16="http://schemas.microsoft.com/office/drawing/2014/chart" uri="{C3380CC4-5D6E-409C-BE32-E72D297353CC}">
                <c16:uniqueId val="{00000007-06C9-408E-9F9A-4AA45E25CC8B}"/>
              </c:ext>
            </c:extLst>
          </c:dPt>
          <c:dPt>
            <c:idx val="4"/>
            <c:invertIfNegative val="0"/>
            <c:bubble3D val="0"/>
            <c:spPr>
              <a:solidFill>
                <a:srgbClr val="C0152F"/>
              </a:solidFill>
              <a:effectLst/>
            </c:spPr>
            <c:extLst>
              <c:ext xmlns:c16="http://schemas.microsoft.com/office/drawing/2014/chart" uri="{C3380CC4-5D6E-409C-BE32-E72D297353CC}">
                <c16:uniqueId val="{00000009-06C9-408E-9F9A-4AA45E25CC8B}"/>
              </c:ext>
            </c:extLst>
          </c:dPt>
          <c:dLbls>
            <c:numFmt formatCode="#,##0" sourceLinked="0"/>
            <c:spPr>
              <a:noFill/>
              <a:ln>
                <a:noFill/>
              </a:ln>
              <a:effectLst/>
            </c:spPr>
            <c:txPr>
              <a:bodyPr/>
              <a:lstStyle/>
              <a:p>
                <a:pPr>
                  <a:defRPr sz="1000" b="0" i="0" u="none" strike="noStrike">
                    <a:solidFill>
                      <a:srgbClr val="21212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 S/500</c:v>
                </c:pt>
                <c:pt idx="1">
                  <c:v>Solo S/500</c:v>
                </c:pt>
                <c:pt idx="2">
                  <c:v>Moderado (501-5000)</c:v>
                </c:pt>
                <c:pt idx="3">
                  <c:v>Alto (5001-20000)</c:v>
                </c:pt>
                <c:pt idx="4">
                  <c:v>Critico (&gt;20000)</c:v>
                </c:pt>
              </c:strCache>
            </c:strRef>
          </c:cat>
          <c:val>
            <c:numRef>
              <c:f>Sheet1!$B$2:$B$6</c:f>
              <c:numCache>
                <c:formatCode>General</c:formatCode>
                <c:ptCount val="5"/>
                <c:pt idx="0">
                  <c:v>94</c:v>
                </c:pt>
                <c:pt idx="1">
                  <c:v>38</c:v>
                </c:pt>
                <c:pt idx="2">
                  <c:v>138</c:v>
                </c:pt>
                <c:pt idx="3">
                  <c:v>102</c:v>
                </c:pt>
                <c:pt idx="4">
                  <c:v>44</c:v>
                </c:pt>
              </c:numCache>
            </c:numRef>
          </c:val>
          <c:extLst>
            <c:ext xmlns:c16="http://schemas.microsoft.com/office/drawing/2014/chart" uri="{C3380CC4-5D6E-409C-BE32-E72D297353CC}">
              <c16:uniqueId val="{0000000A-06C9-408E-9F9A-4AA45E25CC8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1212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&lt; S/500</c:v>
                </c:pt>
              </c:strCache>
            </c:strRef>
          </c:tx>
          <c:spPr>
            <a:ln w="28575" cap="flat">
              <a:solidFill>
                <a:srgbClr val="9CA3AF"/>
              </a:solidFill>
              <a:prstDash val="solid"/>
              <a:round/>
            </a:ln>
            <a:effectLst/>
          </c:spPr>
          <c:marker>
            <c:symbol val="circle"/>
            <c:size val="5"/>
            <c:spPr>
              <a:solidFill>
                <a:srgbClr val="9CA3AF"/>
              </a:solidFill>
              <a:ln w="9525" cap="flat">
                <a:solidFill>
                  <a:srgbClr val="9CA3AF"/>
                </a:solidFill>
                <a:prstDash val="solid"/>
                <a:round/>
              </a:ln>
              <a:effectLst/>
            </c:spPr>
          </c:marker>
          <c:cat>
            <c:strRef>
              <c:f>Sheet1!$A$2:$A$32</c:f>
              <c:strCache>
                <c:ptCount val="31"/>
                <c:pt idx="0">
                  <c:v>1-Jul</c:v>
                </c:pt>
                <c:pt idx="1">
                  <c:v>2-Jul</c:v>
                </c:pt>
                <c:pt idx="2">
                  <c:v>3-Jul</c:v>
                </c:pt>
                <c:pt idx="3">
                  <c:v>4-Jul</c:v>
                </c:pt>
                <c:pt idx="4">
                  <c:v>5-Jul</c:v>
                </c:pt>
                <c:pt idx="5">
                  <c:v>6-Jul</c:v>
                </c:pt>
                <c:pt idx="6">
                  <c:v>7-Jul</c:v>
                </c:pt>
                <c:pt idx="7">
                  <c:v>8-Jul</c:v>
                </c:pt>
                <c:pt idx="8">
                  <c:v>9-Jul</c:v>
                </c:pt>
                <c:pt idx="9">
                  <c:v>10-Jul</c:v>
                </c:pt>
                <c:pt idx="10">
                  <c:v>11-Jul</c:v>
                </c:pt>
                <c:pt idx="11">
                  <c:v>12-Jul</c:v>
                </c:pt>
                <c:pt idx="12">
                  <c:v>13-Jul</c:v>
                </c:pt>
                <c:pt idx="13">
                  <c:v>14-Jul</c:v>
                </c:pt>
                <c:pt idx="14">
                  <c:v>15-Jul</c:v>
                </c:pt>
                <c:pt idx="15">
                  <c:v>16-Jul</c:v>
                </c:pt>
                <c:pt idx="16">
                  <c:v>17-Jul</c:v>
                </c:pt>
                <c:pt idx="17">
                  <c:v>18-Jul</c:v>
                </c:pt>
                <c:pt idx="18">
                  <c:v>19-Jul</c:v>
                </c:pt>
                <c:pt idx="19">
                  <c:v>20-Jul</c:v>
                </c:pt>
                <c:pt idx="20">
                  <c:v>21-Jul</c:v>
                </c:pt>
                <c:pt idx="21">
                  <c:v>22-Jul</c:v>
                </c:pt>
                <c:pt idx="22">
                  <c:v>23-Jul</c:v>
                </c:pt>
                <c:pt idx="23">
                  <c:v>24-Jul</c:v>
                </c:pt>
                <c:pt idx="24">
                  <c:v>25-Jul</c:v>
                </c:pt>
                <c:pt idx="25">
                  <c:v>26-Jul</c:v>
                </c:pt>
                <c:pt idx="26">
                  <c:v>27-Jul</c:v>
                </c:pt>
                <c:pt idx="27">
                  <c:v>28-Jul</c:v>
                </c:pt>
                <c:pt idx="28">
                  <c:v>29-Jul</c:v>
                </c:pt>
                <c:pt idx="29">
                  <c:v>30-Jul</c:v>
                </c:pt>
                <c:pt idx="30">
                  <c:v>31-Jul</c:v>
                </c:pt>
              </c:strCache>
            </c:strRef>
          </c:cat>
          <c:val>
            <c:numRef>
              <c:f>Sheet1!$B$2:$B$32</c:f>
              <c:numCache>
                <c:formatCode>General</c:formatCode>
                <c:ptCount val="31"/>
                <c:pt idx="0">
                  <c:v>17</c:v>
                </c:pt>
                <c:pt idx="1">
                  <c:v>16</c:v>
                </c:pt>
                <c:pt idx="2">
                  <c:v>16</c:v>
                </c:pt>
                <c:pt idx="3">
                  <c:v>12</c:v>
                </c:pt>
                <c:pt idx="4">
                  <c:v>14</c:v>
                </c:pt>
                <c:pt idx="5">
                  <c:v>14</c:v>
                </c:pt>
                <c:pt idx="6">
                  <c:v>13</c:v>
                </c:pt>
                <c:pt idx="7">
                  <c:v>11</c:v>
                </c:pt>
                <c:pt idx="8">
                  <c:v>13</c:v>
                </c:pt>
                <c:pt idx="9">
                  <c:v>12</c:v>
                </c:pt>
                <c:pt idx="10">
                  <c:v>12</c:v>
                </c:pt>
                <c:pt idx="11">
                  <c:v>11</c:v>
                </c:pt>
                <c:pt idx="12">
                  <c:v>11</c:v>
                </c:pt>
                <c:pt idx="13">
                  <c:v>13</c:v>
                </c:pt>
                <c:pt idx="14">
                  <c:v>10</c:v>
                </c:pt>
                <c:pt idx="15">
                  <c:v>9</c:v>
                </c:pt>
                <c:pt idx="16">
                  <c:v>15</c:v>
                </c:pt>
                <c:pt idx="17">
                  <c:v>8</c:v>
                </c:pt>
                <c:pt idx="18">
                  <c:v>8</c:v>
                </c:pt>
                <c:pt idx="19">
                  <c:v>11</c:v>
                </c:pt>
                <c:pt idx="20">
                  <c:v>15</c:v>
                </c:pt>
                <c:pt idx="21">
                  <c:v>10</c:v>
                </c:pt>
                <c:pt idx="22">
                  <c:v>14</c:v>
                </c:pt>
                <c:pt idx="23">
                  <c:v>17</c:v>
                </c:pt>
                <c:pt idx="24">
                  <c:v>10</c:v>
                </c:pt>
                <c:pt idx="25">
                  <c:v>14</c:v>
                </c:pt>
                <c:pt idx="26">
                  <c:v>10</c:v>
                </c:pt>
                <c:pt idx="27">
                  <c:v>14</c:v>
                </c:pt>
                <c:pt idx="28">
                  <c:v>10</c:v>
                </c:pt>
                <c:pt idx="29">
                  <c:v>12</c:v>
                </c:pt>
                <c:pt idx="30">
                  <c:v>15</c:v>
                </c:pt>
              </c:numCache>
            </c:numRef>
          </c:val>
          <c:smooth val="0"/>
          <c:extLst>
            <c:ext xmlns:c16="http://schemas.microsoft.com/office/drawing/2014/chart" uri="{C3380CC4-5D6E-409C-BE32-E72D297353CC}">
              <c16:uniqueId val="{00000000-A5B7-47AF-81EF-CA4C770E6658}"/>
            </c:ext>
          </c:extLst>
        </c:ser>
        <c:ser>
          <c:idx val="1"/>
          <c:order val="1"/>
          <c:tx>
            <c:strRef>
              <c:f>Sheet1!$C$1</c:f>
              <c:strCache>
                <c:ptCount val="1"/>
                <c:pt idx="0">
                  <c:v>Solo S/500</c:v>
                </c:pt>
              </c:strCache>
            </c:strRef>
          </c:tx>
          <c:spPr>
            <a:ln w="28575" cap="flat">
              <a:solidFill>
                <a:srgbClr val="60A5FA"/>
              </a:solidFill>
              <a:prstDash val="solid"/>
              <a:round/>
            </a:ln>
            <a:effectLst/>
          </c:spPr>
          <c:marker>
            <c:symbol val="circle"/>
            <c:size val="5"/>
            <c:spPr>
              <a:solidFill>
                <a:srgbClr val="60A5FA"/>
              </a:solidFill>
              <a:ln w="9525" cap="flat">
                <a:solidFill>
                  <a:srgbClr val="60A5FA"/>
                </a:solidFill>
                <a:prstDash val="solid"/>
                <a:round/>
              </a:ln>
              <a:effectLst/>
            </c:spPr>
          </c:marker>
          <c:cat>
            <c:strRef>
              <c:f>Sheet1!$A$2:$A$32</c:f>
              <c:strCache>
                <c:ptCount val="31"/>
                <c:pt idx="0">
                  <c:v>1-Jul</c:v>
                </c:pt>
                <c:pt idx="1">
                  <c:v>2-Jul</c:v>
                </c:pt>
                <c:pt idx="2">
                  <c:v>3-Jul</c:v>
                </c:pt>
                <c:pt idx="3">
                  <c:v>4-Jul</c:v>
                </c:pt>
                <c:pt idx="4">
                  <c:v>5-Jul</c:v>
                </c:pt>
                <c:pt idx="5">
                  <c:v>6-Jul</c:v>
                </c:pt>
                <c:pt idx="6">
                  <c:v>7-Jul</c:v>
                </c:pt>
                <c:pt idx="7">
                  <c:v>8-Jul</c:v>
                </c:pt>
                <c:pt idx="8">
                  <c:v>9-Jul</c:v>
                </c:pt>
                <c:pt idx="9">
                  <c:v>10-Jul</c:v>
                </c:pt>
                <c:pt idx="10">
                  <c:v>11-Jul</c:v>
                </c:pt>
                <c:pt idx="11">
                  <c:v>12-Jul</c:v>
                </c:pt>
                <c:pt idx="12">
                  <c:v>13-Jul</c:v>
                </c:pt>
                <c:pt idx="13">
                  <c:v>14-Jul</c:v>
                </c:pt>
                <c:pt idx="14">
                  <c:v>15-Jul</c:v>
                </c:pt>
                <c:pt idx="15">
                  <c:v>16-Jul</c:v>
                </c:pt>
                <c:pt idx="16">
                  <c:v>17-Jul</c:v>
                </c:pt>
                <c:pt idx="17">
                  <c:v>18-Jul</c:v>
                </c:pt>
                <c:pt idx="18">
                  <c:v>19-Jul</c:v>
                </c:pt>
                <c:pt idx="19">
                  <c:v>20-Jul</c:v>
                </c:pt>
                <c:pt idx="20">
                  <c:v>21-Jul</c:v>
                </c:pt>
                <c:pt idx="21">
                  <c:v>22-Jul</c:v>
                </c:pt>
                <c:pt idx="22">
                  <c:v>23-Jul</c:v>
                </c:pt>
                <c:pt idx="23">
                  <c:v>24-Jul</c:v>
                </c:pt>
                <c:pt idx="24">
                  <c:v>25-Jul</c:v>
                </c:pt>
                <c:pt idx="25">
                  <c:v>26-Jul</c:v>
                </c:pt>
                <c:pt idx="26">
                  <c:v>27-Jul</c:v>
                </c:pt>
                <c:pt idx="27">
                  <c:v>28-Jul</c:v>
                </c:pt>
                <c:pt idx="28">
                  <c:v>29-Jul</c:v>
                </c:pt>
                <c:pt idx="29">
                  <c:v>30-Jul</c:v>
                </c:pt>
                <c:pt idx="30">
                  <c:v>31-Jul</c:v>
                </c:pt>
              </c:strCache>
            </c:strRef>
          </c:cat>
          <c:val>
            <c:numRef>
              <c:f>Sheet1!$C$2:$C$32</c:f>
              <c:numCache>
                <c:formatCode>General</c:formatCode>
                <c:ptCount val="31"/>
                <c:pt idx="0">
                  <c:v>2</c:v>
                </c:pt>
                <c:pt idx="1">
                  <c:v>2</c:v>
                </c:pt>
                <c:pt idx="2">
                  <c:v>3</c:v>
                </c:pt>
                <c:pt idx="3">
                  <c:v>4</c:v>
                </c:pt>
                <c:pt idx="4">
                  <c:v>1</c:v>
                </c:pt>
                <c:pt idx="5">
                  <c:v>3</c:v>
                </c:pt>
                <c:pt idx="6">
                  <c:v>4</c:v>
                </c:pt>
                <c:pt idx="7">
                  <c:v>2</c:v>
                </c:pt>
                <c:pt idx="8">
                  <c:v>2</c:v>
                </c:pt>
                <c:pt idx="9">
                  <c:v>4</c:v>
                </c:pt>
                <c:pt idx="10">
                  <c:v>4</c:v>
                </c:pt>
                <c:pt idx="11">
                  <c:v>0</c:v>
                </c:pt>
                <c:pt idx="12">
                  <c:v>1</c:v>
                </c:pt>
                <c:pt idx="13">
                  <c:v>2</c:v>
                </c:pt>
                <c:pt idx="14">
                  <c:v>2</c:v>
                </c:pt>
                <c:pt idx="15">
                  <c:v>2</c:v>
                </c:pt>
                <c:pt idx="16">
                  <c:v>0</c:v>
                </c:pt>
                <c:pt idx="17">
                  <c:v>4</c:v>
                </c:pt>
                <c:pt idx="18">
                  <c:v>2</c:v>
                </c:pt>
                <c:pt idx="19">
                  <c:v>1</c:v>
                </c:pt>
                <c:pt idx="20">
                  <c:v>3</c:v>
                </c:pt>
                <c:pt idx="21">
                  <c:v>2</c:v>
                </c:pt>
                <c:pt idx="22">
                  <c:v>0</c:v>
                </c:pt>
                <c:pt idx="23">
                  <c:v>3</c:v>
                </c:pt>
                <c:pt idx="24">
                  <c:v>0</c:v>
                </c:pt>
                <c:pt idx="25">
                  <c:v>1</c:v>
                </c:pt>
                <c:pt idx="26">
                  <c:v>1</c:v>
                </c:pt>
                <c:pt idx="27">
                  <c:v>1</c:v>
                </c:pt>
                <c:pt idx="28">
                  <c:v>0</c:v>
                </c:pt>
                <c:pt idx="29">
                  <c:v>2</c:v>
                </c:pt>
                <c:pt idx="30">
                  <c:v>0</c:v>
                </c:pt>
              </c:numCache>
            </c:numRef>
          </c:val>
          <c:smooth val="0"/>
          <c:extLst>
            <c:ext xmlns:c16="http://schemas.microsoft.com/office/drawing/2014/chart" uri="{C3380CC4-5D6E-409C-BE32-E72D297353CC}">
              <c16:uniqueId val="{00000001-A5B7-47AF-81EF-CA4C770E6658}"/>
            </c:ext>
          </c:extLst>
        </c:ser>
        <c:ser>
          <c:idx val="2"/>
          <c:order val="2"/>
          <c:tx>
            <c:strRef>
              <c:f>Sheet1!$D$1</c:f>
              <c:strCache>
                <c:ptCount val="1"/>
                <c:pt idx="0">
                  <c:v>Moderado (501-5000)</c:v>
                </c:pt>
              </c:strCache>
            </c:strRef>
          </c:tx>
          <c:spPr>
            <a:ln w="28575" cap="flat">
              <a:solidFill>
                <a:srgbClr val="F4B942"/>
              </a:solidFill>
              <a:prstDash val="solid"/>
              <a:round/>
            </a:ln>
            <a:effectLst/>
          </c:spPr>
          <c:marker>
            <c:symbol val="circle"/>
            <c:size val="5"/>
            <c:spPr>
              <a:solidFill>
                <a:srgbClr val="F4B942"/>
              </a:solidFill>
              <a:ln w="9525" cap="flat">
                <a:solidFill>
                  <a:srgbClr val="F4B942"/>
                </a:solidFill>
                <a:prstDash val="solid"/>
                <a:round/>
              </a:ln>
              <a:effectLst/>
            </c:spPr>
          </c:marker>
          <c:cat>
            <c:strRef>
              <c:f>Sheet1!$A$2:$A$32</c:f>
              <c:strCache>
                <c:ptCount val="31"/>
                <c:pt idx="0">
                  <c:v>1-Jul</c:v>
                </c:pt>
                <c:pt idx="1">
                  <c:v>2-Jul</c:v>
                </c:pt>
                <c:pt idx="2">
                  <c:v>3-Jul</c:v>
                </c:pt>
                <c:pt idx="3">
                  <c:v>4-Jul</c:v>
                </c:pt>
                <c:pt idx="4">
                  <c:v>5-Jul</c:v>
                </c:pt>
                <c:pt idx="5">
                  <c:v>6-Jul</c:v>
                </c:pt>
                <c:pt idx="6">
                  <c:v>7-Jul</c:v>
                </c:pt>
                <c:pt idx="7">
                  <c:v>8-Jul</c:v>
                </c:pt>
                <c:pt idx="8">
                  <c:v>9-Jul</c:v>
                </c:pt>
                <c:pt idx="9">
                  <c:v>10-Jul</c:v>
                </c:pt>
                <c:pt idx="10">
                  <c:v>11-Jul</c:v>
                </c:pt>
                <c:pt idx="11">
                  <c:v>12-Jul</c:v>
                </c:pt>
                <c:pt idx="12">
                  <c:v>13-Jul</c:v>
                </c:pt>
                <c:pt idx="13">
                  <c:v>14-Jul</c:v>
                </c:pt>
                <c:pt idx="14">
                  <c:v>15-Jul</c:v>
                </c:pt>
                <c:pt idx="15">
                  <c:v>16-Jul</c:v>
                </c:pt>
                <c:pt idx="16">
                  <c:v>17-Jul</c:v>
                </c:pt>
                <c:pt idx="17">
                  <c:v>18-Jul</c:v>
                </c:pt>
                <c:pt idx="18">
                  <c:v>19-Jul</c:v>
                </c:pt>
                <c:pt idx="19">
                  <c:v>20-Jul</c:v>
                </c:pt>
                <c:pt idx="20">
                  <c:v>21-Jul</c:v>
                </c:pt>
                <c:pt idx="21">
                  <c:v>22-Jul</c:v>
                </c:pt>
                <c:pt idx="22">
                  <c:v>23-Jul</c:v>
                </c:pt>
                <c:pt idx="23">
                  <c:v>24-Jul</c:v>
                </c:pt>
                <c:pt idx="24">
                  <c:v>25-Jul</c:v>
                </c:pt>
                <c:pt idx="25">
                  <c:v>26-Jul</c:v>
                </c:pt>
                <c:pt idx="26">
                  <c:v>27-Jul</c:v>
                </c:pt>
                <c:pt idx="27">
                  <c:v>28-Jul</c:v>
                </c:pt>
                <c:pt idx="28">
                  <c:v>29-Jul</c:v>
                </c:pt>
                <c:pt idx="29">
                  <c:v>30-Jul</c:v>
                </c:pt>
                <c:pt idx="30">
                  <c:v>31-Jul</c:v>
                </c:pt>
              </c:strCache>
            </c:strRef>
          </c:cat>
          <c:val>
            <c:numRef>
              <c:f>Sheet1!$D$2:$D$32</c:f>
              <c:numCache>
                <c:formatCode>General</c:formatCode>
                <c:ptCount val="31"/>
                <c:pt idx="0">
                  <c:v>20</c:v>
                </c:pt>
                <c:pt idx="1">
                  <c:v>9</c:v>
                </c:pt>
                <c:pt idx="2">
                  <c:v>11</c:v>
                </c:pt>
                <c:pt idx="3">
                  <c:v>12</c:v>
                </c:pt>
                <c:pt idx="4">
                  <c:v>10</c:v>
                </c:pt>
                <c:pt idx="5">
                  <c:v>13</c:v>
                </c:pt>
                <c:pt idx="6">
                  <c:v>10</c:v>
                </c:pt>
                <c:pt idx="7">
                  <c:v>8</c:v>
                </c:pt>
                <c:pt idx="8">
                  <c:v>10</c:v>
                </c:pt>
                <c:pt idx="9">
                  <c:v>11</c:v>
                </c:pt>
                <c:pt idx="10">
                  <c:v>8</c:v>
                </c:pt>
                <c:pt idx="11">
                  <c:v>8</c:v>
                </c:pt>
                <c:pt idx="12">
                  <c:v>16</c:v>
                </c:pt>
                <c:pt idx="13">
                  <c:v>4</c:v>
                </c:pt>
                <c:pt idx="14">
                  <c:v>12</c:v>
                </c:pt>
                <c:pt idx="15">
                  <c:v>7</c:v>
                </c:pt>
                <c:pt idx="16">
                  <c:v>6</c:v>
                </c:pt>
                <c:pt idx="17">
                  <c:v>9</c:v>
                </c:pt>
                <c:pt idx="18">
                  <c:v>7</c:v>
                </c:pt>
                <c:pt idx="19">
                  <c:v>13</c:v>
                </c:pt>
                <c:pt idx="20">
                  <c:v>11</c:v>
                </c:pt>
                <c:pt idx="21">
                  <c:v>9</c:v>
                </c:pt>
                <c:pt idx="22">
                  <c:v>4</c:v>
                </c:pt>
                <c:pt idx="23">
                  <c:v>10</c:v>
                </c:pt>
                <c:pt idx="24">
                  <c:v>7</c:v>
                </c:pt>
                <c:pt idx="25">
                  <c:v>3</c:v>
                </c:pt>
                <c:pt idx="26">
                  <c:v>7</c:v>
                </c:pt>
                <c:pt idx="27">
                  <c:v>3</c:v>
                </c:pt>
                <c:pt idx="28">
                  <c:v>7</c:v>
                </c:pt>
                <c:pt idx="29">
                  <c:v>10</c:v>
                </c:pt>
                <c:pt idx="30">
                  <c:v>13</c:v>
                </c:pt>
              </c:numCache>
            </c:numRef>
          </c:val>
          <c:smooth val="0"/>
          <c:extLst>
            <c:ext xmlns:c16="http://schemas.microsoft.com/office/drawing/2014/chart" uri="{C3380CC4-5D6E-409C-BE32-E72D297353CC}">
              <c16:uniqueId val="{00000002-A5B7-47AF-81EF-CA4C770E6658}"/>
            </c:ext>
          </c:extLst>
        </c:ser>
        <c:ser>
          <c:idx val="3"/>
          <c:order val="3"/>
          <c:tx>
            <c:strRef>
              <c:f>Sheet1!$E$1</c:f>
              <c:strCache>
                <c:ptCount val="1"/>
                <c:pt idx="0">
                  <c:v>Alto (5001-20000)</c:v>
                </c:pt>
              </c:strCache>
            </c:strRef>
          </c:tx>
          <c:spPr>
            <a:ln w="28575" cap="flat">
              <a:solidFill>
                <a:srgbClr val="F2724B"/>
              </a:solidFill>
              <a:prstDash val="solid"/>
              <a:round/>
            </a:ln>
            <a:effectLst/>
          </c:spPr>
          <c:marker>
            <c:symbol val="circle"/>
            <c:size val="5"/>
            <c:spPr>
              <a:solidFill>
                <a:srgbClr val="F2724B"/>
              </a:solidFill>
              <a:ln w="9525" cap="flat">
                <a:solidFill>
                  <a:srgbClr val="F2724B"/>
                </a:solidFill>
                <a:prstDash val="solid"/>
                <a:round/>
              </a:ln>
              <a:effectLst/>
            </c:spPr>
          </c:marker>
          <c:cat>
            <c:strRef>
              <c:f>Sheet1!$A$2:$A$32</c:f>
              <c:strCache>
                <c:ptCount val="31"/>
                <c:pt idx="0">
                  <c:v>1-Jul</c:v>
                </c:pt>
                <c:pt idx="1">
                  <c:v>2-Jul</c:v>
                </c:pt>
                <c:pt idx="2">
                  <c:v>3-Jul</c:v>
                </c:pt>
                <c:pt idx="3">
                  <c:v>4-Jul</c:v>
                </c:pt>
                <c:pt idx="4">
                  <c:v>5-Jul</c:v>
                </c:pt>
                <c:pt idx="5">
                  <c:v>6-Jul</c:v>
                </c:pt>
                <c:pt idx="6">
                  <c:v>7-Jul</c:v>
                </c:pt>
                <c:pt idx="7">
                  <c:v>8-Jul</c:v>
                </c:pt>
                <c:pt idx="8">
                  <c:v>9-Jul</c:v>
                </c:pt>
                <c:pt idx="9">
                  <c:v>10-Jul</c:v>
                </c:pt>
                <c:pt idx="10">
                  <c:v>11-Jul</c:v>
                </c:pt>
                <c:pt idx="11">
                  <c:v>12-Jul</c:v>
                </c:pt>
                <c:pt idx="12">
                  <c:v>13-Jul</c:v>
                </c:pt>
                <c:pt idx="13">
                  <c:v>14-Jul</c:v>
                </c:pt>
                <c:pt idx="14">
                  <c:v>15-Jul</c:v>
                </c:pt>
                <c:pt idx="15">
                  <c:v>16-Jul</c:v>
                </c:pt>
                <c:pt idx="16">
                  <c:v>17-Jul</c:v>
                </c:pt>
                <c:pt idx="17">
                  <c:v>18-Jul</c:v>
                </c:pt>
                <c:pt idx="18">
                  <c:v>19-Jul</c:v>
                </c:pt>
                <c:pt idx="19">
                  <c:v>20-Jul</c:v>
                </c:pt>
                <c:pt idx="20">
                  <c:v>21-Jul</c:v>
                </c:pt>
                <c:pt idx="21">
                  <c:v>22-Jul</c:v>
                </c:pt>
                <c:pt idx="22">
                  <c:v>23-Jul</c:v>
                </c:pt>
                <c:pt idx="23">
                  <c:v>24-Jul</c:v>
                </c:pt>
                <c:pt idx="24">
                  <c:v>25-Jul</c:v>
                </c:pt>
                <c:pt idx="25">
                  <c:v>26-Jul</c:v>
                </c:pt>
                <c:pt idx="26">
                  <c:v>27-Jul</c:v>
                </c:pt>
                <c:pt idx="27">
                  <c:v>28-Jul</c:v>
                </c:pt>
                <c:pt idx="28">
                  <c:v>29-Jul</c:v>
                </c:pt>
                <c:pt idx="29">
                  <c:v>30-Jul</c:v>
                </c:pt>
                <c:pt idx="30">
                  <c:v>31-Jul</c:v>
                </c:pt>
              </c:strCache>
            </c:strRef>
          </c:cat>
          <c:val>
            <c:numRef>
              <c:f>Sheet1!$E$2:$E$32</c:f>
              <c:numCache>
                <c:formatCode>General</c:formatCode>
                <c:ptCount val="31"/>
                <c:pt idx="0">
                  <c:v>3</c:v>
                </c:pt>
                <c:pt idx="1">
                  <c:v>1</c:v>
                </c:pt>
                <c:pt idx="2">
                  <c:v>0</c:v>
                </c:pt>
                <c:pt idx="3">
                  <c:v>2</c:v>
                </c:pt>
                <c:pt idx="4">
                  <c:v>3</c:v>
                </c:pt>
                <c:pt idx="5">
                  <c:v>4</c:v>
                </c:pt>
                <c:pt idx="6">
                  <c:v>2</c:v>
                </c:pt>
                <c:pt idx="7">
                  <c:v>1</c:v>
                </c:pt>
                <c:pt idx="8">
                  <c:v>0</c:v>
                </c:pt>
                <c:pt idx="9">
                  <c:v>0</c:v>
                </c:pt>
                <c:pt idx="10">
                  <c:v>2</c:v>
                </c:pt>
                <c:pt idx="11">
                  <c:v>1</c:v>
                </c:pt>
                <c:pt idx="12">
                  <c:v>1</c:v>
                </c:pt>
                <c:pt idx="13">
                  <c:v>1</c:v>
                </c:pt>
                <c:pt idx="14">
                  <c:v>2</c:v>
                </c:pt>
                <c:pt idx="15">
                  <c:v>0</c:v>
                </c:pt>
                <c:pt idx="16">
                  <c:v>0</c:v>
                </c:pt>
                <c:pt idx="17">
                  <c:v>0</c:v>
                </c:pt>
                <c:pt idx="18">
                  <c:v>0</c:v>
                </c:pt>
                <c:pt idx="19">
                  <c:v>3</c:v>
                </c:pt>
                <c:pt idx="20">
                  <c:v>1</c:v>
                </c:pt>
                <c:pt idx="21">
                  <c:v>0</c:v>
                </c:pt>
                <c:pt idx="22">
                  <c:v>0</c:v>
                </c:pt>
                <c:pt idx="23">
                  <c:v>2</c:v>
                </c:pt>
                <c:pt idx="24">
                  <c:v>1</c:v>
                </c:pt>
                <c:pt idx="25">
                  <c:v>2</c:v>
                </c:pt>
                <c:pt idx="26">
                  <c:v>5</c:v>
                </c:pt>
                <c:pt idx="27">
                  <c:v>0</c:v>
                </c:pt>
                <c:pt idx="28">
                  <c:v>0</c:v>
                </c:pt>
                <c:pt idx="29">
                  <c:v>3</c:v>
                </c:pt>
                <c:pt idx="30">
                  <c:v>0</c:v>
                </c:pt>
              </c:numCache>
            </c:numRef>
          </c:val>
          <c:smooth val="0"/>
          <c:extLst>
            <c:ext xmlns:c16="http://schemas.microsoft.com/office/drawing/2014/chart" uri="{C3380CC4-5D6E-409C-BE32-E72D297353CC}">
              <c16:uniqueId val="{00000003-A5B7-47AF-81EF-CA4C770E6658}"/>
            </c:ext>
          </c:extLst>
        </c:ser>
        <c:ser>
          <c:idx val="4"/>
          <c:order val="4"/>
          <c:tx>
            <c:strRef>
              <c:f>Sheet1!$F$1</c:f>
              <c:strCache>
                <c:ptCount val="1"/>
                <c:pt idx="0">
                  <c:v>Critico (&gt;20000)
</c:v>
                </c:pt>
              </c:strCache>
            </c:strRef>
          </c:tx>
          <c:spPr>
            <a:ln w="28575" cap="flat">
              <a:solidFill>
                <a:srgbClr val="C0152F"/>
              </a:solidFill>
              <a:prstDash val="solid"/>
              <a:round/>
            </a:ln>
            <a:effectLst/>
          </c:spPr>
          <c:marker>
            <c:symbol val="circle"/>
            <c:size val="5"/>
            <c:spPr>
              <a:solidFill>
                <a:srgbClr val="C0152F"/>
              </a:solidFill>
              <a:ln w="9525" cap="flat">
                <a:solidFill>
                  <a:srgbClr val="C0152F"/>
                </a:solidFill>
                <a:prstDash val="solid"/>
                <a:round/>
              </a:ln>
              <a:effectLst/>
            </c:spPr>
          </c:marker>
          <c:cat>
            <c:strRef>
              <c:f>Sheet1!$A$2:$A$32</c:f>
              <c:strCache>
                <c:ptCount val="31"/>
                <c:pt idx="0">
                  <c:v>1-Jul</c:v>
                </c:pt>
                <c:pt idx="1">
                  <c:v>2-Jul</c:v>
                </c:pt>
                <c:pt idx="2">
                  <c:v>3-Jul</c:v>
                </c:pt>
                <c:pt idx="3">
                  <c:v>4-Jul</c:v>
                </c:pt>
                <c:pt idx="4">
                  <c:v>5-Jul</c:v>
                </c:pt>
                <c:pt idx="5">
                  <c:v>6-Jul</c:v>
                </c:pt>
                <c:pt idx="6">
                  <c:v>7-Jul</c:v>
                </c:pt>
                <c:pt idx="7">
                  <c:v>8-Jul</c:v>
                </c:pt>
                <c:pt idx="8">
                  <c:v>9-Jul</c:v>
                </c:pt>
                <c:pt idx="9">
                  <c:v>10-Jul</c:v>
                </c:pt>
                <c:pt idx="10">
                  <c:v>11-Jul</c:v>
                </c:pt>
                <c:pt idx="11">
                  <c:v>12-Jul</c:v>
                </c:pt>
                <c:pt idx="12">
                  <c:v>13-Jul</c:v>
                </c:pt>
                <c:pt idx="13">
                  <c:v>14-Jul</c:v>
                </c:pt>
                <c:pt idx="14">
                  <c:v>15-Jul</c:v>
                </c:pt>
                <c:pt idx="15">
                  <c:v>16-Jul</c:v>
                </c:pt>
                <c:pt idx="16">
                  <c:v>17-Jul</c:v>
                </c:pt>
                <c:pt idx="17">
                  <c:v>18-Jul</c:v>
                </c:pt>
                <c:pt idx="18">
                  <c:v>19-Jul</c:v>
                </c:pt>
                <c:pt idx="19">
                  <c:v>20-Jul</c:v>
                </c:pt>
                <c:pt idx="20">
                  <c:v>21-Jul</c:v>
                </c:pt>
                <c:pt idx="21">
                  <c:v>22-Jul</c:v>
                </c:pt>
                <c:pt idx="22">
                  <c:v>23-Jul</c:v>
                </c:pt>
                <c:pt idx="23">
                  <c:v>24-Jul</c:v>
                </c:pt>
                <c:pt idx="24">
                  <c:v>25-Jul</c:v>
                </c:pt>
                <c:pt idx="25">
                  <c:v>26-Jul</c:v>
                </c:pt>
                <c:pt idx="26">
                  <c:v>27-Jul</c:v>
                </c:pt>
                <c:pt idx="27">
                  <c:v>28-Jul</c:v>
                </c:pt>
                <c:pt idx="28">
                  <c:v>29-Jul</c:v>
                </c:pt>
                <c:pt idx="29">
                  <c:v>30-Jul</c:v>
                </c:pt>
                <c:pt idx="30">
                  <c:v>31-Jul</c:v>
                </c:pt>
              </c:strCache>
            </c:strRef>
          </c:cat>
          <c:val>
            <c:numRef>
              <c:f>Sheet1!$F$2:$F$32</c:f>
              <c:numCache>
                <c:formatCode>General</c:formatCode>
                <c:ptCount val="31"/>
                <c:pt idx="0">
                  <c:v>0</c:v>
                </c:pt>
                <c:pt idx="1">
                  <c:v>0</c:v>
                </c:pt>
                <c:pt idx="2">
                  <c:v>0</c:v>
                </c:pt>
                <c:pt idx="3">
                  <c:v>0</c:v>
                </c:pt>
                <c:pt idx="4">
                  <c:v>0</c:v>
                </c:pt>
                <c:pt idx="5">
                  <c:v>1</c:v>
                </c:pt>
                <c:pt idx="6">
                  <c:v>0</c:v>
                </c:pt>
                <c:pt idx="7">
                  <c:v>1</c:v>
                </c:pt>
                <c:pt idx="8">
                  <c:v>2</c:v>
                </c:pt>
                <c:pt idx="9">
                  <c:v>0</c:v>
                </c:pt>
                <c:pt idx="10">
                  <c:v>0</c:v>
                </c:pt>
                <c:pt idx="11">
                  <c:v>0</c:v>
                </c:pt>
                <c:pt idx="12">
                  <c:v>1</c:v>
                </c:pt>
                <c:pt idx="13">
                  <c:v>0</c:v>
                </c:pt>
                <c:pt idx="14">
                  <c:v>0</c:v>
                </c:pt>
                <c:pt idx="15">
                  <c:v>1</c:v>
                </c:pt>
                <c:pt idx="16">
                  <c:v>0</c:v>
                </c:pt>
                <c:pt idx="17">
                  <c:v>1</c:v>
                </c:pt>
                <c:pt idx="18">
                  <c:v>0</c:v>
                </c:pt>
                <c:pt idx="19">
                  <c:v>0</c:v>
                </c:pt>
                <c:pt idx="20">
                  <c:v>2</c:v>
                </c:pt>
                <c:pt idx="21">
                  <c:v>1</c:v>
                </c:pt>
                <c:pt idx="22">
                  <c:v>1</c:v>
                </c:pt>
                <c:pt idx="23">
                  <c:v>1</c:v>
                </c:pt>
                <c:pt idx="24">
                  <c:v>0</c:v>
                </c:pt>
                <c:pt idx="25">
                  <c:v>0</c:v>
                </c:pt>
                <c:pt idx="26">
                  <c:v>1</c:v>
                </c:pt>
                <c:pt idx="27">
                  <c:v>1</c:v>
                </c:pt>
                <c:pt idx="28">
                  <c:v>1</c:v>
                </c:pt>
                <c:pt idx="29">
                  <c:v>1</c:v>
                </c:pt>
                <c:pt idx="30">
                  <c:v>1</c:v>
                </c:pt>
              </c:numCache>
            </c:numRef>
          </c:val>
          <c:smooth val="0"/>
          <c:extLst>
            <c:ext xmlns:c16="http://schemas.microsoft.com/office/drawing/2014/chart" uri="{C3380CC4-5D6E-409C-BE32-E72D297353CC}">
              <c16:uniqueId val="{00000004-A5B7-47AF-81EF-CA4C770E665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title>
          <c:tx>
            <c:rich>
              <a:bodyPr/>
              <a:lstStyle/>
              <a:p>
                <a:pPr>
                  <a:defRPr sz="900" b="0" i="0" u="none" strike="noStrike">
                    <a:solidFill>
                      <a:srgbClr val="6B7280"/>
                    </a:solidFill>
                    <a:latin typeface="Arial"/>
                  </a:defRPr>
                </a:pPr>
                <a:r>
                  <a:rPr lang="en-US" sz="900" b="0" i="0" u="none" strike="noStrike">
                    <a:solidFill>
                      <a:srgbClr val="6B7280"/>
                    </a:solidFill>
                    <a:latin typeface="Arial"/>
                  </a:rPr>
                  <a:t>N.º de clientes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12121"/>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Usuarios únicos</c:v>
                </c:pt>
              </c:strCache>
            </c:strRef>
          </c:tx>
          <c:spPr>
            <a:solidFill>
              <a:srgbClr val="9CA3AF"/>
            </a:solidFill>
            <a:effectLst/>
          </c:spPr>
          <c:invertIfNegative val="0"/>
          <c:dPt>
            <c:idx val="0"/>
            <c:invertIfNegative val="0"/>
            <c:bubble3D val="0"/>
            <c:extLst>
              <c:ext xmlns:c16="http://schemas.microsoft.com/office/drawing/2014/chart" uri="{C3380CC4-5D6E-409C-BE32-E72D297353CC}">
                <c16:uniqueId val="{00000001-1D5D-4BBB-B28C-C67F31C2A9B2}"/>
              </c:ext>
            </c:extLst>
          </c:dPt>
          <c:dPt>
            <c:idx val="1"/>
            <c:invertIfNegative val="0"/>
            <c:bubble3D val="0"/>
            <c:spPr>
              <a:solidFill>
                <a:srgbClr val="60A5FA"/>
              </a:solidFill>
              <a:effectLst/>
            </c:spPr>
            <c:extLst>
              <c:ext xmlns:c16="http://schemas.microsoft.com/office/drawing/2014/chart" uri="{C3380CC4-5D6E-409C-BE32-E72D297353CC}">
                <c16:uniqueId val="{00000003-1D5D-4BBB-B28C-C67F31C2A9B2}"/>
              </c:ext>
            </c:extLst>
          </c:dPt>
          <c:dPt>
            <c:idx val="2"/>
            <c:invertIfNegative val="0"/>
            <c:bubble3D val="0"/>
            <c:spPr>
              <a:solidFill>
                <a:srgbClr val="F4B942"/>
              </a:solidFill>
              <a:effectLst/>
            </c:spPr>
            <c:extLst>
              <c:ext xmlns:c16="http://schemas.microsoft.com/office/drawing/2014/chart" uri="{C3380CC4-5D6E-409C-BE32-E72D297353CC}">
                <c16:uniqueId val="{00000005-1D5D-4BBB-B28C-C67F31C2A9B2}"/>
              </c:ext>
            </c:extLst>
          </c:dPt>
          <c:dPt>
            <c:idx val="3"/>
            <c:invertIfNegative val="0"/>
            <c:bubble3D val="0"/>
            <c:spPr>
              <a:solidFill>
                <a:srgbClr val="F2724B"/>
              </a:solidFill>
              <a:effectLst/>
            </c:spPr>
            <c:extLst>
              <c:ext xmlns:c16="http://schemas.microsoft.com/office/drawing/2014/chart" uri="{C3380CC4-5D6E-409C-BE32-E72D297353CC}">
                <c16:uniqueId val="{00000007-1D5D-4BBB-B28C-C67F31C2A9B2}"/>
              </c:ext>
            </c:extLst>
          </c:dPt>
          <c:dPt>
            <c:idx val="4"/>
            <c:invertIfNegative val="0"/>
            <c:bubble3D val="0"/>
            <c:spPr>
              <a:solidFill>
                <a:srgbClr val="C0152F"/>
              </a:solidFill>
              <a:effectLst/>
            </c:spPr>
            <c:extLst>
              <c:ext xmlns:c16="http://schemas.microsoft.com/office/drawing/2014/chart" uri="{C3380CC4-5D6E-409C-BE32-E72D297353CC}">
                <c16:uniqueId val="{00000009-1D5D-4BBB-B28C-C67F31C2A9B2}"/>
              </c:ext>
            </c:extLst>
          </c:dPt>
          <c:dLbls>
            <c:numFmt formatCode="#,##0" sourceLinked="0"/>
            <c:spPr>
              <a:noFill/>
              <a:ln>
                <a:noFill/>
              </a:ln>
              <a:effectLst/>
            </c:spPr>
            <c:txPr>
              <a:bodyPr/>
              <a:lstStyle/>
              <a:p>
                <a:pPr>
                  <a:defRPr sz="1000" b="0" i="0" u="none" strike="noStrike">
                    <a:solidFill>
                      <a:srgbClr val="21212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 S/500</c:v>
                </c:pt>
                <c:pt idx="1">
                  <c:v>Solo S/500</c:v>
                </c:pt>
                <c:pt idx="2">
                  <c:v>Moderado (501-5000)</c:v>
                </c:pt>
                <c:pt idx="3">
                  <c:v>Alto (5001-20000)</c:v>
                </c:pt>
                <c:pt idx="4">
                  <c:v>Critico (&gt;20000)</c:v>
                </c:pt>
              </c:strCache>
            </c:strRef>
          </c:cat>
          <c:val>
            <c:numRef>
              <c:f>Sheet1!$B$2:$B$6</c:f>
              <c:numCache>
                <c:formatCode>General</c:formatCode>
                <c:ptCount val="5"/>
                <c:pt idx="0">
                  <c:v>94</c:v>
                </c:pt>
                <c:pt idx="1">
                  <c:v>36</c:v>
                </c:pt>
                <c:pt idx="2">
                  <c:v>109</c:v>
                </c:pt>
                <c:pt idx="3">
                  <c:v>35</c:v>
                </c:pt>
                <c:pt idx="4">
                  <c:v>10</c:v>
                </c:pt>
              </c:numCache>
            </c:numRef>
          </c:val>
          <c:extLst>
            <c:ext xmlns:c16="http://schemas.microsoft.com/office/drawing/2014/chart" uri="{C3380CC4-5D6E-409C-BE32-E72D297353CC}">
              <c16:uniqueId val="{0000000A-1D5D-4BBB-B28C-C67F31C2A9B2}"/>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1212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Satisfacción promedio</c:v>
                </c:pt>
              </c:strCache>
            </c:strRef>
          </c:tx>
          <c:spPr>
            <a:solidFill>
              <a:srgbClr val="C9A15A"/>
            </a:solidFill>
            <a:effectLst/>
          </c:spPr>
          <c:invertIfNegative val="0"/>
          <c:dPt>
            <c:idx val="0"/>
            <c:invertIfNegative val="0"/>
            <c:bubble3D val="0"/>
            <c:extLst>
              <c:ext xmlns:c16="http://schemas.microsoft.com/office/drawing/2014/chart" uri="{C3380CC4-5D6E-409C-BE32-E72D297353CC}">
                <c16:uniqueId val="{00000001-4D1C-7F43-A5DB-65E5D1C1DFE2}"/>
              </c:ext>
            </c:extLst>
          </c:dPt>
          <c:dPt>
            <c:idx val="1"/>
            <c:invertIfNegative val="0"/>
            <c:bubble3D val="0"/>
            <c:extLst>
              <c:ext xmlns:c16="http://schemas.microsoft.com/office/drawing/2014/chart" uri="{C3380CC4-5D6E-409C-BE32-E72D297353CC}">
                <c16:uniqueId val="{00000003-4D1C-7F43-A5DB-65E5D1C1DFE2}"/>
              </c:ext>
            </c:extLst>
          </c:dPt>
          <c:dPt>
            <c:idx val="2"/>
            <c:invertIfNegative val="0"/>
            <c:bubble3D val="0"/>
            <c:extLst>
              <c:ext xmlns:c16="http://schemas.microsoft.com/office/drawing/2014/chart" uri="{C3380CC4-5D6E-409C-BE32-E72D297353CC}">
                <c16:uniqueId val="{00000005-4D1C-7F43-A5DB-65E5D1C1DFE2}"/>
              </c:ext>
            </c:extLst>
          </c:dPt>
          <c:dLbls>
            <c:numFmt formatCode="0.0" sourceLinked="0"/>
            <c:spPr>
              <a:noFill/>
              <a:ln>
                <a:noFill/>
              </a:ln>
              <a:effectLst/>
            </c:spPr>
            <c:txPr>
              <a:bodyPr/>
              <a:lstStyle/>
              <a:p>
                <a:pPr>
                  <a:defRPr sz="1600" b="1" i="0" u="none" strike="noStrike">
                    <a:solidFill>
                      <a:srgbClr val="1E2761"/>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transfirió
sus ahorros</c:v>
                </c:pt>
                <c:pt idx="1">
                  <c:v>Transfirió a
bancos grandes</c:v>
                </c:pt>
                <c:pt idx="2">
                  <c:v>Transfirió a
otras entidades</c:v>
                </c:pt>
              </c:strCache>
            </c:strRef>
          </c:cat>
          <c:val>
            <c:numRef>
              <c:f>Sheet1!$B$2:$B$4</c:f>
              <c:numCache>
                <c:formatCode>General</c:formatCode>
                <c:ptCount val="3"/>
                <c:pt idx="0">
                  <c:v>8.5</c:v>
                </c:pt>
                <c:pt idx="1">
                  <c:v>7.9</c:v>
                </c:pt>
                <c:pt idx="2">
                  <c:v>7.2</c:v>
                </c:pt>
              </c:numCache>
            </c:numRef>
          </c:val>
          <c:extLst>
            <c:ext xmlns:c16="http://schemas.microsoft.com/office/drawing/2014/chart" uri="{C3380CC4-5D6E-409C-BE32-E72D297353CC}">
              <c16:uniqueId val="{00000006-4D1C-7F43-A5DB-65E5D1C1DFE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3709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Actividad_diaria_encuesta.xlsx. Conteo diario de clientes con retiro (valor negativo) por día de Junio 2026, clasificado por el monto absoluto retirado en los rangos definidos. El gráfico de barras muestra clientes únicos (sin duplicar) que tuvieron al menos un retiro en cada rango durante el mes; un mismo cliente puede aparecer en más de un rango si retiró montos distintos en días distintos. La fuga monetaria es la suma de todos los retiros (en S/) de ese día, sumando todos los clientes.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Actividad_diaria_encuesta.xlsx. Conteo diario de clientes con retiro (valor negativo) por día de Julio 2026, clasificado por el monto absoluto retirado en los rangos definidos. El gráfico de barras muestra clientes únicos (sin duplicar) que tuvieron al menos un retiro en cada rango durante el mes; un mismo cliente puede aparecer en más de un rango si retiró montos distintos en días distintos. La fuga monetaria es la suma de todos los retiros (en S/) de ese día, sumando todos los clientes.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361F40D-598E-E920-8E86-9B030FB32FC4}"/>
              </a:ext>
            </a:extLst>
          </p:cNvPr>
          <p:cNvSpPr txBox="1"/>
          <p:nvPr>
            <p:extLst>
              <p:ext uri="{1162E1C5-73C7-4A58-AE30-91384D911F3F}">
                <p184:classification xmlns:p184="http://schemas.microsoft.com/office/powerpoint/2018/4/main" val="ftr"/>
              </p:ext>
            </p:extLst>
          </p:nvPr>
        </p:nvSpPr>
        <p:spPr>
          <a:xfrm>
            <a:off x="5663375" y="6672580"/>
            <a:ext cx="885825" cy="121920"/>
          </a:xfrm>
          <a:prstGeom prst="rect">
            <a:avLst/>
          </a:prstGeom>
        </p:spPr>
        <p:txBody>
          <a:bodyPr horzOverflow="overflow" lIns="0" tIns="0" rIns="0" bIns="0">
            <a:spAutoFit/>
          </a:bodyPr>
          <a:lstStyle/>
          <a:p>
            <a:pPr algn="l"/>
            <a:r>
              <a:rPr lang="es-ES" sz="800">
                <a:solidFill>
                  <a:srgbClr val="000000">
                    <a:alpha val="50000"/>
                  </a:srgbClr>
                </a:solidFill>
                <a:latin typeface="Aptos" panose="020B0004020202020204" pitchFamily="34" charset="0"/>
              </a:rPr>
              <a:t>Información Interna</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Text 0"/>
          <p:cNvSpPr/>
          <p:nvPr/>
        </p:nvSpPr>
        <p:spPr>
          <a:xfrm>
            <a:off x="640080" y="640080"/>
            <a:ext cx="7315200" cy="320040"/>
          </a:xfrm>
          <a:prstGeom prst="rect">
            <a:avLst/>
          </a:prstGeom>
          <a:noFill/>
          <a:ln/>
        </p:spPr>
        <p:txBody>
          <a:bodyPr wrap="square" rtlCol="0" anchor="ctr"/>
          <a:lstStyle/>
          <a:p>
            <a:pPr marL="0" indent="0">
              <a:buNone/>
            </a:pPr>
            <a:r>
              <a:rPr lang="en-US" sz="1200" b="1" kern="0" spc="150">
                <a:solidFill>
                  <a:srgbClr val="C9A15A"/>
                </a:solidFill>
                <a:latin typeface="Calibri" pitchFamily="34" charset="0"/>
                <a:ea typeface="Calibri" pitchFamily="34" charset="-122"/>
                <a:cs typeface="Calibri" pitchFamily="34" charset="-120"/>
              </a:rPr>
              <a:t>HUB PASIVOS  ·  BANCO PICHINCHA</a:t>
            </a:r>
            <a:endParaRPr lang="en-US" sz="1200"/>
          </a:p>
        </p:txBody>
      </p:sp>
      <p:sp>
        <p:nvSpPr>
          <p:cNvPr id="4" name="Text 2"/>
          <p:cNvSpPr/>
          <p:nvPr/>
        </p:nvSpPr>
        <p:spPr>
          <a:xfrm>
            <a:off x="640080" y="2286000"/>
            <a:ext cx="10515600" cy="1005840"/>
          </a:xfrm>
          <a:prstGeom prst="rect">
            <a:avLst/>
          </a:prstGeom>
          <a:noFill/>
          <a:ln/>
        </p:spPr>
        <p:txBody>
          <a:bodyPr wrap="square" rtlCol="0" anchor="ctr"/>
          <a:lstStyle/>
          <a:p>
            <a:pPr marL="0" indent="0">
              <a:buNone/>
            </a:pPr>
            <a:r>
              <a:rPr lang="en-US" sz="4400" b="1">
                <a:solidFill>
                  <a:srgbClr val="FFFFFF"/>
                </a:solidFill>
                <a:latin typeface="Calibri" pitchFamily="34" charset="0"/>
                <a:ea typeface="Calibri" pitchFamily="34" charset="-122"/>
                <a:cs typeface="Calibri" pitchFamily="34" charset="-120"/>
              </a:rPr>
              <a:t>¿Por qué se van los ahorros?</a:t>
            </a:r>
            <a:endParaRPr lang="en-US" sz="4400"/>
          </a:p>
        </p:txBody>
      </p:sp>
      <p:sp>
        <p:nvSpPr>
          <p:cNvPr id="5" name="Text 3"/>
          <p:cNvSpPr/>
          <p:nvPr/>
        </p:nvSpPr>
        <p:spPr>
          <a:xfrm>
            <a:off x="640080" y="3200400"/>
            <a:ext cx="9875520" cy="548640"/>
          </a:xfrm>
          <a:prstGeom prst="rect">
            <a:avLst/>
          </a:prstGeom>
          <a:noFill/>
          <a:ln/>
        </p:spPr>
        <p:txBody>
          <a:bodyPr wrap="square" rtlCol="0" anchor="ctr"/>
          <a:lstStyle/>
          <a:p>
            <a:pPr marL="0" indent="0">
              <a:buNone/>
            </a:pPr>
            <a:r>
              <a:rPr lang="en-US" sz="1800" i="1">
                <a:solidFill>
                  <a:srgbClr val="C9A15A"/>
                </a:solidFill>
                <a:latin typeface="Calibri" pitchFamily="34" charset="0"/>
                <a:ea typeface="Calibri" pitchFamily="34" charset="-122"/>
                <a:cs typeface="Calibri" pitchFamily="34" charset="-120"/>
              </a:rPr>
              <a:t>Cruzando lo que dicen las transacciones con lo que dicen los clientes</a:t>
            </a:r>
            <a:endParaRPr lang="en-US" sz="1800"/>
          </a:p>
        </p:txBody>
      </p:sp>
      <p:sp>
        <p:nvSpPr>
          <p:cNvPr id="6" name="Text 4"/>
          <p:cNvSpPr/>
          <p:nvPr/>
        </p:nvSpPr>
        <p:spPr>
          <a:xfrm>
            <a:off x="640080" y="3794760"/>
            <a:ext cx="9491472" cy="548640"/>
          </a:xfrm>
          <a:prstGeom prst="rect">
            <a:avLst/>
          </a:prstGeom>
          <a:noFill/>
          <a:ln/>
        </p:spPr>
        <p:txBody>
          <a:bodyPr wrap="square" rtlCol="0" anchor="ctr"/>
          <a:lstStyle/>
          <a:p>
            <a:pPr marL="0" indent="0">
              <a:buNone/>
            </a:pPr>
            <a:r>
              <a:rPr lang="en-US" sz="1300">
                <a:solidFill>
                  <a:srgbClr val="C7D0E3"/>
                </a:solidFill>
                <a:latin typeface="Calibri" pitchFamily="34" charset="0"/>
                <a:ea typeface="Calibri" pitchFamily="34" charset="-122"/>
                <a:cs typeface="Calibri" pitchFamily="34" charset="-120"/>
              </a:rPr>
              <a:t>Análisis transaccional de salidas del App (Inmediatas + Diferidas, junio 2026) fusionado con la encuesta cualitativa a clientes que retiraron más de S/5,000 en el mes.</a:t>
            </a:r>
            <a:endParaRPr lang="en-US" sz="1300"/>
          </a:p>
        </p:txBody>
      </p:sp>
      <p:sp>
        <p:nvSpPr>
          <p:cNvPr id="7" name="Shape 5"/>
          <p:cNvSpPr/>
          <p:nvPr/>
        </p:nvSpPr>
        <p:spPr>
          <a:xfrm>
            <a:off x="640080" y="4892040"/>
            <a:ext cx="3337560" cy="1234440"/>
          </a:xfrm>
          <a:prstGeom prst="roundRect">
            <a:avLst>
              <a:gd name="adj" fmla="val 5926"/>
            </a:avLst>
          </a:prstGeom>
          <a:solidFill>
            <a:srgbClr val="232C6E"/>
          </a:solidFill>
          <a:ln w="9525">
            <a:solidFill>
              <a:srgbClr val="3A448C"/>
            </a:solidFill>
            <a:prstDash val="solid"/>
          </a:ln>
        </p:spPr>
        <p:txBody>
          <a:bodyPr/>
          <a:lstStyle/>
          <a:p>
            <a:endParaRPr lang="es-PE"/>
          </a:p>
        </p:txBody>
      </p:sp>
      <p:sp>
        <p:nvSpPr>
          <p:cNvPr id="8" name="Text 6"/>
          <p:cNvSpPr/>
          <p:nvPr/>
        </p:nvSpPr>
        <p:spPr>
          <a:xfrm>
            <a:off x="822960" y="5001768"/>
            <a:ext cx="2971800" cy="502920"/>
          </a:xfrm>
          <a:prstGeom prst="rect">
            <a:avLst/>
          </a:prstGeom>
          <a:noFill/>
          <a:ln/>
        </p:spPr>
        <p:txBody>
          <a:bodyPr wrap="square" rtlCol="0" anchor="ctr"/>
          <a:lstStyle/>
          <a:p>
            <a:pPr marL="0" indent="0">
              <a:buNone/>
            </a:pPr>
            <a:r>
              <a:rPr lang="en-US" sz="2400" b="1">
                <a:solidFill>
                  <a:srgbClr val="C9A15A"/>
                </a:solidFill>
                <a:latin typeface="Calibri" pitchFamily="34" charset="0"/>
                <a:ea typeface="Calibri" pitchFamily="34" charset="-122"/>
                <a:cs typeface="Calibri" pitchFamily="34" charset="-120"/>
              </a:rPr>
              <a:t>S/ 202.35M</a:t>
            </a:r>
            <a:endParaRPr lang="en-US" sz="2400"/>
          </a:p>
        </p:txBody>
      </p:sp>
      <p:sp>
        <p:nvSpPr>
          <p:cNvPr id="9" name="Text 7"/>
          <p:cNvSpPr/>
          <p:nvPr/>
        </p:nvSpPr>
        <p:spPr>
          <a:xfrm>
            <a:off x="822960" y="5513832"/>
            <a:ext cx="2971800" cy="548640"/>
          </a:xfrm>
          <a:prstGeom prst="rect">
            <a:avLst/>
          </a:prstGeom>
          <a:noFill/>
          <a:ln/>
        </p:spPr>
        <p:txBody>
          <a:bodyPr wrap="square" rtlCol="0" anchor="ctr"/>
          <a:lstStyle/>
          <a:p>
            <a:pPr marL="0" indent="0">
              <a:buNone/>
            </a:pPr>
            <a:r>
              <a:rPr lang="en-US" sz="1050">
                <a:solidFill>
                  <a:srgbClr val="C7D0E3"/>
                </a:solidFill>
                <a:latin typeface="Calibri" pitchFamily="34" charset="0"/>
                <a:ea typeface="Calibri" pitchFamily="34" charset="-122"/>
                <a:cs typeface="Calibri" pitchFamily="34" charset="-120"/>
              </a:rPr>
              <a:t>analizados en transferencias App · junio 2026</a:t>
            </a:r>
            <a:endParaRPr lang="en-US" sz="1050"/>
          </a:p>
        </p:txBody>
      </p:sp>
      <p:sp>
        <p:nvSpPr>
          <p:cNvPr id="10" name="Shape 8"/>
          <p:cNvSpPr/>
          <p:nvPr/>
        </p:nvSpPr>
        <p:spPr>
          <a:xfrm>
            <a:off x="4297680" y="4892040"/>
            <a:ext cx="3337560" cy="1234440"/>
          </a:xfrm>
          <a:prstGeom prst="roundRect">
            <a:avLst>
              <a:gd name="adj" fmla="val 5926"/>
            </a:avLst>
          </a:prstGeom>
          <a:solidFill>
            <a:srgbClr val="232C6E"/>
          </a:solidFill>
          <a:ln w="9525">
            <a:solidFill>
              <a:srgbClr val="3A448C"/>
            </a:solidFill>
            <a:prstDash val="solid"/>
          </a:ln>
        </p:spPr>
        <p:txBody>
          <a:bodyPr/>
          <a:lstStyle/>
          <a:p>
            <a:endParaRPr lang="es-PE"/>
          </a:p>
        </p:txBody>
      </p:sp>
      <p:sp>
        <p:nvSpPr>
          <p:cNvPr id="11" name="Text 9"/>
          <p:cNvSpPr/>
          <p:nvPr/>
        </p:nvSpPr>
        <p:spPr>
          <a:xfrm>
            <a:off x="4480560" y="5001768"/>
            <a:ext cx="2971800" cy="502920"/>
          </a:xfrm>
          <a:prstGeom prst="rect">
            <a:avLst/>
          </a:prstGeom>
          <a:noFill/>
          <a:ln/>
        </p:spPr>
        <p:txBody>
          <a:bodyPr wrap="square" rtlCol="0" anchor="ctr"/>
          <a:lstStyle/>
          <a:p>
            <a:pPr marL="0" indent="0">
              <a:buNone/>
            </a:pPr>
            <a:r>
              <a:rPr lang="en-US" sz="2400" b="1">
                <a:solidFill>
                  <a:srgbClr val="C9A15A"/>
                </a:solidFill>
                <a:latin typeface="Calibri" pitchFamily="34" charset="0"/>
                <a:ea typeface="Calibri" pitchFamily="34" charset="-122"/>
                <a:cs typeface="Calibri" pitchFamily="34" charset="-120"/>
              </a:rPr>
              <a:t>227</a:t>
            </a:r>
            <a:endParaRPr lang="en-US" sz="2400"/>
          </a:p>
        </p:txBody>
      </p:sp>
      <p:sp>
        <p:nvSpPr>
          <p:cNvPr id="12" name="Text 10"/>
          <p:cNvSpPr/>
          <p:nvPr/>
        </p:nvSpPr>
        <p:spPr>
          <a:xfrm>
            <a:off x="4480560" y="5513832"/>
            <a:ext cx="2971800" cy="548640"/>
          </a:xfrm>
          <a:prstGeom prst="rect">
            <a:avLst/>
          </a:prstGeom>
          <a:noFill/>
          <a:ln/>
        </p:spPr>
        <p:txBody>
          <a:bodyPr wrap="square" rtlCol="0" anchor="ctr"/>
          <a:lstStyle/>
          <a:p>
            <a:pPr marL="0" indent="0">
              <a:buNone/>
            </a:pPr>
            <a:r>
              <a:rPr lang="en-US" sz="1050">
                <a:solidFill>
                  <a:srgbClr val="C7D0E3"/>
                </a:solidFill>
                <a:latin typeface="Calibri" pitchFamily="34" charset="0"/>
                <a:ea typeface="Calibri" pitchFamily="34" charset="-122"/>
                <a:cs typeface="Calibri" pitchFamily="34" charset="-120"/>
              </a:rPr>
              <a:t>respuestas de la encuesta de fuga · jun–jul 2026</a:t>
            </a:r>
            <a:endParaRPr lang="en-US" sz="1050"/>
          </a:p>
        </p:txBody>
      </p:sp>
      <p:sp>
        <p:nvSpPr>
          <p:cNvPr id="13" name="Shape 11"/>
          <p:cNvSpPr/>
          <p:nvPr/>
        </p:nvSpPr>
        <p:spPr>
          <a:xfrm>
            <a:off x="7955280" y="4892040"/>
            <a:ext cx="3337560" cy="1234440"/>
          </a:xfrm>
          <a:prstGeom prst="roundRect">
            <a:avLst>
              <a:gd name="adj" fmla="val 5926"/>
            </a:avLst>
          </a:prstGeom>
          <a:solidFill>
            <a:srgbClr val="232C6E"/>
          </a:solidFill>
          <a:ln w="9525">
            <a:solidFill>
              <a:srgbClr val="3A448C"/>
            </a:solidFill>
            <a:prstDash val="solid"/>
          </a:ln>
        </p:spPr>
        <p:txBody>
          <a:bodyPr/>
          <a:lstStyle/>
          <a:p>
            <a:endParaRPr lang="es-PE"/>
          </a:p>
        </p:txBody>
      </p:sp>
      <p:sp>
        <p:nvSpPr>
          <p:cNvPr id="14" name="Text 12"/>
          <p:cNvSpPr/>
          <p:nvPr/>
        </p:nvSpPr>
        <p:spPr>
          <a:xfrm>
            <a:off x="8138160" y="5001768"/>
            <a:ext cx="2971800" cy="502920"/>
          </a:xfrm>
          <a:prstGeom prst="rect">
            <a:avLst/>
          </a:prstGeom>
          <a:noFill/>
          <a:ln/>
        </p:spPr>
        <p:txBody>
          <a:bodyPr wrap="square" rtlCol="0" anchor="ctr"/>
          <a:lstStyle/>
          <a:p>
            <a:pPr marL="0" indent="0">
              <a:buNone/>
            </a:pPr>
            <a:r>
              <a:rPr lang="en-US" sz="2400" b="1">
                <a:solidFill>
                  <a:srgbClr val="C9A15A"/>
                </a:solidFill>
                <a:latin typeface="Calibri" pitchFamily="34" charset="0"/>
                <a:ea typeface="Calibri" pitchFamily="34" charset="-122"/>
                <a:cs typeface="Calibri" pitchFamily="34" charset="-120"/>
              </a:rPr>
              <a:t>S/ 2.53M</a:t>
            </a:r>
            <a:endParaRPr lang="en-US" sz="2400"/>
          </a:p>
        </p:txBody>
      </p:sp>
      <p:sp>
        <p:nvSpPr>
          <p:cNvPr id="15" name="Text 13"/>
          <p:cNvSpPr/>
          <p:nvPr/>
        </p:nvSpPr>
        <p:spPr>
          <a:xfrm>
            <a:off x="8138160" y="5513832"/>
            <a:ext cx="2971800" cy="548640"/>
          </a:xfrm>
          <a:prstGeom prst="rect">
            <a:avLst/>
          </a:prstGeom>
          <a:noFill/>
          <a:ln/>
        </p:spPr>
        <p:txBody>
          <a:bodyPr wrap="square" rtlCol="0" anchor="ctr"/>
          <a:lstStyle/>
          <a:p>
            <a:pPr marL="0" indent="0">
              <a:buNone/>
            </a:pPr>
            <a:r>
              <a:rPr lang="en-US" sz="1050">
                <a:solidFill>
                  <a:srgbClr val="C7D0E3"/>
                </a:solidFill>
                <a:latin typeface="Calibri" pitchFamily="34" charset="0"/>
                <a:ea typeface="Calibri" pitchFamily="34" charset="-122"/>
                <a:cs typeface="Calibri" pitchFamily="34" charset="-120"/>
              </a:rPr>
              <a:t>declarado por encuestados como salida a otra entidad</a:t>
            </a:r>
            <a:endParaRPr lang="en-US" sz="1050"/>
          </a:p>
        </p:txBody>
      </p:sp>
      <p:sp>
        <p:nvSpPr>
          <p:cNvPr id="16" name="Text 14"/>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8892C4"/>
                </a:solidFill>
                <a:latin typeface="Calibri" pitchFamily="34" charset="0"/>
                <a:ea typeface="Calibri" pitchFamily="34" charset="-122"/>
                <a:cs typeface="Calibri" pitchFamily="34" charset="-120"/>
              </a:rPr>
              <a:t>BANCO PICHINCHA  |  Data Analytics Hub Pasivos</a:t>
            </a:r>
            <a:endParaRPr lang="en-US" sz="900"/>
          </a:p>
        </p:txBody>
      </p:sp>
      <p:sp>
        <p:nvSpPr>
          <p:cNvPr id="17" name="Text 15"/>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CONFIDENCIAL — USO INTERNO</a:t>
            </a:r>
            <a:endParaRPr lang="en-US" sz="900"/>
          </a:p>
        </p:txBody>
      </p:sp>
      <p:sp>
        <p:nvSpPr>
          <p:cNvPr id="18" name="Text 16"/>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1</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200" b="1" kern="0" spc="150">
                <a:solidFill>
                  <a:srgbClr val="C9A15A"/>
                </a:solidFill>
                <a:latin typeface="Calibri" pitchFamily="34" charset="0"/>
                <a:ea typeface="Calibri" pitchFamily="34" charset="-122"/>
                <a:cs typeface="Calibri" pitchFamily="34" charset="-120"/>
              </a:rPr>
              <a:t>RESUMEN EJECUTIVO</a:t>
            </a:r>
            <a:endParaRPr lang="en-US" sz="1200"/>
          </a:p>
        </p:txBody>
      </p:sp>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Tres </a:t>
            </a:r>
            <a:r>
              <a:rPr lang="en-US" sz="2600" b="1" err="1">
                <a:solidFill>
                  <a:srgbClr val="FFFFFF"/>
                </a:solidFill>
                <a:latin typeface="Calibri" pitchFamily="34" charset="0"/>
                <a:ea typeface="Calibri" pitchFamily="34" charset="-122"/>
                <a:cs typeface="Calibri" pitchFamily="34" charset="-120"/>
              </a:rPr>
              <a:t>preguntas</a:t>
            </a:r>
            <a:r>
              <a:rPr lang="en-US" sz="2600" b="1">
                <a:solidFill>
                  <a:srgbClr val="FFFFFF"/>
                </a:solidFill>
                <a:latin typeface="Calibri" pitchFamily="34" charset="0"/>
                <a:ea typeface="Calibri" pitchFamily="34" charset="-122"/>
                <a:cs typeface="Calibri" pitchFamily="34" charset="-120"/>
              </a:rPr>
              <a:t> a responder</a:t>
            </a:r>
            <a:endParaRPr lang="en-US" sz="2600"/>
          </a:p>
        </p:txBody>
      </p:sp>
      <p:sp>
        <p:nvSpPr>
          <p:cNvPr id="4" name="Text 2"/>
          <p:cNvSpPr/>
          <p:nvPr/>
        </p:nvSpPr>
        <p:spPr>
          <a:xfrm>
            <a:off x="548640" y="1298448"/>
            <a:ext cx="11064240" cy="457200"/>
          </a:xfrm>
          <a:prstGeom prst="rect">
            <a:avLst/>
          </a:prstGeom>
          <a:noFill/>
          <a:ln/>
        </p:spPr>
        <p:txBody>
          <a:bodyPr wrap="square" rtlCol="0" anchor="ctr"/>
          <a:lstStyle/>
          <a:p>
            <a:pPr marL="0" indent="0" algn="l">
              <a:buNone/>
            </a:pPr>
            <a:r>
              <a:rPr lang="en-US" sz="1400">
                <a:solidFill>
                  <a:srgbClr val="C7D0E3"/>
                </a:solidFill>
                <a:latin typeface="Calibri" pitchFamily="34" charset="0"/>
                <a:ea typeface="Calibri" pitchFamily="34" charset="-122"/>
                <a:cs typeface="Calibri" pitchFamily="34" charset="-120"/>
              </a:rPr>
              <a:t>Lo que muestran 284,770 transacciones de junio se confirma en lo que dicen 227 clientes encuestados.</a:t>
            </a:r>
            <a:endParaRPr lang="en-US" sz="1400"/>
          </a:p>
        </p:txBody>
      </p:sp>
      <p:sp>
        <p:nvSpPr>
          <p:cNvPr id="5" name="Shape 3"/>
          <p:cNvSpPr/>
          <p:nvPr/>
        </p:nvSpPr>
        <p:spPr>
          <a:xfrm>
            <a:off x="548640" y="2331720"/>
            <a:ext cx="3520440" cy="3566160"/>
          </a:xfrm>
          <a:prstGeom prst="roundRect">
            <a:avLst>
              <a:gd name="adj" fmla="val 2597"/>
            </a:avLst>
          </a:prstGeom>
          <a:solidFill>
            <a:srgbClr val="232C6E"/>
          </a:solidFill>
          <a:ln/>
        </p:spPr>
        <p:txBody>
          <a:bodyPr/>
          <a:lstStyle/>
          <a:p>
            <a:endParaRPr lang="es-PE"/>
          </a:p>
        </p:txBody>
      </p:sp>
      <p:sp>
        <p:nvSpPr>
          <p:cNvPr id="6" name="Shape 4"/>
          <p:cNvSpPr/>
          <p:nvPr/>
        </p:nvSpPr>
        <p:spPr>
          <a:xfrm>
            <a:off x="804672" y="2587752"/>
            <a:ext cx="502920" cy="502920"/>
          </a:xfrm>
          <a:prstGeom prst="ellipse">
            <a:avLst/>
          </a:prstGeom>
          <a:solidFill>
            <a:srgbClr val="C9A15A"/>
          </a:solidFill>
          <a:ln/>
        </p:spPr>
        <p:txBody>
          <a:bodyPr/>
          <a:lstStyle/>
          <a:p>
            <a:endParaRPr lang="es-PE"/>
          </a:p>
        </p:txBody>
      </p:sp>
      <p:sp>
        <p:nvSpPr>
          <p:cNvPr id="7" name="Text 5"/>
          <p:cNvSpPr/>
          <p:nvPr/>
        </p:nvSpPr>
        <p:spPr>
          <a:xfrm>
            <a:off x="804672" y="2587752"/>
            <a:ext cx="502920" cy="502920"/>
          </a:xfrm>
          <a:prstGeom prst="rect">
            <a:avLst/>
          </a:prstGeom>
          <a:noFill/>
          <a:ln/>
        </p:spPr>
        <p:txBody>
          <a:bodyPr wrap="square" rtlCol="0" anchor="ctr"/>
          <a:lstStyle/>
          <a:p>
            <a:pPr marL="0" indent="0" algn="ctr">
              <a:buNone/>
            </a:pPr>
            <a:r>
              <a:rPr lang="en-US" sz="2000" b="1">
                <a:solidFill>
                  <a:srgbClr val="141B4D"/>
                </a:solidFill>
                <a:latin typeface="Calibri" pitchFamily="34" charset="0"/>
                <a:ea typeface="Calibri" pitchFamily="34" charset="-122"/>
                <a:cs typeface="Calibri" pitchFamily="34" charset="-120"/>
              </a:rPr>
              <a:t>1</a:t>
            </a:r>
            <a:endParaRPr lang="en-US" sz="2000"/>
          </a:p>
        </p:txBody>
      </p:sp>
      <p:sp>
        <p:nvSpPr>
          <p:cNvPr id="8" name="Text 6"/>
          <p:cNvSpPr/>
          <p:nvPr/>
        </p:nvSpPr>
        <p:spPr>
          <a:xfrm>
            <a:off x="804672" y="3246120"/>
            <a:ext cx="3008376" cy="914400"/>
          </a:xfrm>
          <a:prstGeom prst="rect">
            <a:avLst/>
          </a:prstGeom>
          <a:noFill/>
          <a:ln/>
        </p:spPr>
        <p:txBody>
          <a:bodyPr wrap="square" rtlCol="0" anchor="ctr"/>
          <a:lstStyle/>
          <a:p>
            <a:pPr marL="0" indent="0">
              <a:buNone/>
            </a:pPr>
            <a:r>
              <a:rPr lang="en-US" sz="1550" b="1">
                <a:solidFill>
                  <a:srgbClr val="FFFFFF"/>
                </a:solidFill>
                <a:latin typeface="Calibri" pitchFamily="34" charset="0"/>
                <a:ea typeface="Calibri" pitchFamily="34" charset="-122"/>
                <a:cs typeface="Calibri" pitchFamily="34" charset="-120"/>
              </a:rPr>
              <a:t>¿Cuánto es fuga real y cuánto uso cotidiano?</a:t>
            </a:r>
            <a:endParaRPr lang="en-US" sz="1550"/>
          </a:p>
        </p:txBody>
      </p:sp>
      <p:sp>
        <p:nvSpPr>
          <p:cNvPr id="9" name="Text 7"/>
          <p:cNvSpPr/>
          <p:nvPr/>
        </p:nvSpPr>
        <p:spPr>
          <a:xfrm>
            <a:off x="804672" y="4206240"/>
            <a:ext cx="3008376" cy="1554480"/>
          </a:xfrm>
          <a:prstGeom prst="rect">
            <a:avLst/>
          </a:prstGeom>
          <a:noFill/>
          <a:ln/>
        </p:spPr>
        <p:txBody>
          <a:bodyPr wrap="square" lIns="91440" tIns="45720" rIns="91440" bIns="45720" rtlCol="0" anchor="ctr"/>
          <a:lstStyle/>
          <a:p>
            <a:pPr marL="0" indent="0">
              <a:lnSpc>
                <a:spcPct val="115000"/>
              </a:lnSpc>
              <a:buNone/>
            </a:pPr>
            <a:r>
              <a:rPr lang="en-US" sz="1150">
                <a:solidFill>
                  <a:srgbClr val="C7D0E3"/>
                </a:solidFill>
                <a:latin typeface="Calibri"/>
                <a:ea typeface="Calibri"/>
                <a:cs typeface="Calibri"/>
              </a:rPr>
              <a:t>47% del </a:t>
            </a:r>
            <a:r>
              <a:rPr lang="en-US" sz="1150" err="1">
                <a:solidFill>
                  <a:srgbClr val="C7D0E3"/>
                </a:solidFill>
                <a:latin typeface="Calibri"/>
                <a:ea typeface="Calibri"/>
                <a:cs typeface="Calibri"/>
              </a:rPr>
              <a:t>monto</a:t>
            </a:r>
            <a:r>
              <a:rPr lang="en-US" sz="1150">
                <a:solidFill>
                  <a:srgbClr val="C7D0E3"/>
                </a:solidFill>
                <a:latin typeface="Calibri"/>
                <a:ea typeface="Calibri"/>
                <a:cs typeface="Calibri"/>
              </a:rPr>
              <a:t> de </a:t>
            </a:r>
            <a:r>
              <a:rPr lang="en-US" sz="1150" err="1">
                <a:solidFill>
                  <a:srgbClr val="C7D0E3"/>
                </a:solidFill>
                <a:latin typeface="Calibri"/>
                <a:ea typeface="Calibri"/>
                <a:cs typeface="Calibri"/>
              </a:rPr>
              <a:t>transferencias</a:t>
            </a:r>
            <a:r>
              <a:rPr lang="en-US" sz="1150">
                <a:solidFill>
                  <a:srgbClr val="C7D0E3"/>
                </a:solidFill>
                <a:latin typeface="Calibri"/>
                <a:ea typeface="Calibri"/>
                <a:cs typeface="Calibri"/>
              </a:rPr>
              <a:t> (S/96.1M) se </a:t>
            </a:r>
            <a:r>
              <a:rPr lang="en-US" sz="1150" err="1">
                <a:solidFill>
                  <a:srgbClr val="C7D0E3"/>
                </a:solidFill>
                <a:latin typeface="Calibri"/>
                <a:ea typeface="Calibri"/>
                <a:cs typeface="Calibri"/>
              </a:rPr>
              <a:t>concentra</a:t>
            </a:r>
            <a:r>
              <a:rPr lang="en-US" sz="1150">
                <a:solidFill>
                  <a:srgbClr val="C7D0E3"/>
                </a:solidFill>
                <a:latin typeface="Calibri"/>
                <a:ea typeface="Calibri"/>
                <a:cs typeface="Calibri"/>
              </a:rPr>
              <a:t> </a:t>
            </a:r>
            <a:r>
              <a:rPr lang="en-US" sz="1150" err="1">
                <a:solidFill>
                  <a:srgbClr val="C7D0E3"/>
                </a:solidFill>
                <a:latin typeface="Calibri"/>
                <a:ea typeface="Calibri"/>
                <a:cs typeface="Calibri"/>
              </a:rPr>
              <a:t>en</a:t>
            </a:r>
            <a:r>
              <a:rPr lang="en-US" sz="1150">
                <a:solidFill>
                  <a:srgbClr val="C7D0E3"/>
                </a:solidFill>
                <a:latin typeface="Calibri"/>
                <a:ea typeface="Calibri"/>
                <a:cs typeface="Calibri"/>
              </a:rPr>
              <a:t> solo 2.3% de las </a:t>
            </a:r>
            <a:r>
              <a:rPr lang="en-US" sz="1150" err="1">
                <a:solidFill>
                  <a:srgbClr val="C7D0E3"/>
                </a:solidFill>
                <a:latin typeface="Calibri"/>
                <a:ea typeface="Calibri"/>
                <a:cs typeface="Calibri"/>
              </a:rPr>
              <a:t>operaciones</a:t>
            </a:r>
            <a:r>
              <a:rPr lang="en-US" sz="1150">
                <a:solidFill>
                  <a:srgbClr val="C7D0E3"/>
                </a:solidFill>
                <a:latin typeface="Calibri"/>
                <a:ea typeface="Calibri"/>
                <a:cs typeface="Calibri"/>
              </a:rPr>
              <a:t> — tickets altos con </a:t>
            </a:r>
            <a:r>
              <a:rPr lang="en-US" sz="1150" err="1">
                <a:solidFill>
                  <a:srgbClr val="C7D0E3"/>
                </a:solidFill>
                <a:latin typeface="Calibri"/>
                <a:ea typeface="Calibri"/>
                <a:cs typeface="Calibri"/>
              </a:rPr>
              <a:t>perfil</a:t>
            </a:r>
            <a:r>
              <a:rPr lang="en-US" sz="1150">
                <a:solidFill>
                  <a:srgbClr val="C7D0E3"/>
                </a:solidFill>
                <a:latin typeface="Calibri"/>
                <a:ea typeface="Calibri"/>
                <a:cs typeface="Calibri"/>
              </a:rPr>
              <a:t> de </a:t>
            </a:r>
            <a:r>
              <a:rPr lang="en-US" sz="1150" err="1">
                <a:solidFill>
                  <a:srgbClr val="C7D0E3"/>
                </a:solidFill>
                <a:latin typeface="Calibri"/>
                <a:ea typeface="Calibri"/>
                <a:cs typeface="Calibri"/>
              </a:rPr>
              <a:t>fuga</a:t>
            </a:r>
            <a:r>
              <a:rPr lang="en-US" sz="1150">
                <a:solidFill>
                  <a:srgbClr val="C7D0E3"/>
                </a:solidFill>
                <a:latin typeface="Calibri"/>
                <a:ea typeface="Calibri"/>
                <a:cs typeface="Calibri"/>
              </a:rPr>
              <a:t>, no de </a:t>
            </a:r>
            <a:r>
              <a:rPr lang="en-US" sz="1150" err="1">
                <a:solidFill>
                  <a:srgbClr val="C7D0E3"/>
                </a:solidFill>
                <a:latin typeface="Calibri"/>
                <a:ea typeface="Calibri"/>
                <a:cs typeface="Calibri"/>
              </a:rPr>
              <a:t>consumo</a:t>
            </a:r>
            <a:r>
              <a:rPr lang="en-US" sz="1150">
                <a:solidFill>
                  <a:srgbClr val="C7D0E3"/>
                </a:solidFill>
                <a:latin typeface="Calibri"/>
                <a:ea typeface="Calibri"/>
                <a:cs typeface="Calibri"/>
              </a:rPr>
              <a:t> </a:t>
            </a:r>
            <a:r>
              <a:rPr lang="en-US" sz="1150" err="1">
                <a:solidFill>
                  <a:srgbClr val="C7D0E3"/>
                </a:solidFill>
                <a:latin typeface="Calibri"/>
                <a:ea typeface="Calibri"/>
                <a:cs typeface="Calibri"/>
              </a:rPr>
              <a:t>diario</a:t>
            </a:r>
            <a:r>
              <a:rPr lang="en-US" sz="1150">
                <a:solidFill>
                  <a:srgbClr val="C7D0E3"/>
                </a:solidFill>
                <a:latin typeface="Calibri"/>
                <a:ea typeface="Calibri"/>
                <a:cs typeface="Calibri"/>
              </a:rPr>
              <a:t>.</a:t>
            </a:r>
            <a:endParaRPr lang="en-US" sz="1150">
              <a:latin typeface="Calibri"/>
              <a:ea typeface="Calibri"/>
              <a:cs typeface="Calibri"/>
            </a:endParaRPr>
          </a:p>
        </p:txBody>
      </p:sp>
      <p:sp>
        <p:nvSpPr>
          <p:cNvPr id="10" name="Shape 8"/>
          <p:cNvSpPr/>
          <p:nvPr/>
        </p:nvSpPr>
        <p:spPr>
          <a:xfrm>
            <a:off x="4325112" y="2331720"/>
            <a:ext cx="3520440" cy="3566160"/>
          </a:xfrm>
          <a:prstGeom prst="roundRect">
            <a:avLst>
              <a:gd name="adj" fmla="val 2597"/>
            </a:avLst>
          </a:prstGeom>
          <a:solidFill>
            <a:srgbClr val="232C6E"/>
          </a:solidFill>
          <a:ln/>
        </p:spPr>
        <p:txBody>
          <a:bodyPr/>
          <a:lstStyle/>
          <a:p>
            <a:endParaRPr lang="es-PE"/>
          </a:p>
        </p:txBody>
      </p:sp>
      <p:sp>
        <p:nvSpPr>
          <p:cNvPr id="11" name="Shape 9"/>
          <p:cNvSpPr/>
          <p:nvPr/>
        </p:nvSpPr>
        <p:spPr>
          <a:xfrm>
            <a:off x="4581144" y="2587752"/>
            <a:ext cx="502920" cy="502920"/>
          </a:xfrm>
          <a:prstGeom prst="ellipse">
            <a:avLst/>
          </a:prstGeom>
          <a:solidFill>
            <a:srgbClr val="C9A15A"/>
          </a:solidFill>
          <a:ln/>
        </p:spPr>
        <p:txBody>
          <a:bodyPr/>
          <a:lstStyle/>
          <a:p>
            <a:endParaRPr lang="es-PE"/>
          </a:p>
        </p:txBody>
      </p:sp>
      <p:sp>
        <p:nvSpPr>
          <p:cNvPr id="12" name="Text 10"/>
          <p:cNvSpPr/>
          <p:nvPr/>
        </p:nvSpPr>
        <p:spPr>
          <a:xfrm>
            <a:off x="4581144" y="2587752"/>
            <a:ext cx="502920" cy="502920"/>
          </a:xfrm>
          <a:prstGeom prst="rect">
            <a:avLst/>
          </a:prstGeom>
          <a:noFill/>
          <a:ln/>
        </p:spPr>
        <p:txBody>
          <a:bodyPr wrap="square" rtlCol="0" anchor="ctr"/>
          <a:lstStyle/>
          <a:p>
            <a:pPr marL="0" indent="0" algn="ctr">
              <a:buNone/>
            </a:pPr>
            <a:r>
              <a:rPr lang="en-US" sz="2000" b="1">
                <a:solidFill>
                  <a:srgbClr val="141B4D"/>
                </a:solidFill>
                <a:latin typeface="Calibri" pitchFamily="34" charset="0"/>
                <a:ea typeface="Calibri" pitchFamily="34" charset="-122"/>
                <a:cs typeface="Calibri" pitchFamily="34" charset="-120"/>
              </a:rPr>
              <a:t>2</a:t>
            </a:r>
            <a:endParaRPr lang="en-US" sz="2000"/>
          </a:p>
        </p:txBody>
      </p:sp>
      <p:sp>
        <p:nvSpPr>
          <p:cNvPr id="13" name="Text 11"/>
          <p:cNvSpPr/>
          <p:nvPr/>
        </p:nvSpPr>
        <p:spPr>
          <a:xfrm>
            <a:off x="4581144" y="3246120"/>
            <a:ext cx="3008376" cy="914400"/>
          </a:xfrm>
          <a:prstGeom prst="rect">
            <a:avLst/>
          </a:prstGeom>
          <a:noFill/>
          <a:ln/>
        </p:spPr>
        <p:txBody>
          <a:bodyPr wrap="square" rtlCol="0" anchor="ctr"/>
          <a:lstStyle/>
          <a:p>
            <a:pPr marL="0" indent="0">
              <a:buNone/>
            </a:pPr>
            <a:r>
              <a:rPr lang="en-US" sz="1550" b="1">
                <a:solidFill>
                  <a:srgbClr val="FFFFFF"/>
                </a:solidFill>
                <a:latin typeface="Calibri" pitchFamily="34" charset="0"/>
                <a:ea typeface="Calibri" pitchFamily="34" charset="-122"/>
                <a:cs typeface="Calibri" pitchFamily="34" charset="-120"/>
              </a:rPr>
              <a:t>¿A qué bancos se va el dinero?</a:t>
            </a:r>
            <a:endParaRPr lang="en-US" sz="1550"/>
          </a:p>
        </p:txBody>
      </p:sp>
      <p:sp>
        <p:nvSpPr>
          <p:cNvPr id="14" name="Text 12"/>
          <p:cNvSpPr/>
          <p:nvPr/>
        </p:nvSpPr>
        <p:spPr>
          <a:xfrm>
            <a:off x="4581144" y="4206240"/>
            <a:ext cx="3008376" cy="1554480"/>
          </a:xfrm>
          <a:prstGeom prst="rect">
            <a:avLst/>
          </a:prstGeom>
          <a:noFill/>
          <a:ln/>
        </p:spPr>
        <p:txBody>
          <a:bodyPr wrap="square" rtlCol="0" anchor="ctr"/>
          <a:lstStyle/>
          <a:p>
            <a:pPr marL="0" indent="0">
              <a:lnSpc>
                <a:spcPct val="115000"/>
              </a:lnSpc>
              <a:buNone/>
            </a:pPr>
            <a:r>
              <a:rPr lang="en-US" sz="1150">
                <a:solidFill>
                  <a:srgbClr val="C7D0E3"/>
                </a:solidFill>
                <a:latin typeface="Calibri" pitchFamily="34" charset="0"/>
                <a:ea typeface="Calibri" pitchFamily="34" charset="-122"/>
                <a:cs typeface="Calibri" pitchFamily="34" charset="-120"/>
              </a:rPr>
              <a:t>BCP concentra 57% de la fuga hacia el Big Four; fuera de él, Efectibank lidera. En la encuesta, quienes migran a cajas y financieras se llevan 3.7x más dinero por cliente.</a:t>
            </a:r>
            <a:endParaRPr lang="en-US" sz="1150"/>
          </a:p>
        </p:txBody>
      </p:sp>
      <p:sp>
        <p:nvSpPr>
          <p:cNvPr id="15" name="Shape 13"/>
          <p:cNvSpPr/>
          <p:nvPr/>
        </p:nvSpPr>
        <p:spPr>
          <a:xfrm>
            <a:off x="8101584" y="2331720"/>
            <a:ext cx="3520440" cy="3566160"/>
          </a:xfrm>
          <a:prstGeom prst="roundRect">
            <a:avLst>
              <a:gd name="adj" fmla="val 2597"/>
            </a:avLst>
          </a:prstGeom>
          <a:solidFill>
            <a:srgbClr val="232C6E"/>
          </a:solidFill>
          <a:ln/>
        </p:spPr>
        <p:txBody>
          <a:bodyPr/>
          <a:lstStyle/>
          <a:p>
            <a:endParaRPr lang="es-PE"/>
          </a:p>
        </p:txBody>
      </p:sp>
      <p:sp>
        <p:nvSpPr>
          <p:cNvPr id="16" name="Shape 14"/>
          <p:cNvSpPr/>
          <p:nvPr/>
        </p:nvSpPr>
        <p:spPr>
          <a:xfrm>
            <a:off x="8357616" y="2587752"/>
            <a:ext cx="502920" cy="502920"/>
          </a:xfrm>
          <a:prstGeom prst="ellipse">
            <a:avLst/>
          </a:prstGeom>
          <a:solidFill>
            <a:srgbClr val="C9A15A"/>
          </a:solidFill>
          <a:ln/>
        </p:spPr>
        <p:txBody>
          <a:bodyPr/>
          <a:lstStyle/>
          <a:p>
            <a:endParaRPr lang="es-PE"/>
          </a:p>
        </p:txBody>
      </p:sp>
      <p:sp>
        <p:nvSpPr>
          <p:cNvPr id="17" name="Text 15"/>
          <p:cNvSpPr/>
          <p:nvPr/>
        </p:nvSpPr>
        <p:spPr>
          <a:xfrm>
            <a:off x="8357616" y="2587752"/>
            <a:ext cx="502920" cy="502920"/>
          </a:xfrm>
          <a:prstGeom prst="rect">
            <a:avLst/>
          </a:prstGeom>
          <a:noFill/>
          <a:ln/>
        </p:spPr>
        <p:txBody>
          <a:bodyPr wrap="square" rtlCol="0" anchor="ctr"/>
          <a:lstStyle/>
          <a:p>
            <a:pPr marL="0" indent="0" algn="ctr">
              <a:buNone/>
            </a:pPr>
            <a:r>
              <a:rPr lang="en-US" sz="2000" b="1">
                <a:solidFill>
                  <a:srgbClr val="141B4D"/>
                </a:solidFill>
                <a:latin typeface="Calibri" pitchFamily="34" charset="0"/>
                <a:ea typeface="Calibri" pitchFamily="34" charset="-122"/>
                <a:cs typeface="Calibri" pitchFamily="34" charset="-120"/>
              </a:rPr>
              <a:t>3</a:t>
            </a:r>
            <a:endParaRPr lang="en-US" sz="2000"/>
          </a:p>
        </p:txBody>
      </p:sp>
      <p:sp>
        <p:nvSpPr>
          <p:cNvPr id="18" name="Text 16"/>
          <p:cNvSpPr/>
          <p:nvPr/>
        </p:nvSpPr>
        <p:spPr>
          <a:xfrm>
            <a:off x="8357616" y="3246120"/>
            <a:ext cx="3008376" cy="914400"/>
          </a:xfrm>
          <a:prstGeom prst="rect">
            <a:avLst/>
          </a:prstGeom>
          <a:noFill/>
          <a:ln/>
        </p:spPr>
        <p:txBody>
          <a:bodyPr wrap="square" rtlCol="0" anchor="ctr"/>
          <a:lstStyle/>
          <a:p>
            <a:pPr marL="0" indent="0">
              <a:buNone/>
            </a:pPr>
            <a:r>
              <a:rPr lang="en-US" sz="1550" b="1">
                <a:solidFill>
                  <a:srgbClr val="FFFFFF"/>
                </a:solidFill>
                <a:latin typeface="Calibri" pitchFamily="34" charset="0"/>
                <a:ea typeface="Calibri" pitchFamily="34" charset="-122"/>
                <a:cs typeface="Calibri" pitchFamily="34" charset="-120"/>
              </a:rPr>
              <a:t>¿Por qué se van?</a:t>
            </a:r>
            <a:endParaRPr lang="en-US" sz="1550"/>
          </a:p>
        </p:txBody>
      </p:sp>
      <p:sp>
        <p:nvSpPr>
          <p:cNvPr id="19" name="Text 17"/>
          <p:cNvSpPr/>
          <p:nvPr/>
        </p:nvSpPr>
        <p:spPr>
          <a:xfrm>
            <a:off x="8357616" y="4206240"/>
            <a:ext cx="3008376" cy="1554480"/>
          </a:xfrm>
          <a:prstGeom prst="rect">
            <a:avLst/>
          </a:prstGeom>
          <a:noFill/>
          <a:ln/>
        </p:spPr>
        <p:txBody>
          <a:bodyPr wrap="square" rtlCol="0" anchor="ctr"/>
          <a:lstStyle/>
          <a:p>
            <a:pPr marL="0" indent="0">
              <a:lnSpc>
                <a:spcPct val="115000"/>
              </a:lnSpc>
              <a:buNone/>
            </a:pPr>
            <a:r>
              <a:rPr lang="en-US" sz="1150">
                <a:solidFill>
                  <a:srgbClr val="C7D0E3"/>
                </a:solidFill>
                <a:latin typeface="Calibri" pitchFamily="34" charset="0"/>
                <a:ea typeface="Calibri" pitchFamily="34" charset="-122"/>
                <a:cs typeface="Calibri" pitchFamily="34" charset="-120"/>
              </a:rPr>
              <a:t>90% de quienes migran a otras entidades lo hace solo por tasa. En bancos grandes la tasa compite con el vínculo: sueldo (25%) y promociones (23%).</a:t>
            </a:r>
            <a:endParaRPr lang="en-US" sz="1150"/>
          </a:p>
        </p:txBody>
      </p:sp>
      <p:sp>
        <p:nvSpPr>
          <p:cNvPr id="20" name="Text 18"/>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8892C4"/>
                </a:solidFill>
                <a:latin typeface="Calibri" pitchFamily="34" charset="0"/>
                <a:ea typeface="Calibri" pitchFamily="34" charset="-122"/>
                <a:cs typeface="Calibri" pitchFamily="34" charset="-120"/>
              </a:rPr>
              <a:t>BANCO PICHINCHA  |  Data Analytics Hub Pasivos</a:t>
            </a:r>
            <a:endParaRPr lang="en-US" sz="900"/>
          </a:p>
        </p:txBody>
      </p:sp>
      <p:sp>
        <p:nvSpPr>
          <p:cNvPr id="21" name="Text 19"/>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CONFIDENCIAL — USO INTERNO</a:t>
            </a:r>
            <a:endParaRPr lang="en-US" sz="900"/>
          </a:p>
        </p:txBody>
      </p:sp>
      <p:sp>
        <p:nvSpPr>
          <p:cNvPr id="22" name="Text 20"/>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200" b="1" kern="0" spc="150">
                <a:solidFill>
                  <a:srgbClr val="8A6D2E"/>
                </a:solidFill>
                <a:latin typeface="Calibri" pitchFamily="34" charset="0"/>
                <a:ea typeface="Calibri" pitchFamily="34" charset="-122"/>
                <a:cs typeface="Calibri" pitchFamily="34" charset="-120"/>
              </a:rPr>
              <a:t>PREGUNTA 1 · COMPOSICIÓN DEL MONTO</a:t>
            </a:r>
            <a:endParaRPr lang="en-US" sz="1200"/>
          </a:p>
        </p:txBody>
      </p:sp>
      <p:sp>
        <p:nvSpPr>
          <p:cNvPr id="3" name="Text 1"/>
          <p:cNvSpPr/>
          <p:nvPr/>
        </p:nvSpPr>
        <p:spPr>
          <a:xfrm>
            <a:off x="548640" y="658368"/>
            <a:ext cx="11064240" cy="822960"/>
          </a:xfrm>
          <a:prstGeom prst="rect">
            <a:avLst/>
          </a:prstGeom>
          <a:noFill/>
          <a:ln/>
        </p:spPr>
        <p:txBody>
          <a:bodyPr wrap="square" lIns="91440" tIns="45720" rIns="91440" bIns="45720" rtlCol="0" anchor="ctr"/>
          <a:lstStyle/>
          <a:p>
            <a:pPr marL="0" indent="0" algn="l">
              <a:buNone/>
            </a:pPr>
            <a:r>
              <a:rPr lang="en-US" sz="2600" b="1">
                <a:solidFill>
                  <a:srgbClr val="1E2761"/>
                </a:solidFill>
                <a:latin typeface="Calibri"/>
                <a:ea typeface="Calibri"/>
                <a:cs typeface="Calibri"/>
              </a:rPr>
              <a:t>El 47% del </a:t>
            </a:r>
            <a:r>
              <a:rPr lang="en-US" sz="2600" b="1" err="1">
                <a:solidFill>
                  <a:srgbClr val="1E2761"/>
                </a:solidFill>
                <a:latin typeface="Calibri"/>
                <a:ea typeface="Calibri"/>
                <a:cs typeface="Calibri"/>
              </a:rPr>
              <a:t>monto</a:t>
            </a:r>
            <a:r>
              <a:rPr lang="en-US" sz="2600" b="1">
                <a:solidFill>
                  <a:srgbClr val="1E2761"/>
                </a:solidFill>
                <a:latin typeface="Calibri"/>
                <a:ea typeface="Calibri"/>
                <a:cs typeface="Calibri"/>
              </a:rPr>
              <a:t> sale </a:t>
            </a:r>
            <a:r>
              <a:rPr lang="en-US" sz="2600" b="1" err="1">
                <a:solidFill>
                  <a:srgbClr val="1E2761"/>
                </a:solidFill>
                <a:latin typeface="Calibri"/>
                <a:ea typeface="Calibri"/>
                <a:cs typeface="Calibri"/>
              </a:rPr>
              <a:t>en</a:t>
            </a:r>
            <a:r>
              <a:rPr lang="en-US" sz="2600" b="1">
                <a:solidFill>
                  <a:srgbClr val="1E2761"/>
                </a:solidFill>
                <a:latin typeface="Calibri"/>
                <a:ea typeface="Calibri"/>
                <a:cs typeface="Calibri"/>
              </a:rPr>
              <a:t> </a:t>
            </a:r>
            <a:r>
              <a:rPr lang="en-US" sz="2600" b="1" err="1">
                <a:solidFill>
                  <a:srgbClr val="1E2761"/>
                </a:solidFill>
                <a:latin typeface="Calibri"/>
                <a:ea typeface="Calibri"/>
                <a:cs typeface="Calibri"/>
              </a:rPr>
              <a:t>apenas</a:t>
            </a:r>
            <a:r>
              <a:rPr lang="en-US" sz="2600" b="1">
                <a:solidFill>
                  <a:srgbClr val="1E2761"/>
                </a:solidFill>
                <a:latin typeface="Calibri"/>
                <a:ea typeface="Calibri"/>
                <a:cs typeface="Calibri"/>
              </a:rPr>
              <a:t> 2.3% de las </a:t>
            </a:r>
            <a:r>
              <a:rPr lang="en-US" sz="2600" b="1" err="1">
                <a:solidFill>
                  <a:srgbClr val="1E2761"/>
                </a:solidFill>
                <a:latin typeface="Calibri"/>
                <a:ea typeface="Calibri"/>
                <a:cs typeface="Calibri"/>
              </a:rPr>
              <a:t>operaciones</a:t>
            </a:r>
            <a:endParaRPr lang="en-US" sz="2600" err="1">
              <a:latin typeface="Calibri"/>
              <a:ea typeface="Calibri"/>
              <a:cs typeface="Calibri"/>
            </a:endParaRPr>
          </a:p>
        </p:txBody>
      </p:sp>
      <p:sp>
        <p:nvSpPr>
          <p:cNvPr id="4" name="Text 2"/>
          <p:cNvSpPr/>
          <p:nvPr/>
        </p:nvSpPr>
        <p:spPr>
          <a:xfrm>
            <a:off x="548640" y="1298448"/>
            <a:ext cx="11064240" cy="457200"/>
          </a:xfrm>
          <a:prstGeom prst="rect">
            <a:avLst/>
          </a:prstGeom>
          <a:noFill/>
          <a:ln/>
        </p:spPr>
        <p:txBody>
          <a:bodyPr wrap="square" rtlCol="0" anchor="ctr"/>
          <a:lstStyle/>
          <a:p>
            <a:pPr marL="0" indent="0" algn="l">
              <a:buNone/>
            </a:pPr>
            <a:r>
              <a:rPr lang="en-US" sz="1400">
                <a:solidFill>
                  <a:srgbClr val="6B7280"/>
                </a:solidFill>
                <a:latin typeface="Calibri" pitchFamily="34" charset="0"/>
                <a:ea typeface="Calibri" pitchFamily="34" charset="-122"/>
                <a:cs typeface="Calibri" pitchFamily="34" charset="-120"/>
              </a:rPr>
              <a:t>Tramos de valor de las 284,770 transferencias de junio (S/202.4M) — a mayor ticket, mayor probabilidad de fuga real.</a:t>
            </a:r>
            <a:endParaRPr lang="en-US" sz="1400"/>
          </a:p>
        </p:txBody>
      </p:sp>
      <p:graphicFrame>
        <p:nvGraphicFramePr>
          <p:cNvPr id="5" name="Chart 0"/>
          <p:cNvGraphicFramePr/>
          <p:nvPr/>
        </p:nvGraphicFramePr>
        <p:xfrm>
          <a:off x="548640" y="1965960"/>
          <a:ext cx="68580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35240" y="1965960"/>
            <a:ext cx="4023360" cy="1280160"/>
          </a:xfrm>
          <a:prstGeom prst="roundRect">
            <a:avLst>
              <a:gd name="adj" fmla="val 5000"/>
            </a:avLst>
          </a:prstGeom>
          <a:solidFill>
            <a:srgbClr val="F2F4F8"/>
          </a:solidFill>
          <a:ln w="12700">
            <a:solidFill>
              <a:srgbClr val="E3E6EE"/>
            </a:solidFill>
            <a:prstDash val="solid"/>
          </a:ln>
        </p:spPr>
        <p:txBody>
          <a:bodyPr/>
          <a:lstStyle/>
          <a:p>
            <a:endParaRPr lang="es-PE"/>
          </a:p>
        </p:txBody>
      </p:sp>
      <p:sp>
        <p:nvSpPr>
          <p:cNvPr id="7" name="Shape 4"/>
          <p:cNvSpPr/>
          <p:nvPr/>
        </p:nvSpPr>
        <p:spPr>
          <a:xfrm>
            <a:off x="7635240" y="1965960"/>
            <a:ext cx="73152" cy="1280160"/>
          </a:xfrm>
          <a:prstGeom prst="rect">
            <a:avLst/>
          </a:prstGeom>
          <a:solidFill>
            <a:srgbClr val="3D5A99"/>
          </a:solidFill>
          <a:ln/>
        </p:spPr>
        <p:txBody>
          <a:bodyPr/>
          <a:lstStyle/>
          <a:p>
            <a:endParaRPr lang="es-PE"/>
          </a:p>
        </p:txBody>
      </p:sp>
      <p:sp>
        <p:nvSpPr>
          <p:cNvPr id="8" name="Text 5"/>
          <p:cNvSpPr/>
          <p:nvPr/>
        </p:nvSpPr>
        <p:spPr>
          <a:xfrm>
            <a:off x="7845552" y="2057400"/>
            <a:ext cx="3703320" cy="256032"/>
          </a:xfrm>
          <a:prstGeom prst="rect">
            <a:avLst/>
          </a:prstGeom>
          <a:noFill/>
          <a:ln/>
        </p:spPr>
        <p:txBody>
          <a:bodyPr wrap="square" rtlCol="0" anchor="ctr"/>
          <a:lstStyle/>
          <a:p>
            <a:pPr marL="0" indent="0">
              <a:buNone/>
            </a:pPr>
            <a:r>
              <a:rPr lang="en-US" sz="1000" b="1" kern="0" spc="50">
                <a:solidFill>
                  <a:srgbClr val="3D5A99"/>
                </a:solidFill>
                <a:latin typeface="Calibri" pitchFamily="34" charset="0"/>
                <a:ea typeface="Calibri" pitchFamily="34" charset="-122"/>
                <a:cs typeface="Calibri" pitchFamily="34" charset="-120"/>
              </a:rPr>
              <a:t>USO COTIDIANO</a:t>
            </a:r>
            <a:endParaRPr lang="en-US" sz="1000"/>
          </a:p>
        </p:txBody>
      </p:sp>
      <p:sp>
        <p:nvSpPr>
          <p:cNvPr id="9" name="Text 6"/>
          <p:cNvSpPr/>
          <p:nvPr/>
        </p:nvSpPr>
        <p:spPr>
          <a:xfrm>
            <a:off x="7845552" y="2313432"/>
            <a:ext cx="3703320" cy="22860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&lt; S/500 y "Solo S/500"</a:t>
            </a:r>
            <a:endParaRPr lang="en-US" sz="1000"/>
          </a:p>
        </p:txBody>
      </p:sp>
      <p:sp>
        <p:nvSpPr>
          <p:cNvPr id="10" name="Text 7"/>
          <p:cNvSpPr/>
          <p:nvPr/>
        </p:nvSpPr>
        <p:spPr>
          <a:xfrm>
            <a:off x="7845552" y="2532888"/>
            <a:ext cx="3703320" cy="274320"/>
          </a:xfrm>
          <a:prstGeom prst="rect">
            <a:avLst/>
          </a:prstGeom>
          <a:noFill/>
          <a:ln/>
        </p:spPr>
        <p:txBody>
          <a:bodyPr wrap="square" lIns="91440" tIns="45720" rIns="91440" bIns="45720" rtlCol="0" anchor="ctr"/>
          <a:lstStyle/>
          <a:p>
            <a:pPr marL="0" indent="0">
              <a:buNone/>
            </a:pPr>
            <a:r>
              <a:rPr lang="en-US" sz="1500" b="1">
                <a:solidFill>
                  <a:srgbClr val="1E2761"/>
                </a:solidFill>
                <a:latin typeface="Calibri"/>
                <a:ea typeface="Calibri"/>
                <a:cs typeface="Calibri"/>
              </a:rPr>
              <a:t>S/ 56.2M · 28%</a:t>
            </a:r>
            <a:endParaRPr lang="en-US" sz="1500">
              <a:latin typeface="Calibri"/>
              <a:ea typeface="Calibri"/>
              <a:cs typeface="Calibri"/>
            </a:endParaRPr>
          </a:p>
        </p:txBody>
      </p:sp>
      <p:sp>
        <p:nvSpPr>
          <p:cNvPr id="11" name="Text 8"/>
          <p:cNvSpPr/>
          <p:nvPr/>
        </p:nvSpPr>
        <p:spPr>
          <a:xfrm>
            <a:off x="7845552" y="2862072"/>
            <a:ext cx="3703320" cy="347472"/>
          </a:xfrm>
          <a:prstGeom prst="rect">
            <a:avLst/>
          </a:prstGeom>
          <a:noFill/>
          <a:ln/>
        </p:spPr>
        <p:txBody>
          <a:bodyPr wrap="square" rtlCol="0" anchor="ctr"/>
          <a:lstStyle/>
          <a:p>
            <a:pPr marL="0" indent="0">
              <a:buNone/>
            </a:pPr>
            <a:r>
              <a:rPr lang="en-US" sz="880">
                <a:solidFill>
                  <a:srgbClr val="333333"/>
                </a:solidFill>
                <a:latin typeface="Calibri" pitchFamily="34" charset="0"/>
                <a:ea typeface="Calibri" pitchFamily="34" charset="-122"/>
                <a:cs typeface="Calibri" pitchFamily="34" charset="-120"/>
              </a:rPr>
              <a:t>Pagos y consumo del día a día; bajo riesgo de fuga real.</a:t>
            </a:r>
            <a:endParaRPr lang="en-US" sz="880"/>
          </a:p>
        </p:txBody>
      </p:sp>
      <p:sp>
        <p:nvSpPr>
          <p:cNvPr id="12" name="Shape 9"/>
          <p:cNvSpPr/>
          <p:nvPr/>
        </p:nvSpPr>
        <p:spPr>
          <a:xfrm>
            <a:off x="7635240" y="3364992"/>
            <a:ext cx="4023360" cy="1280160"/>
          </a:xfrm>
          <a:prstGeom prst="roundRect">
            <a:avLst>
              <a:gd name="adj" fmla="val 5000"/>
            </a:avLst>
          </a:prstGeom>
          <a:solidFill>
            <a:srgbClr val="F2F4F8"/>
          </a:solidFill>
          <a:ln w="12700">
            <a:solidFill>
              <a:srgbClr val="E3E6EE"/>
            </a:solidFill>
            <a:prstDash val="solid"/>
          </a:ln>
        </p:spPr>
        <p:txBody>
          <a:bodyPr/>
          <a:lstStyle/>
          <a:p>
            <a:endParaRPr lang="es-PE"/>
          </a:p>
        </p:txBody>
      </p:sp>
      <p:sp>
        <p:nvSpPr>
          <p:cNvPr id="13" name="Shape 10"/>
          <p:cNvSpPr/>
          <p:nvPr/>
        </p:nvSpPr>
        <p:spPr>
          <a:xfrm>
            <a:off x="7635240" y="3364992"/>
            <a:ext cx="73152" cy="1280160"/>
          </a:xfrm>
          <a:prstGeom prst="rect">
            <a:avLst/>
          </a:prstGeom>
          <a:solidFill>
            <a:srgbClr val="8A6D2E"/>
          </a:solidFill>
          <a:ln/>
        </p:spPr>
        <p:txBody>
          <a:bodyPr/>
          <a:lstStyle/>
          <a:p>
            <a:endParaRPr lang="es-PE"/>
          </a:p>
        </p:txBody>
      </p:sp>
      <p:sp>
        <p:nvSpPr>
          <p:cNvPr id="14" name="Text 11"/>
          <p:cNvSpPr/>
          <p:nvPr/>
        </p:nvSpPr>
        <p:spPr>
          <a:xfrm>
            <a:off x="7845552" y="3456432"/>
            <a:ext cx="3703320" cy="256032"/>
          </a:xfrm>
          <a:prstGeom prst="rect">
            <a:avLst/>
          </a:prstGeom>
          <a:noFill/>
          <a:ln/>
        </p:spPr>
        <p:txBody>
          <a:bodyPr wrap="square" rtlCol="0" anchor="ctr"/>
          <a:lstStyle/>
          <a:p>
            <a:pPr marL="0" indent="0">
              <a:buNone/>
            </a:pPr>
            <a:r>
              <a:rPr lang="en-US" sz="1000" b="1" kern="0" spc="50">
                <a:solidFill>
                  <a:srgbClr val="8A6D2E"/>
                </a:solidFill>
                <a:latin typeface="Calibri" pitchFamily="34" charset="0"/>
                <a:ea typeface="Calibri" pitchFamily="34" charset="-122"/>
                <a:cs typeface="Calibri" pitchFamily="34" charset="-120"/>
              </a:rPr>
              <a:t>ZONA GRIS</a:t>
            </a:r>
            <a:endParaRPr lang="en-US" sz="1000"/>
          </a:p>
        </p:txBody>
      </p:sp>
      <p:sp>
        <p:nvSpPr>
          <p:cNvPr id="15" name="Text 12"/>
          <p:cNvSpPr/>
          <p:nvPr/>
        </p:nvSpPr>
        <p:spPr>
          <a:xfrm>
            <a:off x="7845552" y="3712464"/>
            <a:ext cx="3703320" cy="22860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Moderado S/501–5,000</a:t>
            </a:r>
            <a:endParaRPr lang="en-US" sz="1000"/>
          </a:p>
        </p:txBody>
      </p:sp>
      <p:sp>
        <p:nvSpPr>
          <p:cNvPr id="16" name="Text 13"/>
          <p:cNvSpPr/>
          <p:nvPr/>
        </p:nvSpPr>
        <p:spPr>
          <a:xfrm>
            <a:off x="7845552" y="3931920"/>
            <a:ext cx="3703320" cy="274320"/>
          </a:xfrm>
          <a:prstGeom prst="rect">
            <a:avLst/>
          </a:prstGeom>
          <a:noFill/>
          <a:ln/>
        </p:spPr>
        <p:txBody>
          <a:bodyPr wrap="square" lIns="91440" tIns="45720" rIns="91440" bIns="45720" rtlCol="0" anchor="ctr"/>
          <a:lstStyle/>
          <a:p>
            <a:pPr marL="0" indent="0">
              <a:buNone/>
            </a:pPr>
            <a:r>
              <a:rPr lang="en-US" sz="1500" b="1">
                <a:solidFill>
                  <a:srgbClr val="1E2761"/>
                </a:solidFill>
                <a:latin typeface="Calibri"/>
                <a:ea typeface="Calibri"/>
                <a:cs typeface="Calibri"/>
              </a:rPr>
              <a:t>S/ 50.0M · 25%</a:t>
            </a:r>
            <a:endParaRPr lang="en-US" sz="1500"/>
          </a:p>
        </p:txBody>
      </p:sp>
      <p:sp>
        <p:nvSpPr>
          <p:cNvPr id="17" name="Text 14"/>
          <p:cNvSpPr/>
          <p:nvPr/>
        </p:nvSpPr>
        <p:spPr>
          <a:xfrm>
            <a:off x="7845552" y="4261104"/>
            <a:ext cx="3703320" cy="347472"/>
          </a:xfrm>
          <a:prstGeom prst="rect">
            <a:avLst/>
          </a:prstGeom>
          <a:noFill/>
          <a:ln/>
        </p:spPr>
        <p:txBody>
          <a:bodyPr wrap="square" rtlCol="0" anchor="ctr"/>
          <a:lstStyle/>
          <a:p>
            <a:pPr marL="0" indent="0">
              <a:buNone/>
            </a:pPr>
            <a:r>
              <a:rPr lang="en-US" sz="880">
                <a:solidFill>
                  <a:srgbClr val="333333"/>
                </a:solidFill>
                <a:latin typeface="Calibri" pitchFamily="34" charset="0"/>
                <a:ea typeface="Calibri" pitchFamily="34" charset="-122"/>
                <a:cs typeface="Calibri" pitchFamily="34" charset="-120"/>
              </a:rPr>
              <a:t>Traslado parcial de liquidez o administración del ahorro entre entidades.</a:t>
            </a:r>
            <a:endParaRPr lang="en-US" sz="880"/>
          </a:p>
        </p:txBody>
      </p:sp>
      <p:sp>
        <p:nvSpPr>
          <p:cNvPr id="18" name="Shape 15"/>
          <p:cNvSpPr/>
          <p:nvPr/>
        </p:nvSpPr>
        <p:spPr>
          <a:xfrm>
            <a:off x="7635240" y="4764024"/>
            <a:ext cx="4023360" cy="1280160"/>
          </a:xfrm>
          <a:prstGeom prst="roundRect">
            <a:avLst>
              <a:gd name="adj" fmla="val 5000"/>
            </a:avLst>
          </a:prstGeom>
          <a:solidFill>
            <a:srgbClr val="F2F4F8"/>
          </a:solidFill>
          <a:ln w="12700">
            <a:solidFill>
              <a:srgbClr val="E3E6EE"/>
            </a:solidFill>
            <a:prstDash val="solid"/>
          </a:ln>
        </p:spPr>
        <p:txBody>
          <a:bodyPr/>
          <a:lstStyle/>
          <a:p>
            <a:endParaRPr lang="es-PE"/>
          </a:p>
        </p:txBody>
      </p:sp>
      <p:sp>
        <p:nvSpPr>
          <p:cNvPr id="19" name="Shape 16"/>
          <p:cNvSpPr/>
          <p:nvPr/>
        </p:nvSpPr>
        <p:spPr>
          <a:xfrm>
            <a:off x="7635240" y="4764024"/>
            <a:ext cx="73152" cy="1280160"/>
          </a:xfrm>
          <a:prstGeom prst="rect">
            <a:avLst/>
          </a:prstGeom>
          <a:solidFill>
            <a:srgbClr val="D9534F"/>
          </a:solidFill>
          <a:ln/>
        </p:spPr>
        <p:txBody>
          <a:bodyPr/>
          <a:lstStyle/>
          <a:p>
            <a:endParaRPr lang="es-PE"/>
          </a:p>
        </p:txBody>
      </p:sp>
      <p:sp>
        <p:nvSpPr>
          <p:cNvPr id="20" name="Text 17"/>
          <p:cNvSpPr/>
          <p:nvPr/>
        </p:nvSpPr>
        <p:spPr>
          <a:xfrm>
            <a:off x="7845552" y="4855464"/>
            <a:ext cx="3703320" cy="256032"/>
          </a:xfrm>
          <a:prstGeom prst="rect">
            <a:avLst/>
          </a:prstGeom>
          <a:noFill/>
          <a:ln/>
        </p:spPr>
        <p:txBody>
          <a:bodyPr wrap="square" rtlCol="0" anchor="ctr"/>
          <a:lstStyle/>
          <a:p>
            <a:pPr marL="0" indent="0">
              <a:buNone/>
            </a:pPr>
            <a:r>
              <a:rPr lang="en-US" sz="1000" b="1" kern="0" spc="50">
                <a:solidFill>
                  <a:srgbClr val="D9534F"/>
                </a:solidFill>
                <a:latin typeface="Calibri" pitchFamily="34" charset="0"/>
                <a:ea typeface="Calibri" pitchFamily="34" charset="-122"/>
                <a:cs typeface="Calibri" pitchFamily="34" charset="-120"/>
              </a:rPr>
              <a:t>FUGA REAL DE ALTO VALOR</a:t>
            </a:r>
            <a:endParaRPr lang="en-US" sz="1000"/>
          </a:p>
        </p:txBody>
      </p:sp>
      <p:sp>
        <p:nvSpPr>
          <p:cNvPr id="21" name="Text 18"/>
          <p:cNvSpPr/>
          <p:nvPr/>
        </p:nvSpPr>
        <p:spPr>
          <a:xfrm>
            <a:off x="7845552" y="5111496"/>
            <a:ext cx="3703320" cy="22860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Alto + Crítico &gt; S/5,000</a:t>
            </a:r>
            <a:endParaRPr lang="en-US" sz="1000"/>
          </a:p>
        </p:txBody>
      </p:sp>
      <p:sp>
        <p:nvSpPr>
          <p:cNvPr id="22" name="Text 19"/>
          <p:cNvSpPr/>
          <p:nvPr/>
        </p:nvSpPr>
        <p:spPr>
          <a:xfrm>
            <a:off x="7845552" y="5330952"/>
            <a:ext cx="3703320" cy="274320"/>
          </a:xfrm>
          <a:prstGeom prst="rect">
            <a:avLst/>
          </a:prstGeom>
          <a:noFill/>
          <a:ln/>
        </p:spPr>
        <p:txBody>
          <a:bodyPr wrap="square" lIns="91440" tIns="45720" rIns="91440" bIns="45720" rtlCol="0" anchor="ctr"/>
          <a:lstStyle/>
          <a:p>
            <a:pPr marL="0" indent="0">
              <a:buNone/>
            </a:pPr>
            <a:r>
              <a:rPr lang="en-US" sz="1500" b="1">
                <a:solidFill>
                  <a:srgbClr val="1E2761"/>
                </a:solidFill>
                <a:latin typeface="Calibri"/>
                <a:ea typeface="Calibri"/>
                <a:cs typeface="Calibri"/>
              </a:rPr>
              <a:t>S/ 96.1M · 47%</a:t>
            </a:r>
            <a:endParaRPr lang="en-US" sz="1500"/>
          </a:p>
        </p:txBody>
      </p:sp>
      <p:sp>
        <p:nvSpPr>
          <p:cNvPr id="23" name="Text 20"/>
          <p:cNvSpPr/>
          <p:nvPr/>
        </p:nvSpPr>
        <p:spPr>
          <a:xfrm>
            <a:off x="7845552" y="5660136"/>
            <a:ext cx="3703320" cy="347472"/>
          </a:xfrm>
          <a:prstGeom prst="rect">
            <a:avLst/>
          </a:prstGeom>
          <a:noFill/>
          <a:ln/>
        </p:spPr>
        <p:txBody>
          <a:bodyPr wrap="square" rtlCol="0" anchor="ctr"/>
          <a:lstStyle/>
          <a:p>
            <a:pPr marL="0" indent="0">
              <a:buNone/>
            </a:pPr>
            <a:r>
              <a:rPr lang="en-US" sz="880">
                <a:solidFill>
                  <a:srgbClr val="333333"/>
                </a:solidFill>
                <a:latin typeface="Calibri" pitchFamily="34" charset="0"/>
                <a:ea typeface="Calibri" pitchFamily="34" charset="-122"/>
                <a:cs typeface="Calibri" pitchFamily="34" charset="-120"/>
              </a:rPr>
              <a:t>Segmento que la encuesta cualitativa confirma: aquí se concentra la migración.</a:t>
            </a:r>
            <a:endParaRPr lang="en-US" sz="880"/>
          </a:p>
        </p:txBody>
      </p:sp>
      <p:sp>
        <p:nvSpPr>
          <p:cNvPr id="24" name="Text 21"/>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25" name="Text 22"/>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26" name="Text 23"/>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3</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200" b="1" kern="0" spc="150">
                <a:solidFill>
                  <a:srgbClr val="8A6D2E"/>
                </a:solidFill>
                <a:latin typeface="Calibri" pitchFamily="34" charset="0"/>
                <a:ea typeface="Calibri" pitchFamily="34" charset="-122"/>
                <a:cs typeface="Calibri" pitchFamily="34" charset="-120"/>
              </a:rPr>
              <a:t>PREGUNTA 2 · DESTINO DE LA FUGA</a:t>
            </a:r>
            <a:endParaRPr lang="en-US" sz="1200"/>
          </a:p>
        </p:txBody>
      </p:sp>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300" b="1">
                <a:solidFill>
                  <a:srgbClr val="1E2761"/>
                </a:solidFill>
                <a:latin typeface="Calibri" pitchFamily="34" charset="0"/>
                <a:ea typeface="Calibri" pitchFamily="34" charset="-122"/>
                <a:cs typeface="Calibri" pitchFamily="34" charset="-120"/>
              </a:rPr>
              <a:t>BCP domina el Big Four; en la encuesta, las cajas y financieras se llevan el ticket más alto</a:t>
            </a:r>
            <a:endParaRPr lang="en-US" sz="2300"/>
          </a:p>
        </p:txBody>
      </p:sp>
      <p:sp>
        <p:nvSpPr>
          <p:cNvPr id="4" name="Text 2"/>
          <p:cNvSpPr/>
          <p:nvPr/>
        </p:nvSpPr>
        <p:spPr>
          <a:xfrm>
            <a:off x="548640" y="1298448"/>
            <a:ext cx="11064240" cy="457200"/>
          </a:xfrm>
          <a:prstGeom prst="rect">
            <a:avLst/>
          </a:prstGeom>
          <a:noFill/>
          <a:ln/>
        </p:spPr>
        <p:txBody>
          <a:bodyPr wrap="square" lIns="91440" tIns="45720" rIns="91440" bIns="45720" rtlCol="0" anchor="ctr"/>
          <a:lstStyle/>
          <a:p>
            <a:r>
              <a:rPr lang="en-US" sz="1400">
                <a:solidFill>
                  <a:srgbClr val="6B7280"/>
                </a:solidFill>
                <a:ea typeface="Calibri"/>
                <a:cs typeface="Calibri"/>
              </a:rPr>
              <a:t>En </a:t>
            </a:r>
            <a:r>
              <a:rPr lang="en-US" sz="1400" err="1">
                <a:solidFill>
                  <a:srgbClr val="6B7280"/>
                </a:solidFill>
                <a:ea typeface="Calibri"/>
                <a:cs typeface="Calibri"/>
              </a:rPr>
              <a:t>los</a:t>
            </a:r>
            <a:r>
              <a:rPr lang="en-US" sz="1400">
                <a:solidFill>
                  <a:srgbClr val="6B7280"/>
                </a:solidFill>
                <a:ea typeface="Calibri"/>
                <a:cs typeface="Calibri"/>
              </a:rPr>
              <a:t> big four se </a:t>
            </a:r>
            <a:r>
              <a:rPr lang="en-US" sz="1400" err="1">
                <a:solidFill>
                  <a:srgbClr val="6B7280"/>
                </a:solidFill>
                <a:ea typeface="Calibri"/>
                <a:cs typeface="Calibri"/>
              </a:rPr>
              <a:t>concentra</a:t>
            </a:r>
            <a:r>
              <a:rPr lang="en-US" sz="1400">
                <a:solidFill>
                  <a:srgbClr val="6B7280"/>
                </a:solidFill>
                <a:ea typeface="Calibri"/>
                <a:cs typeface="Calibri"/>
              </a:rPr>
              <a:t> </a:t>
            </a:r>
            <a:r>
              <a:rPr lang="en-US" sz="1400" err="1">
                <a:solidFill>
                  <a:srgbClr val="6B7280"/>
                </a:solidFill>
                <a:ea typeface="Calibri"/>
                <a:cs typeface="Calibri"/>
              </a:rPr>
              <a:t>más</a:t>
            </a:r>
            <a:r>
              <a:rPr lang="en-US" sz="1400">
                <a:solidFill>
                  <a:srgbClr val="6B7280"/>
                </a:solidFill>
                <a:ea typeface="Calibri"/>
                <a:cs typeface="Calibri"/>
              </a:rPr>
              <a:t> volumen de dinero, sin embargo, el ticket promedio de las </a:t>
            </a:r>
            <a:r>
              <a:rPr lang="en-US" sz="1400" err="1">
                <a:solidFill>
                  <a:srgbClr val="6B7280"/>
                </a:solidFill>
                <a:ea typeface="Calibri"/>
                <a:cs typeface="Calibri"/>
              </a:rPr>
              <a:t>otras</a:t>
            </a:r>
            <a:r>
              <a:rPr lang="en-US" sz="1400">
                <a:solidFill>
                  <a:srgbClr val="6B7280"/>
                </a:solidFill>
                <a:ea typeface="Calibri"/>
                <a:cs typeface="Calibri"/>
              </a:rPr>
              <a:t> </a:t>
            </a:r>
            <a:r>
              <a:rPr lang="en-US" sz="1400" err="1">
                <a:solidFill>
                  <a:srgbClr val="6B7280"/>
                </a:solidFill>
                <a:ea typeface="Calibri"/>
                <a:cs typeface="Calibri"/>
              </a:rPr>
              <a:t>entidades</a:t>
            </a:r>
            <a:r>
              <a:rPr lang="en-US" sz="1400">
                <a:solidFill>
                  <a:srgbClr val="6B7280"/>
                </a:solidFill>
                <a:ea typeface="Calibri"/>
                <a:cs typeface="Calibri"/>
              </a:rPr>
              <a:t> es mayor.</a:t>
            </a:r>
          </a:p>
        </p:txBody>
      </p:sp>
      <p:sp>
        <p:nvSpPr>
          <p:cNvPr id="5" name="Shape 3"/>
          <p:cNvSpPr/>
          <p:nvPr/>
        </p:nvSpPr>
        <p:spPr>
          <a:xfrm>
            <a:off x="548640" y="1874520"/>
            <a:ext cx="5486400" cy="4160520"/>
          </a:xfrm>
          <a:prstGeom prst="roundRect">
            <a:avLst>
              <a:gd name="adj" fmla="val 1758"/>
            </a:avLst>
          </a:prstGeom>
          <a:solidFill>
            <a:srgbClr val="F2F4F8"/>
          </a:solidFill>
          <a:ln w="12700">
            <a:solidFill>
              <a:srgbClr val="E3E6EE"/>
            </a:solidFill>
            <a:prstDash val="solid"/>
          </a:ln>
        </p:spPr>
        <p:txBody>
          <a:bodyPr/>
          <a:lstStyle/>
          <a:p>
            <a:endParaRPr lang="es-PE"/>
          </a:p>
        </p:txBody>
      </p:sp>
      <p:sp>
        <p:nvSpPr>
          <p:cNvPr id="6" name="Text 4"/>
          <p:cNvSpPr/>
          <p:nvPr/>
        </p:nvSpPr>
        <p:spPr>
          <a:xfrm>
            <a:off x="822960" y="2029968"/>
            <a:ext cx="4937760" cy="274320"/>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LO QUE DICEN LAS TRANSACCIONES — App, junio</a:t>
            </a:r>
            <a:endParaRPr lang="en-US" sz="1100"/>
          </a:p>
        </p:txBody>
      </p:sp>
      <p:sp>
        <p:nvSpPr>
          <p:cNvPr id="7" name="Text 5"/>
          <p:cNvSpPr/>
          <p:nvPr/>
        </p:nvSpPr>
        <p:spPr>
          <a:xfrm>
            <a:off x="822960" y="2286000"/>
            <a:ext cx="4937760" cy="256032"/>
          </a:xfrm>
          <a:prstGeom prst="rect">
            <a:avLst/>
          </a:prstGeom>
          <a:noFill/>
          <a:ln/>
        </p:spPr>
        <p:txBody>
          <a:bodyPr wrap="square" rtlCol="0" anchor="ctr"/>
          <a:lstStyle/>
          <a:p>
            <a:pPr marL="0" indent="0">
              <a:buNone/>
            </a:pPr>
            <a:r>
              <a:rPr lang="en-US" sz="950">
                <a:solidFill>
                  <a:srgbClr val="6B7280"/>
                </a:solidFill>
                <a:latin typeface="Calibri" pitchFamily="34" charset="0"/>
                <a:ea typeface="Calibri" pitchFamily="34" charset="-122"/>
                <a:cs typeface="Calibri" pitchFamily="34" charset="-120"/>
              </a:rPr>
              <a:t>S/ 171.4M en Big Four  ·  S/ 17.1M en Resto de Mercado</a:t>
            </a:r>
            <a:endParaRPr lang="en-US" sz="950"/>
          </a:p>
        </p:txBody>
      </p:sp>
      <p:sp>
        <p:nvSpPr>
          <p:cNvPr id="8" name="Text 6"/>
          <p:cNvSpPr/>
          <p:nvPr/>
        </p:nvSpPr>
        <p:spPr>
          <a:xfrm>
            <a:off x="822960" y="2697480"/>
            <a:ext cx="2834640" cy="384048"/>
          </a:xfrm>
          <a:prstGeom prst="rect">
            <a:avLst/>
          </a:prstGeom>
          <a:noFill/>
          <a:ln/>
        </p:spPr>
        <p:txBody>
          <a:bodyPr wrap="square" rtlCol="0" anchor="ctr"/>
          <a:lstStyle/>
          <a:p>
            <a:pPr marL="0" indent="0">
              <a:buNone/>
            </a:pPr>
            <a:r>
              <a:rPr lang="en-US" sz="1150">
                <a:solidFill>
                  <a:srgbClr val="1E2761"/>
                </a:solidFill>
                <a:latin typeface="Calibri" pitchFamily="34" charset="0"/>
                <a:ea typeface="Calibri" pitchFamily="34" charset="-122"/>
                <a:cs typeface="Calibri" pitchFamily="34" charset="-120"/>
              </a:rPr>
              <a:t>Banco de Crédito (BCP)</a:t>
            </a:r>
            <a:endParaRPr lang="en-US" sz="1150"/>
          </a:p>
        </p:txBody>
      </p:sp>
      <p:sp>
        <p:nvSpPr>
          <p:cNvPr id="9" name="Text 7"/>
          <p:cNvSpPr/>
          <p:nvPr/>
        </p:nvSpPr>
        <p:spPr>
          <a:xfrm>
            <a:off x="3657600" y="2697480"/>
            <a:ext cx="1188720" cy="384048"/>
          </a:xfrm>
          <a:prstGeom prst="rect">
            <a:avLst/>
          </a:prstGeom>
          <a:noFill/>
          <a:ln/>
        </p:spPr>
        <p:txBody>
          <a:bodyPr wrap="square" rtlCol="0" anchor="ctr"/>
          <a:lstStyle/>
          <a:p>
            <a:pPr marL="0" indent="0" algn="r">
              <a:buNone/>
            </a:pPr>
            <a:r>
              <a:rPr lang="en-US" sz="1150">
                <a:solidFill>
                  <a:srgbClr val="333333"/>
                </a:solidFill>
                <a:latin typeface="Calibri" pitchFamily="34" charset="0"/>
                <a:ea typeface="Calibri" pitchFamily="34" charset="-122"/>
                <a:cs typeface="Calibri" pitchFamily="34" charset="-120"/>
              </a:rPr>
              <a:t>S/ 94.6M</a:t>
            </a:r>
            <a:endParaRPr lang="en-US" sz="1150"/>
          </a:p>
        </p:txBody>
      </p:sp>
      <p:sp>
        <p:nvSpPr>
          <p:cNvPr id="10" name="Text 8"/>
          <p:cNvSpPr/>
          <p:nvPr/>
        </p:nvSpPr>
        <p:spPr>
          <a:xfrm>
            <a:off x="4892040" y="2697480"/>
            <a:ext cx="914400" cy="384048"/>
          </a:xfrm>
          <a:prstGeom prst="rect">
            <a:avLst/>
          </a:prstGeom>
          <a:noFill/>
          <a:ln/>
        </p:spPr>
        <p:txBody>
          <a:bodyPr wrap="square" lIns="91440" tIns="45720" rIns="91440" bIns="45720" rtlCol="0" anchor="ctr"/>
          <a:lstStyle/>
          <a:p>
            <a:pPr marL="0" indent="0" algn="r">
              <a:buNone/>
            </a:pPr>
            <a:r>
              <a:rPr lang="en-US" sz="1150" b="1">
                <a:solidFill>
                  <a:srgbClr val="3D5A99"/>
                </a:solidFill>
                <a:latin typeface="Calibri"/>
                <a:ea typeface="Calibri"/>
                <a:cs typeface="Calibri"/>
              </a:rPr>
              <a:t>57%</a:t>
            </a:r>
            <a:endParaRPr lang="en-US" sz="1150"/>
          </a:p>
        </p:txBody>
      </p:sp>
      <p:sp>
        <p:nvSpPr>
          <p:cNvPr id="11" name="Shape 9"/>
          <p:cNvSpPr/>
          <p:nvPr/>
        </p:nvSpPr>
        <p:spPr>
          <a:xfrm>
            <a:off x="822960" y="3081528"/>
            <a:ext cx="4937760" cy="0"/>
          </a:xfrm>
          <a:prstGeom prst="line">
            <a:avLst/>
          </a:prstGeom>
          <a:noFill/>
          <a:ln w="9525">
            <a:solidFill>
              <a:srgbClr val="E3E6EE"/>
            </a:solidFill>
            <a:prstDash val="solid"/>
          </a:ln>
        </p:spPr>
        <p:txBody>
          <a:bodyPr/>
          <a:lstStyle/>
          <a:p>
            <a:endParaRPr lang="es-PE"/>
          </a:p>
        </p:txBody>
      </p:sp>
      <p:sp>
        <p:nvSpPr>
          <p:cNvPr id="12" name="Text 10"/>
          <p:cNvSpPr/>
          <p:nvPr/>
        </p:nvSpPr>
        <p:spPr>
          <a:xfrm>
            <a:off x="822960" y="3154680"/>
            <a:ext cx="2834640" cy="384048"/>
          </a:xfrm>
          <a:prstGeom prst="rect">
            <a:avLst/>
          </a:prstGeom>
          <a:noFill/>
          <a:ln/>
        </p:spPr>
        <p:txBody>
          <a:bodyPr wrap="square" rtlCol="0" anchor="ctr"/>
          <a:lstStyle/>
          <a:p>
            <a:pPr marL="0" indent="0">
              <a:buNone/>
            </a:pPr>
            <a:r>
              <a:rPr lang="en-US" sz="1150">
                <a:solidFill>
                  <a:srgbClr val="1E2761"/>
                </a:solidFill>
                <a:latin typeface="Calibri" pitchFamily="34" charset="0"/>
                <a:ea typeface="Calibri" pitchFamily="34" charset="-122"/>
                <a:cs typeface="Calibri" pitchFamily="34" charset="-120"/>
              </a:rPr>
              <a:t>Interbank</a:t>
            </a:r>
            <a:endParaRPr lang="en-US" sz="1150"/>
          </a:p>
        </p:txBody>
      </p:sp>
      <p:sp>
        <p:nvSpPr>
          <p:cNvPr id="13" name="Text 11"/>
          <p:cNvSpPr/>
          <p:nvPr/>
        </p:nvSpPr>
        <p:spPr>
          <a:xfrm>
            <a:off x="3657600" y="3154680"/>
            <a:ext cx="1188720" cy="384048"/>
          </a:xfrm>
          <a:prstGeom prst="rect">
            <a:avLst/>
          </a:prstGeom>
          <a:noFill/>
          <a:ln/>
        </p:spPr>
        <p:txBody>
          <a:bodyPr wrap="square" rtlCol="0" anchor="ctr"/>
          <a:lstStyle/>
          <a:p>
            <a:pPr marL="0" indent="0" algn="r">
              <a:buNone/>
            </a:pPr>
            <a:r>
              <a:rPr lang="en-US" sz="1150">
                <a:solidFill>
                  <a:srgbClr val="333333"/>
                </a:solidFill>
                <a:latin typeface="Calibri" pitchFamily="34" charset="0"/>
                <a:ea typeface="Calibri" pitchFamily="34" charset="-122"/>
                <a:cs typeface="Calibri" pitchFamily="34" charset="-120"/>
              </a:rPr>
              <a:t>S/ 34.8M</a:t>
            </a:r>
            <a:endParaRPr lang="en-US" sz="1150"/>
          </a:p>
        </p:txBody>
      </p:sp>
      <p:sp>
        <p:nvSpPr>
          <p:cNvPr id="14" name="Text 12"/>
          <p:cNvSpPr/>
          <p:nvPr/>
        </p:nvSpPr>
        <p:spPr>
          <a:xfrm>
            <a:off x="4892040" y="3154680"/>
            <a:ext cx="914400" cy="384048"/>
          </a:xfrm>
          <a:prstGeom prst="rect">
            <a:avLst/>
          </a:prstGeom>
          <a:noFill/>
          <a:ln/>
        </p:spPr>
        <p:txBody>
          <a:bodyPr wrap="square" lIns="91440" tIns="45720" rIns="91440" bIns="45720" rtlCol="0" anchor="ctr"/>
          <a:lstStyle/>
          <a:p>
            <a:pPr marL="0" indent="0" algn="r">
              <a:buNone/>
            </a:pPr>
            <a:r>
              <a:rPr lang="en-US" sz="1150" b="1">
                <a:solidFill>
                  <a:srgbClr val="3D5A99"/>
                </a:solidFill>
                <a:latin typeface="Calibri"/>
                <a:ea typeface="Calibri"/>
                <a:cs typeface="Calibri"/>
              </a:rPr>
              <a:t>20%</a:t>
            </a:r>
            <a:endParaRPr lang="en-US" sz="1150"/>
          </a:p>
        </p:txBody>
      </p:sp>
      <p:sp>
        <p:nvSpPr>
          <p:cNvPr id="15" name="Shape 13"/>
          <p:cNvSpPr/>
          <p:nvPr/>
        </p:nvSpPr>
        <p:spPr>
          <a:xfrm>
            <a:off x="822960" y="3538728"/>
            <a:ext cx="4937760" cy="0"/>
          </a:xfrm>
          <a:prstGeom prst="line">
            <a:avLst/>
          </a:prstGeom>
          <a:noFill/>
          <a:ln w="9525">
            <a:solidFill>
              <a:srgbClr val="E3E6EE"/>
            </a:solidFill>
            <a:prstDash val="solid"/>
          </a:ln>
        </p:spPr>
        <p:txBody>
          <a:bodyPr/>
          <a:lstStyle/>
          <a:p>
            <a:endParaRPr lang="es-PE"/>
          </a:p>
        </p:txBody>
      </p:sp>
      <p:sp>
        <p:nvSpPr>
          <p:cNvPr id="16" name="Text 14"/>
          <p:cNvSpPr/>
          <p:nvPr/>
        </p:nvSpPr>
        <p:spPr>
          <a:xfrm>
            <a:off x="822960" y="3611880"/>
            <a:ext cx="2834640" cy="384048"/>
          </a:xfrm>
          <a:prstGeom prst="rect">
            <a:avLst/>
          </a:prstGeom>
          <a:noFill/>
          <a:ln/>
        </p:spPr>
        <p:txBody>
          <a:bodyPr wrap="square" rtlCol="0" anchor="ctr"/>
          <a:lstStyle/>
          <a:p>
            <a:pPr marL="0" indent="0">
              <a:buNone/>
            </a:pPr>
            <a:r>
              <a:rPr lang="en-US" sz="1150">
                <a:solidFill>
                  <a:srgbClr val="1E2761"/>
                </a:solidFill>
                <a:latin typeface="Calibri" pitchFamily="34" charset="0"/>
                <a:ea typeface="Calibri" pitchFamily="34" charset="-122"/>
                <a:cs typeface="Calibri" pitchFamily="34" charset="-120"/>
              </a:rPr>
              <a:t>BBVA</a:t>
            </a:r>
            <a:endParaRPr lang="en-US" sz="1150"/>
          </a:p>
        </p:txBody>
      </p:sp>
      <p:sp>
        <p:nvSpPr>
          <p:cNvPr id="17" name="Text 15"/>
          <p:cNvSpPr/>
          <p:nvPr/>
        </p:nvSpPr>
        <p:spPr>
          <a:xfrm>
            <a:off x="3657600" y="3611880"/>
            <a:ext cx="1188720" cy="384048"/>
          </a:xfrm>
          <a:prstGeom prst="rect">
            <a:avLst/>
          </a:prstGeom>
          <a:noFill/>
          <a:ln/>
        </p:spPr>
        <p:txBody>
          <a:bodyPr wrap="square" rtlCol="0" anchor="ctr"/>
          <a:lstStyle/>
          <a:p>
            <a:pPr marL="0" indent="0" algn="r">
              <a:buNone/>
            </a:pPr>
            <a:r>
              <a:rPr lang="en-US" sz="1150">
                <a:solidFill>
                  <a:srgbClr val="333333"/>
                </a:solidFill>
                <a:latin typeface="Calibri" pitchFamily="34" charset="0"/>
                <a:ea typeface="Calibri" pitchFamily="34" charset="-122"/>
                <a:cs typeface="Calibri" pitchFamily="34" charset="-120"/>
              </a:rPr>
              <a:t>S/ 24.4M</a:t>
            </a:r>
            <a:endParaRPr lang="en-US" sz="1150"/>
          </a:p>
        </p:txBody>
      </p:sp>
      <p:sp>
        <p:nvSpPr>
          <p:cNvPr id="18" name="Text 16"/>
          <p:cNvSpPr/>
          <p:nvPr/>
        </p:nvSpPr>
        <p:spPr>
          <a:xfrm>
            <a:off x="4892040" y="3611880"/>
            <a:ext cx="914400" cy="384048"/>
          </a:xfrm>
          <a:prstGeom prst="rect">
            <a:avLst/>
          </a:prstGeom>
          <a:noFill/>
          <a:ln/>
        </p:spPr>
        <p:txBody>
          <a:bodyPr wrap="square" lIns="91440" tIns="45720" rIns="91440" bIns="45720" rtlCol="0" anchor="ctr"/>
          <a:lstStyle/>
          <a:p>
            <a:pPr marL="0" indent="0" algn="r">
              <a:buNone/>
            </a:pPr>
            <a:r>
              <a:rPr lang="en-US" sz="1150" b="1">
                <a:solidFill>
                  <a:srgbClr val="3D5A99"/>
                </a:solidFill>
                <a:latin typeface="Calibri"/>
                <a:ea typeface="Calibri"/>
                <a:cs typeface="Calibri"/>
              </a:rPr>
              <a:t>14%</a:t>
            </a:r>
            <a:endParaRPr lang="en-US" sz="1150"/>
          </a:p>
        </p:txBody>
      </p:sp>
      <p:sp>
        <p:nvSpPr>
          <p:cNvPr id="19" name="Shape 17"/>
          <p:cNvSpPr/>
          <p:nvPr/>
        </p:nvSpPr>
        <p:spPr>
          <a:xfrm>
            <a:off x="822960" y="3995928"/>
            <a:ext cx="4937760" cy="0"/>
          </a:xfrm>
          <a:prstGeom prst="line">
            <a:avLst/>
          </a:prstGeom>
          <a:noFill/>
          <a:ln w="9525">
            <a:solidFill>
              <a:srgbClr val="E3E6EE"/>
            </a:solidFill>
            <a:prstDash val="solid"/>
          </a:ln>
        </p:spPr>
        <p:txBody>
          <a:bodyPr/>
          <a:lstStyle/>
          <a:p>
            <a:endParaRPr lang="es-PE"/>
          </a:p>
        </p:txBody>
      </p:sp>
      <p:sp>
        <p:nvSpPr>
          <p:cNvPr id="20" name="Text 18"/>
          <p:cNvSpPr/>
          <p:nvPr/>
        </p:nvSpPr>
        <p:spPr>
          <a:xfrm>
            <a:off x="822960" y="4069080"/>
            <a:ext cx="2834640" cy="384048"/>
          </a:xfrm>
          <a:prstGeom prst="rect">
            <a:avLst/>
          </a:prstGeom>
          <a:noFill/>
          <a:ln/>
        </p:spPr>
        <p:txBody>
          <a:bodyPr wrap="square" rtlCol="0" anchor="ctr"/>
          <a:lstStyle/>
          <a:p>
            <a:pPr marL="0" indent="0">
              <a:buNone/>
            </a:pPr>
            <a:r>
              <a:rPr lang="en-US" sz="1150">
                <a:solidFill>
                  <a:srgbClr val="1E2761"/>
                </a:solidFill>
                <a:latin typeface="Calibri" pitchFamily="34" charset="0"/>
                <a:ea typeface="Calibri" pitchFamily="34" charset="-122"/>
                <a:cs typeface="Calibri" pitchFamily="34" charset="-120"/>
              </a:rPr>
              <a:t>Scotiabank</a:t>
            </a:r>
            <a:endParaRPr lang="en-US" sz="1150"/>
          </a:p>
        </p:txBody>
      </p:sp>
      <p:sp>
        <p:nvSpPr>
          <p:cNvPr id="21" name="Text 19"/>
          <p:cNvSpPr/>
          <p:nvPr/>
        </p:nvSpPr>
        <p:spPr>
          <a:xfrm>
            <a:off x="3657600" y="4069080"/>
            <a:ext cx="1188720" cy="384048"/>
          </a:xfrm>
          <a:prstGeom prst="rect">
            <a:avLst/>
          </a:prstGeom>
          <a:noFill/>
          <a:ln/>
        </p:spPr>
        <p:txBody>
          <a:bodyPr wrap="square" rtlCol="0" anchor="ctr"/>
          <a:lstStyle/>
          <a:p>
            <a:pPr marL="0" indent="0" algn="r">
              <a:buNone/>
            </a:pPr>
            <a:r>
              <a:rPr lang="en-US" sz="1150">
                <a:solidFill>
                  <a:srgbClr val="333333"/>
                </a:solidFill>
                <a:latin typeface="Calibri" pitchFamily="34" charset="0"/>
                <a:ea typeface="Calibri" pitchFamily="34" charset="-122"/>
                <a:cs typeface="Calibri" pitchFamily="34" charset="-120"/>
              </a:rPr>
              <a:t>S/ 10.3M</a:t>
            </a:r>
            <a:endParaRPr lang="en-US" sz="1150"/>
          </a:p>
        </p:txBody>
      </p:sp>
      <p:sp>
        <p:nvSpPr>
          <p:cNvPr id="22" name="Text 20"/>
          <p:cNvSpPr/>
          <p:nvPr/>
        </p:nvSpPr>
        <p:spPr>
          <a:xfrm>
            <a:off x="4892040" y="4069080"/>
            <a:ext cx="914400" cy="384048"/>
          </a:xfrm>
          <a:prstGeom prst="rect">
            <a:avLst/>
          </a:prstGeom>
          <a:noFill/>
          <a:ln/>
        </p:spPr>
        <p:txBody>
          <a:bodyPr wrap="square" lIns="91440" tIns="45720" rIns="91440" bIns="45720" rtlCol="0" anchor="ctr"/>
          <a:lstStyle/>
          <a:p>
            <a:pPr marL="0" indent="0" algn="r">
              <a:buNone/>
            </a:pPr>
            <a:r>
              <a:rPr lang="en-US" sz="1150" b="1">
                <a:solidFill>
                  <a:srgbClr val="3D5A99"/>
                </a:solidFill>
                <a:latin typeface="Calibri"/>
                <a:ea typeface="Calibri"/>
                <a:cs typeface="Calibri"/>
              </a:rPr>
              <a:t>6%</a:t>
            </a:r>
            <a:endParaRPr lang="en-US" sz="1150">
              <a:latin typeface="Calibri"/>
              <a:ea typeface="Calibri"/>
              <a:cs typeface="Calibri"/>
            </a:endParaRPr>
          </a:p>
        </p:txBody>
      </p:sp>
      <p:sp>
        <p:nvSpPr>
          <p:cNvPr id="23" name="Shape 21"/>
          <p:cNvSpPr/>
          <p:nvPr/>
        </p:nvSpPr>
        <p:spPr>
          <a:xfrm>
            <a:off x="822960" y="4453128"/>
            <a:ext cx="4937760" cy="0"/>
          </a:xfrm>
          <a:prstGeom prst="line">
            <a:avLst/>
          </a:prstGeom>
          <a:noFill/>
          <a:ln w="9525">
            <a:solidFill>
              <a:srgbClr val="E3E6EE"/>
            </a:solidFill>
            <a:prstDash val="solid"/>
          </a:ln>
        </p:spPr>
        <p:txBody>
          <a:bodyPr/>
          <a:lstStyle/>
          <a:p>
            <a:endParaRPr lang="es-PE"/>
          </a:p>
        </p:txBody>
      </p:sp>
      <p:sp>
        <p:nvSpPr>
          <p:cNvPr id="24" name="Text 22"/>
          <p:cNvSpPr/>
          <p:nvPr/>
        </p:nvSpPr>
        <p:spPr>
          <a:xfrm>
            <a:off x="822960" y="4526280"/>
            <a:ext cx="2834640" cy="384048"/>
          </a:xfrm>
          <a:prstGeom prst="rect">
            <a:avLst/>
          </a:prstGeom>
          <a:noFill/>
          <a:ln/>
        </p:spPr>
        <p:txBody>
          <a:bodyPr wrap="square" rtlCol="0" anchor="ctr"/>
          <a:lstStyle/>
          <a:p>
            <a:pPr marL="0" indent="0">
              <a:buNone/>
            </a:pPr>
            <a:r>
              <a:rPr lang="en-US" sz="1150" b="1">
                <a:solidFill>
                  <a:srgbClr val="8A6D2E"/>
                </a:solidFill>
                <a:latin typeface="Calibri" pitchFamily="34" charset="0"/>
                <a:ea typeface="Calibri" pitchFamily="34" charset="-122"/>
                <a:cs typeface="Calibri" pitchFamily="34" charset="-120"/>
              </a:rPr>
              <a:t>Efectibank (líder Resto de Mercado)</a:t>
            </a:r>
            <a:endParaRPr lang="en-US" sz="1150"/>
          </a:p>
        </p:txBody>
      </p:sp>
      <p:sp>
        <p:nvSpPr>
          <p:cNvPr id="25" name="Text 23"/>
          <p:cNvSpPr/>
          <p:nvPr/>
        </p:nvSpPr>
        <p:spPr>
          <a:xfrm>
            <a:off x="3657600" y="4526280"/>
            <a:ext cx="1188720" cy="384048"/>
          </a:xfrm>
          <a:prstGeom prst="rect">
            <a:avLst/>
          </a:prstGeom>
          <a:noFill/>
          <a:ln/>
        </p:spPr>
        <p:txBody>
          <a:bodyPr wrap="square" rtlCol="0" anchor="ctr"/>
          <a:lstStyle/>
          <a:p>
            <a:pPr marL="0" indent="0" algn="r">
              <a:buNone/>
            </a:pPr>
            <a:r>
              <a:rPr lang="en-US" sz="1150">
                <a:solidFill>
                  <a:srgbClr val="333333"/>
                </a:solidFill>
                <a:latin typeface="Calibri" pitchFamily="34" charset="0"/>
                <a:ea typeface="Calibri" pitchFamily="34" charset="-122"/>
                <a:cs typeface="Calibri" pitchFamily="34" charset="-120"/>
              </a:rPr>
              <a:t>S/ 3.18M</a:t>
            </a:r>
            <a:endParaRPr lang="en-US" sz="1150"/>
          </a:p>
        </p:txBody>
      </p:sp>
      <p:sp>
        <p:nvSpPr>
          <p:cNvPr id="26" name="Text 24"/>
          <p:cNvSpPr/>
          <p:nvPr/>
        </p:nvSpPr>
        <p:spPr>
          <a:xfrm>
            <a:off x="4892040" y="4526280"/>
            <a:ext cx="914400" cy="384048"/>
          </a:xfrm>
          <a:prstGeom prst="rect">
            <a:avLst/>
          </a:prstGeom>
          <a:noFill/>
          <a:ln/>
        </p:spPr>
        <p:txBody>
          <a:bodyPr wrap="square" lIns="91440" tIns="45720" rIns="91440" bIns="45720" rtlCol="0" anchor="ctr"/>
          <a:lstStyle/>
          <a:p>
            <a:pPr marL="0" indent="0" algn="r">
              <a:buNone/>
            </a:pPr>
            <a:r>
              <a:rPr lang="en-US" sz="1150" b="1">
                <a:solidFill>
                  <a:srgbClr val="8A6D2E"/>
                </a:solidFill>
                <a:latin typeface="Calibri"/>
                <a:ea typeface="Calibri"/>
                <a:cs typeface="Calibri"/>
              </a:rPr>
              <a:t>21%*</a:t>
            </a:r>
            <a:endParaRPr lang="en-US" sz="1150">
              <a:latin typeface="Calibri"/>
              <a:ea typeface="Calibri"/>
              <a:cs typeface="Calibri"/>
            </a:endParaRPr>
          </a:p>
        </p:txBody>
      </p:sp>
      <p:sp>
        <p:nvSpPr>
          <p:cNvPr id="27" name="Text 25"/>
          <p:cNvSpPr/>
          <p:nvPr/>
        </p:nvSpPr>
        <p:spPr>
          <a:xfrm>
            <a:off x="822960" y="5056632"/>
            <a:ext cx="4937760" cy="457200"/>
          </a:xfrm>
          <a:prstGeom prst="rect">
            <a:avLst/>
          </a:prstGeom>
          <a:noFill/>
          <a:ln/>
        </p:spPr>
        <p:txBody>
          <a:bodyPr wrap="square" rtlCol="0" anchor="ctr"/>
          <a:lstStyle/>
          <a:p>
            <a:pPr marL="0" indent="0">
              <a:buNone/>
            </a:pPr>
            <a:r>
              <a:rPr lang="en-US" sz="800" i="1">
                <a:solidFill>
                  <a:srgbClr val="6B7280"/>
                </a:solidFill>
                <a:latin typeface="Calibri" pitchFamily="34" charset="0"/>
                <a:ea typeface="Calibri" pitchFamily="34" charset="-122"/>
                <a:cs typeface="Calibri" pitchFamily="34" charset="-120"/>
              </a:rPr>
              <a:t>*% dentro del grupo Resto de Mercado (BanBif, Mibanco, Compartamos, Falabella, GNB, Efectibank).</a:t>
            </a:r>
            <a:endParaRPr lang="en-US" sz="800"/>
          </a:p>
        </p:txBody>
      </p:sp>
      <p:sp>
        <p:nvSpPr>
          <p:cNvPr id="28" name="Shape 26"/>
          <p:cNvSpPr/>
          <p:nvPr/>
        </p:nvSpPr>
        <p:spPr>
          <a:xfrm>
            <a:off x="6217920" y="1874520"/>
            <a:ext cx="5422392" cy="4160520"/>
          </a:xfrm>
          <a:prstGeom prst="roundRect">
            <a:avLst>
              <a:gd name="adj" fmla="val 1758"/>
            </a:avLst>
          </a:prstGeom>
          <a:solidFill>
            <a:srgbClr val="1E2761"/>
          </a:solidFill>
          <a:ln/>
        </p:spPr>
        <p:txBody>
          <a:bodyPr/>
          <a:lstStyle/>
          <a:p>
            <a:endParaRPr lang="es-PE"/>
          </a:p>
        </p:txBody>
      </p:sp>
      <p:sp>
        <p:nvSpPr>
          <p:cNvPr id="29" name="Text 27"/>
          <p:cNvSpPr/>
          <p:nvPr/>
        </p:nvSpPr>
        <p:spPr>
          <a:xfrm>
            <a:off x="6492240" y="2029968"/>
            <a:ext cx="493776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LO QUE DICEN LOS CLIENTES — Encuesta, clientes que migraron</a:t>
            </a:r>
            <a:endParaRPr lang="en-US" sz="1100"/>
          </a:p>
        </p:txBody>
      </p:sp>
      <p:sp>
        <p:nvSpPr>
          <p:cNvPr id="30" name="Text 28"/>
          <p:cNvSpPr/>
          <p:nvPr/>
        </p:nvSpPr>
        <p:spPr>
          <a:xfrm>
            <a:off x="6492240" y="2286000"/>
            <a:ext cx="4937760" cy="256032"/>
          </a:xfrm>
          <a:prstGeom prst="rect">
            <a:avLst/>
          </a:prstGeom>
          <a:noFill/>
          <a:ln/>
        </p:spPr>
        <p:txBody>
          <a:bodyPr wrap="square" rtlCol="0" anchor="ctr"/>
          <a:lstStyle/>
          <a:p>
            <a:pPr marL="0" indent="0">
              <a:buNone/>
            </a:pPr>
            <a:r>
              <a:rPr lang="en-US" sz="950">
                <a:solidFill>
                  <a:srgbClr val="C7D0E3"/>
                </a:solidFill>
                <a:latin typeface="Calibri" pitchFamily="34" charset="0"/>
                <a:ea typeface="Calibri" pitchFamily="34" charset="-122"/>
                <a:cs typeface="Calibri" pitchFamily="34" charset="-120"/>
              </a:rPr>
              <a:t>Ticket promedio 3x mayor en cajas y financieras vs. bancos grandes</a:t>
            </a:r>
            <a:endParaRPr lang="en-US" sz="950"/>
          </a:p>
        </p:txBody>
      </p:sp>
      <p:sp>
        <p:nvSpPr>
          <p:cNvPr id="31" name="Text 29"/>
          <p:cNvSpPr/>
          <p:nvPr/>
        </p:nvSpPr>
        <p:spPr>
          <a:xfrm>
            <a:off x="6492240" y="2697480"/>
            <a:ext cx="2651760" cy="384048"/>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BanBif</a:t>
            </a:r>
            <a:endParaRPr lang="en-US" sz="1150"/>
          </a:p>
        </p:txBody>
      </p:sp>
      <p:sp>
        <p:nvSpPr>
          <p:cNvPr id="32" name="Text 30"/>
          <p:cNvSpPr/>
          <p:nvPr/>
        </p:nvSpPr>
        <p:spPr>
          <a:xfrm>
            <a:off x="9144000" y="2697480"/>
            <a:ext cx="822960" cy="384048"/>
          </a:xfrm>
          <a:prstGeom prst="rect">
            <a:avLst/>
          </a:prstGeom>
          <a:noFill/>
          <a:ln/>
        </p:spPr>
        <p:txBody>
          <a:bodyPr wrap="square" rtlCol="0" anchor="ctr"/>
          <a:lstStyle/>
          <a:p>
            <a:pPr marL="0" indent="0" algn="r">
              <a:buNone/>
            </a:pPr>
            <a:r>
              <a:rPr lang="en-US" sz="1050">
                <a:solidFill>
                  <a:srgbClr val="C7D0E3"/>
                </a:solidFill>
                <a:latin typeface="Calibri" pitchFamily="34" charset="0"/>
                <a:ea typeface="Calibri" pitchFamily="34" charset="-122"/>
                <a:cs typeface="Calibri" pitchFamily="34" charset="-120"/>
              </a:rPr>
              <a:t>10 cli.</a:t>
            </a:r>
            <a:endParaRPr lang="en-US" sz="1050"/>
          </a:p>
        </p:txBody>
      </p:sp>
      <p:sp>
        <p:nvSpPr>
          <p:cNvPr id="33" name="Text 31"/>
          <p:cNvSpPr/>
          <p:nvPr/>
        </p:nvSpPr>
        <p:spPr>
          <a:xfrm>
            <a:off x="9966960" y="2697480"/>
            <a:ext cx="1600200" cy="384048"/>
          </a:xfrm>
          <a:prstGeom prst="rect">
            <a:avLst/>
          </a:prstGeom>
          <a:noFill/>
          <a:ln/>
        </p:spPr>
        <p:txBody>
          <a:bodyPr wrap="square" rtlCol="0" anchor="ctr"/>
          <a:lstStyle/>
          <a:p>
            <a:pPr marL="0" indent="0" algn="r">
              <a:buNone/>
            </a:pPr>
            <a:r>
              <a:rPr lang="en-US" sz="1150" b="1">
                <a:solidFill>
                  <a:srgbClr val="C9A15A"/>
                </a:solidFill>
                <a:latin typeface="Calibri" pitchFamily="34" charset="0"/>
                <a:ea typeface="Calibri" pitchFamily="34" charset="-122"/>
                <a:cs typeface="Calibri" pitchFamily="34" charset="-120"/>
              </a:rPr>
              <a:t>-S/ 32,221</a:t>
            </a:r>
            <a:endParaRPr lang="en-US" sz="1150"/>
          </a:p>
        </p:txBody>
      </p:sp>
      <p:sp>
        <p:nvSpPr>
          <p:cNvPr id="34" name="Shape 32"/>
          <p:cNvSpPr/>
          <p:nvPr/>
        </p:nvSpPr>
        <p:spPr>
          <a:xfrm>
            <a:off x="6492240" y="3081528"/>
            <a:ext cx="5074920" cy="0"/>
          </a:xfrm>
          <a:prstGeom prst="line">
            <a:avLst/>
          </a:prstGeom>
          <a:noFill/>
          <a:ln w="9525">
            <a:solidFill>
              <a:srgbClr val="3A448C"/>
            </a:solidFill>
            <a:prstDash val="solid"/>
          </a:ln>
        </p:spPr>
        <p:txBody>
          <a:bodyPr/>
          <a:lstStyle/>
          <a:p>
            <a:endParaRPr lang="es-PE"/>
          </a:p>
        </p:txBody>
      </p:sp>
      <p:sp>
        <p:nvSpPr>
          <p:cNvPr id="35" name="Text 33"/>
          <p:cNvSpPr/>
          <p:nvPr/>
        </p:nvSpPr>
        <p:spPr>
          <a:xfrm>
            <a:off x="6492240" y="3154680"/>
            <a:ext cx="2651760" cy="384048"/>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Caja Huancayo</a:t>
            </a:r>
            <a:endParaRPr lang="en-US" sz="1150"/>
          </a:p>
        </p:txBody>
      </p:sp>
      <p:sp>
        <p:nvSpPr>
          <p:cNvPr id="36" name="Text 34"/>
          <p:cNvSpPr/>
          <p:nvPr/>
        </p:nvSpPr>
        <p:spPr>
          <a:xfrm>
            <a:off x="9144000" y="3154680"/>
            <a:ext cx="822960" cy="384048"/>
          </a:xfrm>
          <a:prstGeom prst="rect">
            <a:avLst/>
          </a:prstGeom>
          <a:noFill/>
          <a:ln/>
        </p:spPr>
        <p:txBody>
          <a:bodyPr wrap="square" rtlCol="0" anchor="ctr"/>
          <a:lstStyle/>
          <a:p>
            <a:pPr marL="0" indent="0" algn="r">
              <a:buNone/>
            </a:pPr>
            <a:r>
              <a:rPr lang="en-US" sz="1050">
                <a:solidFill>
                  <a:srgbClr val="C7D0E3"/>
                </a:solidFill>
                <a:latin typeface="Calibri" pitchFamily="34" charset="0"/>
                <a:ea typeface="Calibri" pitchFamily="34" charset="-122"/>
                <a:cs typeface="Calibri" pitchFamily="34" charset="-120"/>
              </a:rPr>
              <a:t>9 cli.</a:t>
            </a:r>
            <a:endParaRPr lang="en-US" sz="1050"/>
          </a:p>
        </p:txBody>
      </p:sp>
      <p:sp>
        <p:nvSpPr>
          <p:cNvPr id="37" name="Text 35"/>
          <p:cNvSpPr/>
          <p:nvPr/>
        </p:nvSpPr>
        <p:spPr>
          <a:xfrm>
            <a:off x="9966960" y="3154680"/>
            <a:ext cx="1600200" cy="384048"/>
          </a:xfrm>
          <a:prstGeom prst="rect">
            <a:avLst/>
          </a:prstGeom>
          <a:noFill/>
          <a:ln/>
        </p:spPr>
        <p:txBody>
          <a:bodyPr wrap="square" rtlCol="0" anchor="ctr"/>
          <a:lstStyle/>
          <a:p>
            <a:pPr marL="0" indent="0" algn="r">
              <a:buNone/>
            </a:pPr>
            <a:r>
              <a:rPr lang="en-US" sz="1150" b="1">
                <a:solidFill>
                  <a:srgbClr val="C9A15A"/>
                </a:solidFill>
                <a:latin typeface="Calibri" pitchFamily="34" charset="0"/>
                <a:ea typeface="Calibri" pitchFamily="34" charset="-122"/>
                <a:cs typeface="Calibri" pitchFamily="34" charset="-120"/>
              </a:rPr>
              <a:t>-S/ 21,035</a:t>
            </a:r>
            <a:endParaRPr lang="en-US" sz="1150"/>
          </a:p>
        </p:txBody>
      </p:sp>
      <p:sp>
        <p:nvSpPr>
          <p:cNvPr id="38" name="Shape 36"/>
          <p:cNvSpPr/>
          <p:nvPr/>
        </p:nvSpPr>
        <p:spPr>
          <a:xfrm>
            <a:off x="6492240" y="3538728"/>
            <a:ext cx="5074920" cy="0"/>
          </a:xfrm>
          <a:prstGeom prst="line">
            <a:avLst/>
          </a:prstGeom>
          <a:noFill/>
          <a:ln w="9525">
            <a:solidFill>
              <a:srgbClr val="3A448C"/>
            </a:solidFill>
            <a:prstDash val="solid"/>
          </a:ln>
        </p:spPr>
        <p:txBody>
          <a:bodyPr/>
          <a:lstStyle/>
          <a:p>
            <a:endParaRPr lang="es-PE"/>
          </a:p>
        </p:txBody>
      </p:sp>
      <p:sp>
        <p:nvSpPr>
          <p:cNvPr id="39" name="Text 37"/>
          <p:cNvSpPr/>
          <p:nvPr/>
        </p:nvSpPr>
        <p:spPr>
          <a:xfrm>
            <a:off x="6492240" y="3611880"/>
            <a:ext cx="2651760" cy="384048"/>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GNB</a:t>
            </a:r>
            <a:endParaRPr lang="en-US" sz="1150"/>
          </a:p>
        </p:txBody>
      </p:sp>
      <p:sp>
        <p:nvSpPr>
          <p:cNvPr id="40" name="Text 38"/>
          <p:cNvSpPr/>
          <p:nvPr/>
        </p:nvSpPr>
        <p:spPr>
          <a:xfrm>
            <a:off x="9144000" y="3611880"/>
            <a:ext cx="822960" cy="384048"/>
          </a:xfrm>
          <a:prstGeom prst="rect">
            <a:avLst/>
          </a:prstGeom>
          <a:noFill/>
          <a:ln/>
        </p:spPr>
        <p:txBody>
          <a:bodyPr wrap="square" rtlCol="0" anchor="ctr"/>
          <a:lstStyle/>
          <a:p>
            <a:pPr marL="0" indent="0" algn="r">
              <a:buNone/>
            </a:pPr>
            <a:r>
              <a:rPr lang="en-US" sz="1050">
                <a:solidFill>
                  <a:srgbClr val="C7D0E3"/>
                </a:solidFill>
                <a:latin typeface="Calibri" pitchFamily="34" charset="0"/>
                <a:ea typeface="Calibri" pitchFamily="34" charset="-122"/>
                <a:cs typeface="Calibri" pitchFamily="34" charset="-120"/>
              </a:rPr>
              <a:t>6 cli.</a:t>
            </a:r>
            <a:endParaRPr lang="en-US" sz="1050"/>
          </a:p>
        </p:txBody>
      </p:sp>
      <p:sp>
        <p:nvSpPr>
          <p:cNvPr id="41" name="Text 39"/>
          <p:cNvSpPr/>
          <p:nvPr/>
        </p:nvSpPr>
        <p:spPr>
          <a:xfrm>
            <a:off x="9966960" y="3611880"/>
            <a:ext cx="1600200" cy="384048"/>
          </a:xfrm>
          <a:prstGeom prst="rect">
            <a:avLst/>
          </a:prstGeom>
          <a:noFill/>
          <a:ln/>
        </p:spPr>
        <p:txBody>
          <a:bodyPr wrap="square" rtlCol="0" anchor="ctr"/>
          <a:lstStyle/>
          <a:p>
            <a:pPr marL="0" indent="0" algn="r">
              <a:buNone/>
            </a:pPr>
            <a:r>
              <a:rPr lang="en-US" sz="1150" b="1">
                <a:solidFill>
                  <a:srgbClr val="C9A15A"/>
                </a:solidFill>
                <a:latin typeface="Calibri" pitchFamily="34" charset="0"/>
                <a:ea typeface="Calibri" pitchFamily="34" charset="-122"/>
                <a:cs typeface="Calibri" pitchFamily="34" charset="-120"/>
              </a:rPr>
              <a:t>-S/ 26,974</a:t>
            </a:r>
            <a:endParaRPr lang="en-US" sz="1150"/>
          </a:p>
        </p:txBody>
      </p:sp>
      <p:sp>
        <p:nvSpPr>
          <p:cNvPr id="42" name="Shape 40"/>
          <p:cNvSpPr/>
          <p:nvPr/>
        </p:nvSpPr>
        <p:spPr>
          <a:xfrm>
            <a:off x="6492240" y="3995928"/>
            <a:ext cx="5074920" cy="0"/>
          </a:xfrm>
          <a:prstGeom prst="line">
            <a:avLst/>
          </a:prstGeom>
          <a:noFill/>
          <a:ln w="9525">
            <a:solidFill>
              <a:srgbClr val="3A448C"/>
            </a:solidFill>
            <a:prstDash val="solid"/>
          </a:ln>
        </p:spPr>
        <p:txBody>
          <a:bodyPr/>
          <a:lstStyle/>
          <a:p>
            <a:endParaRPr lang="es-PE"/>
          </a:p>
        </p:txBody>
      </p:sp>
      <p:sp>
        <p:nvSpPr>
          <p:cNvPr id="43" name="Text 41"/>
          <p:cNvSpPr/>
          <p:nvPr/>
        </p:nvSpPr>
        <p:spPr>
          <a:xfrm>
            <a:off x="6492240" y="4069080"/>
            <a:ext cx="2651760" cy="384048"/>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Financiera Confianza</a:t>
            </a:r>
            <a:endParaRPr lang="en-US" sz="1150"/>
          </a:p>
        </p:txBody>
      </p:sp>
      <p:sp>
        <p:nvSpPr>
          <p:cNvPr id="44" name="Text 42"/>
          <p:cNvSpPr/>
          <p:nvPr/>
        </p:nvSpPr>
        <p:spPr>
          <a:xfrm>
            <a:off x="9144000" y="4069080"/>
            <a:ext cx="822960" cy="384048"/>
          </a:xfrm>
          <a:prstGeom prst="rect">
            <a:avLst/>
          </a:prstGeom>
          <a:noFill/>
          <a:ln/>
        </p:spPr>
        <p:txBody>
          <a:bodyPr wrap="square" rtlCol="0" anchor="ctr"/>
          <a:lstStyle/>
          <a:p>
            <a:pPr marL="0" indent="0" algn="r">
              <a:buNone/>
            </a:pPr>
            <a:r>
              <a:rPr lang="en-US" sz="1050">
                <a:solidFill>
                  <a:srgbClr val="C7D0E3"/>
                </a:solidFill>
                <a:latin typeface="Calibri" pitchFamily="34" charset="0"/>
                <a:ea typeface="Calibri" pitchFamily="34" charset="-122"/>
                <a:cs typeface="Calibri" pitchFamily="34" charset="-120"/>
              </a:rPr>
              <a:t>2 cli.</a:t>
            </a:r>
            <a:endParaRPr lang="en-US" sz="1050"/>
          </a:p>
        </p:txBody>
      </p:sp>
      <p:sp>
        <p:nvSpPr>
          <p:cNvPr id="45" name="Text 43"/>
          <p:cNvSpPr/>
          <p:nvPr/>
        </p:nvSpPr>
        <p:spPr>
          <a:xfrm>
            <a:off x="9966960" y="4069080"/>
            <a:ext cx="1600200" cy="384048"/>
          </a:xfrm>
          <a:prstGeom prst="rect">
            <a:avLst/>
          </a:prstGeom>
          <a:noFill/>
          <a:ln/>
        </p:spPr>
        <p:txBody>
          <a:bodyPr wrap="square" rtlCol="0" anchor="ctr"/>
          <a:lstStyle/>
          <a:p>
            <a:pPr marL="0" indent="0" algn="r">
              <a:buNone/>
            </a:pPr>
            <a:r>
              <a:rPr lang="en-US" sz="1150" b="1">
                <a:solidFill>
                  <a:srgbClr val="C9A15A"/>
                </a:solidFill>
                <a:latin typeface="Calibri" pitchFamily="34" charset="0"/>
                <a:ea typeface="Calibri" pitchFamily="34" charset="-122"/>
                <a:cs typeface="Calibri" pitchFamily="34" charset="-120"/>
              </a:rPr>
              <a:t>-S/ 82,986</a:t>
            </a:r>
            <a:endParaRPr lang="en-US" sz="1150"/>
          </a:p>
        </p:txBody>
      </p:sp>
      <p:sp>
        <p:nvSpPr>
          <p:cNvPr id="46" name="Shape 44"/>
          <p:cNvSpPr/>
          <p:nvPr/>
        </p:nvSpPr>
        <p:spPr>
          <a:xfrm>
            <a:off x="6492240" y="4453128"/>
            <a:ext cx="5074920" cy="0"/>
          </a:xfrm>
          <a:prstGeom prst="line">
            <a:avLst/>
          </a:prstGeom>
          <a:noFill/>
          <a:ln w="9525">
            <a:solidFill>
              <a:srgbClr val="3A448C"/>
            </a:solidFill>
            <a:prstDash val="solid"/>
          </a:ln>
        </p:spPr>
        <p:txBody>
          <a:bodyPr/>
          <a:lstStyle/>
          <a:p>
            <a:endParaRPr lang="es-PE"/>
          </a:p>
        </p:txBody>
      </p:sp>
      <p:sp>
        <p:nvSpPr>
          <p:cNvPr id="47" name="Text 45"/>
          <p:cNvSpPr/>
          <p:nvPr/>
        </p:nvSpPr>
        <p:spPr>
          <a:xfrm>
            <a:off x="6492240" y="4526280"/>
            <a:ext cx="2651760" cy="384048"/>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Interbank (Big Four)</a:t>
            </a:r>
            <a:endParaRPr lang="en-US" sz="1150"/>
          </a:p>
        </p:txBody>
      </p:sp>
      <p:sp>
        <p:nvSpPr>
          <p:cNvPr id="48" name="Text 46"/>
          <p:cNvSpPr/>
          <p:nvPr/>
        </p:nvSpPr>
        <p:spPr>
          <a:xfrm>
            <a:off x="9144000" y="4526280"/>
            <a:ext cx="822960" cy="384048"/>
          </a:xfrm>
          <a:prstGeom prst="rect">
            <a:avLst/>
          </a:prstGeom>
          <a:noFill/>
          <a:ln/>
        </p:spPr>
        <p:txBody>
          <a:bodyPr wrap="square" rtlCol="0" anchor="ctr"/>
          <a:lstStyle/>
          <a:p>
            <a:pPr marL="0" indent="0" algn="r">
              <a:buNone/>
            </a:pPr>
            <a:r>
              <a:rPr lang="en-US" sz="1050">
                <a:solidFill>
                  <a:srgbClr val="C7D0E3"/>
                </a:solidFill>
                <a:latin typeface="Calibri" pitchFamily="34" charset="0"/>
                <a:ea typeface="Calibri" pitchFamily="34" charset="-122"/>
                <a:cs typeface="Calibri" pitchFamily="34" charset="-120"/>
              </a:rPr>
              <a:t>19 cli.</a:t>
            </a:r>
            <a:endParaRPr lang="en-US" sz="1050"/>
          </a:p>
        </p:txBody>
      </p:sp>
      <p:sp>
        <p:nvSpPr>
          <p:cNvPr id="49" name="Text 47"/>
          <p:cNvSpPr/>
          <p:nvPr/>
        </p:nvSpPr>
        <p:spPr>
          <a:xfrm>
            <a:off x="9966960" y="4526280"/>
            <a:ext cx="1600200" cy="384048"/>
          </a:xfrm>
          <a:prstGeom prst="rect">
            <a:avLst/>
          </a:prstGeom>
          <a:noFill/>
          <a:ln/>
        </p:spPr>
        <p:txBody>
          <a:bodyPr wrap="square" rtlCol="0" anchor="ctr"/>
          <a:lstStyle/>
          <a:p>
            <a:pPr marL="0" indent="0" algn="r">
              <a:buNone/>
            </a:pPr>
            <a:r>
              <a:rPr lang="en-US" sz="1150" b="1">
                <a:solidFill>
                  <a:srgbClr val="C9A15A"/>
                </a:solidFill>
                <a:latin typeface="Calibri" pitchFamily="34" charset="0"/>
                <a:ea typeface="Calibri" pitchFamily="34" charset="-122"/>
                <a:cs typeface="Calibri" pitchFamily="34" charset="-120"/>
              </a:rPr>
              <a:t>-S/ 13,982</a:t>
            </a:r>
            <a:endParaRPr lang="en-US" sz="1150"/>
          </a:p>
        </p:txBody>
      </p:sp>
      <p:sp>
        <p:nvSpPr>
          <p:cNvPr id="50" name="Text 48"/>
          <p:cNvSpPr/>
          <p:nvPr/>
        </p:nvSpPr>
        <p:spPr>
          <a:xfrm>
            <a:off x="6492240" y="5056632"/>
            <a:ext cx="5074920" cy="548640"/>
          </a:xfrm>
          <a:prstGeom prst="rect">
            <a:avLst/>
          </a:prstGeom>
          <a:noFill/>
          <a:ln/>
        </p:spPr>
        <p:txBody>
          <a:bodyPr wrap="square" rtlCol="0" anchor="ctr"/>
          <a:lstStyle/>
          <a:p>
            <a:pPr marL="0" indent="0">
              <a:buNone/>
            </a:pPr>
            <a:r>
              <a:rPr lang="en-US" sz="800" i="1">
                <a:solidFill>
                  <a:srgbClr val="C7D0E3"/>
                </a:solidFill>
                <a:latin typeface="Calibri" pitchFamily="34" charset="0"/>
                <a:ea typeface="Calibri" pitchFamily="34" charset="-122"/>
                <a:cs typeface="Calibri" pitchFamily="34" charset="-120"/>
              </a:rPr>
              <a:t>Ticket promedio por cliente en 2 meses (jun–jul). "Otras entidades" agrupa 13 instituciones adicionales (S/1.99M en total, 81 clientes).</a:t>
            </a:r>
            <a:endParaRPr lang="en-US" sz="800"/>
          </a:p>
        </p:txBody>
      </p:sp>
      <p:sp>
        <p:nvSpPr>
          <p:cNvPr id="51" name="Text 49"/>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52" name="Text 50"/>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53" name="Text 51"/>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4</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200" b="1" kern="0" spc="150">
                <a:solidFill>
                  <a:srgbClr val="8A6D2E"/>
                </a:solidFill>
                <a:latin typeface="Calibri" pitchFamily="34" charset="0"/>
                <a:ea typeface="Calibri" pitchFamily="34" charset="-122"/>
                <a:cs typeface="Calibri" pitchFamily="34" charset="-120"/>
              </a:rPr>
              <a:t>PREGUNTA 3 · MOTIVACIÓN DE LA FUGA</a:t>
            </a:r>
            <a:endParaRPr lang="en-US" sz="1200"/>
          </a:p>
        </p:txBody>
      </p:sp>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400" b="1">
                <a:solidFill>
                  <a:srgbClr val="1E2761"/>
                </a:solidFill>
                <a:latin typeface="Calibri" pitchFamily="34" charset="0"/>
                <a:ea typeface="Calibri" pitchFamily="34" charset="-122"/>
                <a:cs typeface="Calibri" pitchFamily="34" charset="-120"/>
              </a:rPr>
              <a:t>Para bancos grandes se compite con vínculo; para el resto, solo con tasa</a:t>
            </a:r>
            <a:endParaRPr lang="en-US" sz="2400"/>
          </a:p>
        </p:txBody>
      </p:sp>
      <p:sp>
        <p:nvSpPr>
          <p:cNvPr id="4" name="Text 2"/>
          <p:cNvSpPr/>
          <p:nvPr/>
        </p:nvSpPr>
        <p:spPr>
          <a:xfrm>
            <a:off x="548640" y="1298448"/>
            <a:ext cx="11064240" cy="457200"/>
          </a:xfrm>
          <a:prstGeom prst="rect">
            <a:avLst/>
          </a:prstGeom>
          <a:noFill/>
          <a:ln/>
        </p:spPr>
        <p:txBody>
          <a:bodyPr wrap="square" rtlCol="0" anchor="ctr"/>
          <a:lstStyle/>
          <a:p>
            <a:pPr marL="0" indent="0" algn="l">
              <a:buNone/>
            </a:pPr>
            <a:r>
              <a:rPr lang="en-US" sz="1400">
                <a:solidFill>
                  <a:srgbClr val="6B7280"/>
                </a:solidFill>
                <a:latin typeface="Calibri" pitchFamily="34" charset="0"/>
                <a:ea typeface="Calibri" pitchFamily="34" charset="-122"/>
                <a:cs typeface="Calibri" pitchFamily="34" charset="-120"/>
              </a:rPr>
              <a:t>Motivo principal declarado para elegir la entidad de destino, por grupo (encuesta, 145 migraciones).</a:t>
            </a:r>
            <a:endParaRPr lang="en-US" sz="1400"/>
          </a:p>
        </p:txBody>
      </p:sp>
      <p:graphicFrame>
        <p:nvGraphicFramePr>
          <p:cNvPr id="5" name="Chart 0"/>
          <p:cNvGraphicFramePr/>
          <p:nvPr/>
        </p:nvGraphicFramePr>
        <p:xfrm>
          <a:off x="548640" y="2011680"/>
          <a:ext cx="70408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18120" y="2011680"/>
            <a:ext cx="3840480" cy="3931920"/>
          </a:xfrm>
          <a:prstGeom prst="roundRect">
            <a:avLst>
              <a:gd name="adj" fmla="val 1905"/>
            </a:avLst>
          </a:prstGeom>
          <a:solidFill>
            <a:srgbClr val="F2F4F8"/>
          </a:solidFill>
          <a:ln w="12700">
            <a:solidFill>
              <a:srgbClr val="E3E6EE"/>
            </a:solidFill>
            <a:prstDash val="solid"/>
          </a:ln>
        </p:spPr>
        <p:txBody>
          <a:bodyPr/>
          <a:lstStyle/>
          <a:p>
            <a:endParaRPr lang="es-PE"/>
          </a:p>
        </p:txBody>
      </p:sp>
      <p:sp>
        <p:nvSpPr>
          <p:cNvPr id="8" name="Text 5"/>
          <p:cNvSpPr/>
          <p:nvPr/>
        </p:nvSpPr>
        <p:spPr>
          <a:xfrm>
            <a:off x="8046720" y="2514600"/>
            <a:ext cx="3383280" cy="1051560"/>
          </a:xfrm>
          <a:prstGeom prst="rect">
            <a:avLst/>
          </a:prstGeom>
          <a:noFill/>
          <a:ln/>
        </p:spPr>
        <p:txBody>
          <a:bodyPr wrap="square" rtlCol="0" anchor="ctr"/>
          <a:lstStyle/>
          <a:p>
            <a:pPr marL="0" indent="0">
              <a:lnSpc>
                <a:spcPct val="120000"/>
              </a:lnSpc>
              <a:buNone/>
            </a:pPr>
            <a:r>
              <a:rPr lang="en-US" sz="1050">
                <a:solidFill>
                  <a:srgbClr val="333333"/>
                </a:solidFill>
                <a:latin typeface="Calibri" pitchFamily="34" charset="0"/>
                <a:ea typeface="Calibri" pitchFamily="34" charset="-122"/>
                <a:cs typeface="Calibri" pitchFamily="34" charset="-120"/>
              </a:rPr>
              <a:t>La hipótesis transaccional de junio ya lo anticipaba: los tramos Alto y Crítico (&gt;S/5,000) sugerían "migración de ahorro motivada por mejores tasas". La encuesta lo confirma con números.</a:t>
            </a:r>
            <a:endParaRPr lang="en-US" sz="1050"/>
          </a:p>
        </p:txBody>
      </p:sp>
      <p:sp>
        <p:nvSpPr>
          <p:cNvPr id="9" name="Shape 6"/>
          <p:cNvSpPr/>
          <p:nvPr/>
        </p:nvSpPr>
        <p:spPr>
          <a:xfrm>
            <a:off x="8046720" y="3657600"/>
            <a:ext cx="3383280" cy="0"/>
          </a:xfrm>
          <a:prstGeom prst="line">
            <a:avLst/>
          </a:prstGeom>
          <a:noFill/>
          <a:ln w="12700">
            <a:solidFill>
              <a:srgbClr val="E3E6EE"/>
            </a:solidFill>
            <a:prstDash val="solid"/>
          </a:ln>
        </p:spPr>
        <p:txBody>
          <a:bodyPr/>
          <a:lstStyle/>
          <a:p>
            <a:endParaRPr lang="es-PE"/>
          </a:p>
        </p:txBody>
      </p:sp>
      <p:sp>
        <p:nvSpPr>
          <p:cNvPr id="10" name="Text 7"/>
          <p:cNvSpPr/>
          <p:nvPr/>
        </p:nvSpPr>
        <p:spPr>
          <a:xfrm>
            <a:off x="8046720" y="3840480"/>
            <a:ext cx="3383280" cy="914400"/>
          </a:xfrm>
          <a:prstGeom prst="rect">
            <a:avLst/>
          </a:prstGeom>
          <a:noFill/>
          <a:ln/>
        </p:spPr>
        <p:txBody>
          <a:bodyPr wrap="square" rtlCol="0" anchor="ctr"/>
          <a:lstStyle/>
          <a:p>
            <a:pPr marL="0" indent="0">
              <a:lnSpc>
                <a:spcPct val="120000"/>
              </a:lnSpc>
              <a:buNone/>
            </a:pPr>
            <a:r>
              <a:rPr lang="en-US" sz="1050">
                <a:solidFill>
                  <a:srgbClr val="3D5A99"/>
                </a:solidFill>
                <a:latin typeface="Calibri" pitchFamily="34" charset="0"/>
                <a:ea typeface="Calibri" pitchFamily="34" charset="-122"/>
                <a:cs typeface="Calibri" pitchFamily="34" charset="-120"/>
              </a:rPr>
              <a:t>Bancos grandes: fuga "racional" — se puede competir con tasa + fidelización (sueldo, promociones, productos cruzados).</a:t>
            </a:r>
            <a:endParaRPr lang="en-US" sz="1050"/>
          </a:p>
        </p:txBody>
      </p:sp>
      <p:sp>
        <p:nvSpPr>
          <p:cNvPr id="11" name="Text 8"/>
          <p:cNvSpPr/>
          <p:nvPr/>
        </p:nvSpPr>
        <p:spPr>
          <a:xfrm>
            <a:off x="8046720" y="4800600"/>
            <a:ext cx="3383280" cy="1005840"/>
          </a:xfrm>
          <a:prstGeom prst="rect">
            <a:avLst/>
          </a:prstGeom>
          <a:noFill/>
          <a:ln/>
        </p:spPr>
        <p:txBody>
          <a:bodyPr wrap="square" rtlCol="0" anchor="ctr"/>
          <a:lstStyle/>
          <a:p>
            <a:pPr marL="0" indent="0">
              <a:lnSpc>
                <a:spcPct val="120000"/>
              </a:lnSpc>
              <a:buNone/>
            </a:pPr>
            <a:r>
              <a:rPr lang="en-US" sz="1050">
                <a:solidFill>
                  <a:srgbClr val="8A6D2E"/>
                </a:solidFill>
                <a:latin typeface="Calibri" pitchFamily="34" charset="0"/>
                <a:ea typeface="Calibri" pitchFamily="34" charset="-122"/>
                <a:cs typeface="Calibri" pitchFamily="34" charset="-120"/>
              </a:rPr>
              <a:t>Otras entidades: fuga de "precio puro" — casi sin vínculo previo (0% recibe su sueldo ahí), más difícil de retener y con mayor ticket promedio.</a:t>
            </a:r>
            <a:endParaRPr lang="en-US" sz="1050"/>
          </a:p>
        </p:txBody>
      </p:sp>
      <p:sp>
        <p:nvSpPr>
          <p:cNvPr id="12" name="Text 9"/>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13" name="Text 10"/>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14" name="Text 11"/>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5</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212121"/>
                </a:solidFill>
                <a:latin typeface="Cambria" pitchFamily="34" charset="0"/>
                <a:ea typeface="Cambria" pitchFamily="34" charset="-122"/>
                <a:cs typeface="Cambria" pitchFamily="34" charset="-120"/>
              </a:rPr>
              <a:t>Línea de tiempo de retiros — </a:t>
            </a:r>
            <a:r>
              <a:rPr lang="en-US" sz="2600" b="1" dirty="0">
                <a:solidFill>
                  <a:srgbClr val="1E2761"/>
                </a:solidFill>
                <a:latin typeface="Cambria" pitchFamily="34" charset="0"/>
                <a:ea typeface="Cambria" pitchFamily="34" charset="-122"/>
                <a:cs typeface="Cambria" pitchFamily="34" charset="-120"/>
              </a:rPr>
              <a:t>Junio 2026</a:t>
            </a:r>
            <a:endParaRPr lang="en-US" sz="2600" dirty="0"/>
          </a:p>
        </p:txBody>
      </p:sp>
      <p:sp>
        <p:nvSpPr>
          <p:cNvPr id="3" name="Text 1"/>
          <p:cNvSpPr/>
          <p:nvPr/>
        </p:nvSpPr>
        <p:spPr>
          <a:xfrm>
            <a:off x="457200" y="822960"/>
            <a:ext cx="1124712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Cantidad de clientes que retiraron dinero por día, agrupados por monto retirado (S/)</a:t>
            </a:r>
            <a:endParaRPr lang="en-US" sz="1300" dirty="0"/>
          </a:p>
        </p:txBody>
      </p:sp>
      <p:graphicFrame>
        <p:nvGraphicFramePr>
          <p:cNvPr id="4" name="Chart 0"/>
          <p:cNvGraphicFramePr/>
          <p:nvPr/>
        </p:nvGraphicFramePr>
        <p:xfrm>
          <a:off x="457200" y="1234440"/>
          <a:ext cx="78638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4645152"/>
            <a:ext cx="7863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Usuarios únicos por rango en el mes</a:t>
            </a:r>
            <a:endParaRPr lang="en-US" sz="1200" dirty="0"/>
          </a:p>
        </p:txBody>
      </p:sp>
      <p:graphicFrame>
        <p:nvGraphicFramePr>
          <p:cNvPr id="6" name="Chart 1"/>
          <p:cNvGraphicFramePr/>
          <p:nvPr/>
        </p:nvGraphicFramePr>
        <p:xfrm>
          <a:off x="320040" y="4937760"/>
          <a:ext cx="8138160" cy="14173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8549640" y="1280160"/>
            <a:ext cx="3154680" cy="5029200"/>
          </a:xfrm>
          <a:prstGeom prst="rect">
            <a:avLst/>
          </a:prstGeom>
          <a:solidFill>
            <a:srgbClr val="F7F8FC"/>
          </a:solidFill>
          <a:ln/>
        </p:spPr>
        <p:txBody>
          <a:bodyPr/>
          <a:lstStyle/>
          <a:p>
            <a:endParaRPr lang="es-PE"/>
          </a:p>
        </p:txBody>
      </p:sp>
      <p:sp>
        <p:nvSpPr>
          <p:cNvPr id="8" name="Text 4"/>
          <p:cNvSpPr/>
          <p:nvPr/>
        </p:nvSpPr>
        <p:spPr>
          <a:xfrm>
            <a:off x="8778240" y="1463040"/>
            <a:ext cx="27432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Rangos de retiro</a:t>
            </a:r>
            <a:endParaRPr lang="en-US" sz="1400" dirty="0"/>
          </a:p>
        </p:txBody>
      </p:sp>
      <p:sp>
        <p:nvSpPr>
          <p:cNvPr id="9" name="Shape 5"/>
          <p:cNvSpPr/>
          <p:nvPr/>
        </p:nvSpPr>
        <p:spPr>
          <a:xfrm>
            <a:off x="8778240" y="1828800"/>
            <a:ext cx="128016" cy="128016"/>
          </a:xfrm>
          <a:prstGeom prst="ellipse">
            <a:avLst/>
          </a:prstGeom>
          <a:solidFill>
            <a:srgbClr val="9CA3AF"/>
          </a:solidFill>
          <a:ln/>
        </p:spPr>
        <p:txBody>
          <a:bodyPr/>
          <a:lstStyle/>
          <a:p>
            <a:endParaRPr lang="es-PE"/>
          </a:p>
        </p:txBody>
      </p:sp>
      <p:sp>
        <p:nvSpPr>
          <p:cNvPr id="10" name="Text 6"/>
          <p:cNvSpPr/>
          <p:nvPr/>
        </p:nvSpPr>
        <p:spPr>
          <a:xfrm>
            <a:off x="8988552" y="1764792"/>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&lt; S/500</a:t>
            </a:r>
            <a:endParaRPr lang="en-US" sz="1100" dirty="0"/>
          </a:p>
        </p:txBody>
      </p:sp>
      <p:sp>
        <p:nvSpPr>
          <p:cNvPr id="11" name="Text 7"/>
          <p:cNvSpPr/>
          <p:nvPr/>
        </p:nvSpPr>
        <p:spPr>
          <a:xfrm>
            <a:off x="10241280" y="1764792"/>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Muy bajo</a:t>
            </a:r>
            <a:endParaRPr lang="en-US" sz="1000" dirty="0"/>
          </a:p>
        </p:txBody>
      </p:sp>
      <p:sp>
        <p:nvSpPr>
          <p:cNvPr id="12" name="Shape 8"/>
          <p:cNvSpPr/>
          <p:nvPr/>
        </p:nvSpPr>
        <p:spPr>
          <a:xfrm>
            <a:off x="8778240" y="2139696"/>
            <a:ext cx="128016" cy="128016"/>
          </a:xfrm>
          <a:prstGeom prst="ellipse">
            <a:avLst/>
          </a:prstGeom>
          <a:solidFill>
            <a:srgbClr val="60A5FA"/>
          </a:solidFill>
          <a:ln/>
        </p:spPr>
        <p:txBody>
          <a:bodyPr/>
          <a:lstStyle/>
          <a:p>
            <a:endParaRPr lang="es-PE"/>
          </a:p>
        </p:txBody>
      </p:sp>
      <p:sp>
        <p:nvSpPr>
          <p:cNvPr id="13" name="Text 9"/>
          <p:cNvSpPr/>
          <p:nvPr/>
        </p:nvSpPr>
        <p:spPr>
          <a:xfrm>
            <a:off x="8988552" y="2075688"/>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Solo S/500</a:t>
            </a:r>
            <a:endParaRPr lang="en-US" sz="1100" dirty="0"/>
          </a:p>
        </p:txBody>
      </p:sp>
      <p:sp>
        <p:nvSpPr>
          <p:cNvPr id="14" name="Text 10"/>
          <p:cNvSpPr/>
          <p:nvPr/>
        </p:nvSpPr>
        <p:spPr>
          <a:xfrm>
            <a:off x="10241280" y="2075688"/>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Exacto S/500</a:t>
            </a:r>
            <a:endParaRPr lang="en-US" sz="1000" dirty="0"/>
          </a:p>
        </p:txBody>
      </p:sp>
      <p:sp>
        <p:nvSpPr>
          <p:cNvPr id="15" name="Shape 11"/>
          <p:cNvSpPr/>
          <p:nvPr/>
        </p:nvSpPr>
        <p:spPr>
          <a:xfrm>
            <a:off x="8778240" y="2450592"/>
            <a:ext cx="128016" cy="128016"/>
          </a:xfrm>
          <a:prstGeom prst="ellipse">
            <a:avLst/>
          </a:prstGeom>
          <a:solidFill>
            <a:srgbClr val="F4B942"/>
          </a:solidFill>
          <a:ln/>
        </p:spPr>
        <p:txBody>
          <a:bodyPr/>
          <a:lstStyle/>
          <a:p>
            <a:endParaRPr lang="es-PE"/>
          </a:p>
        </p:txBody>
      </p:sp>
      <p:sp>
        <p:nvSpPr>
          <p:cNvPr id="16" name="Text 12"/>
          <p:cNvSpPr/>
          <p:nvPr/>
        </p:nvSpPr>
        <p:spPr>
          <a:xfrm>
            <a:off x="8988552" y="2386584"/>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Moderado</a:t>
            </a:r>
            <a:endParaRPr lang="en-US" sz="1100" dirty="0"/>
          </a:p>
        </p:txBody>
      </p:sp>
      <p:sp>
        <p:nvSpPr>
          <p:cNvPr id="17" name="Text 13"/>
          <p:cNvSpPr/>
          <p:nvPr/>
        </p:nvSpPr>
        <p:spPr>
          <a:xfrm>
            <a:off x="10241280" y="2386584"/>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S/501 – 5,000</a:t>
            </a:r>
            <a:endParaRPr lang="en-US" sz="1000" dirty="0"/>
          </a:p>
        </p:txBody>
      </p:sp>
      <p:sp>
        <p:nvSpPr>
          <p:cNvPr id="18" name="Shape 14"/>
          <p:cNvSpPr/>
          <p:nvPr/>
        </p:nvSpPr>
        <p:spPr>
          <a:xfrm>
            <a:off x="8778240" y="2761488"/>
            <a:ext cx="128016" cy="128016"/>
          </a:xfrm>
          <a:prstGeom prst="ellipse">
            <a:avLst/>
          </a:prstGeom>
          <a:solidFill>
            <a:srgbClr val="F2724B"/>
          </a:solidFill>
          <a:ln/>
        </p:spPr>
        <p:txBody>
          <a:bodyPr/>
          <a:lstStyle/>
          <a:p>
            <a:endParaRPr lang="es-PE"/>
          </a:p>
        </p:txBody>
      </p:sp>
      <p:sp>
        <p:nvSpPr>
          <p:cNvPr id="19" name="Text 15"/>
          <p:cNvSpPr/>
          <p:nvPr/>
        </p:nvSpPr>
        <p:spPr>
          <a:xfrm>
            <a:off x="8988552" y="2697480"/>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Alto</a:t>
            </a:r>
            <a:endParaRPr lang="en-US" sz="1100" dirty="0"/>
          </a:p>
        </p:txBody>
      </p:sp>
      <p:sp>
        <p:nvSpPr>
          <p:cNvPr id="20" name="Text 16"/>
          <p:cNvSpPr/>
          <p:nvPr/>
        </p:nvSpPr>
        <p:spPr>
          <a:xfrm>
            <a:off x="10241280" y="2697480"/>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S/5,001 – 20,000</a:t>
            </a:r>
            <a:endParaRPr lang="en-US" sz="1000" dirty="0"/>
          </a:p>
        </p:txBody>
      </p:sp>
      <p:sp>
        <p:nvSpPr>
          <p:cNvPr id="21" name="Shape 17"/>
          <p:cNvSpPr/>
          <p:nvPr/>
        </p:nvSpPr>
        <p:spPr>
          <a:xfrm>
            <a:off x="8778240" y="3072384"/>
            <a:ext cx="128016" cy="128016"/>
          </a:xfrm>
          <a:prstGeom prst="ellipse">
            <a:avLst/>
          </a:prstGeom>
          <a:solidFill>
            <a:srgbClr val="C0152F"/>
          </a:solidFill>
          <a:ln/>
        </p:spPr>
        <p:txBody>
          <a:bodyPr/>
          <a:lstStyle/>
          <a:p>
            <a:endParaRPr lang="es-PE"/>
          </a:p>
        </p:txBody>
      </p:sp>
      <p:sp>
        <p:nvSpPr>
          <p:cNvPr id="22" name="Text 18"/>
          <p:cNvSpPr/>
          <p:nvPr/>
        </p:nvSpPr>
        <p:spPr>
          <a:xfrm>
            <a:off x="8988552" y="3008376"/>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Crítico</a:t>
            </a:r>
            <a:endParaRPr lang="en-US" sz="1100" dirty="0"/>
          </a:p>
        </p:txBody>
      </p:sp>
      <p:sp>
        <p:nvSpPr>
          <p:cNvPr id="23" name="Text 19"/>
          <p:cNvSpPr/>
          <p:nvPr/>
        </p:nvSpPr>
        <p:spPr>
          <a:xfrm>
            <a:off x="10241280" y="3008376"/>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&gt; S/20,000</a:t>
            </a:r>
            <a:endParaRPr lang="en-US" sz="1000" dirty="0"/>
          </a:p>
        </p:txBody>
      </p:sp>
      <p:sp>
        <p:nvSpPr>
          <p:cNvPr id="24" name="Shape 20"/>
          <p:cNvSpPr/>
          <p:nvPr/>
        </p:nvSpPr>
        <p:spPr>
          <a:xfrm>
            <a:off x="8778240" y="3474720"/>
            <a:ext cx="2697480" cy="1005840"/>
          </a:xfrm>
          <a:prstGeom prst="rect">
            <a:avLst/>
          </a:prstGeom>
          <a:solidFill>
            <a:srgbClr val="1E2761"/>
          </a:solidFill>
          <a:ln/>
        </p:spPr>
        <p:txBody>
          <a:bodyPr/>
          <a:lstStyle/>
          <a:p>
            <a:endParaRPr lang="es-PE"/>
          </a:p>
        </p:txBody>
      </p:sp>
      <p:sp>
        <p:nvSpPr>
          <p:cNvPr id="25" name="Text 21"/>
          <p:cNvSpPr/>
          <p:nvPr/>
        </p:nvSpPr>
        <p:spPr>
          <a:xfrm>
            <a:off x="8961120" y="3575304"/>
            <a:ext cx="2377440" cy="219456"/>
          </a:xfrm>
          <a:prstGeom prst="rect">
            <a:avLst/>
          </a:prstGeom>
          <a:noFill/>
          <a:ln/>
        </p:spPr>
        <p:txBody>
          <a:bodyPr wrap="square" lIns="0" tIns="0" rIns="0" bIns="0" rtlCol="0" anchor="ctr"/>
          <a:lstStyle/>
          <a:p>
            <a:pPr marL="0" indent="0">
              <a:buNone/>
            </a:pPr>
            <a:r>
              <a:rPr lang="en-US" sz="850" b="1" kern="0" spc="100" dirty="0">
                <a:solidFill>
                  <a:srgbClr val="CADCFC"/>
                </a:solidFill>
                <a:latin typeface="Calibri" pitchFamily="34" charset="0"/>
                <a:ea typeface="Calibri" pitchFamily="34" charset="-122"/>
                <a:cs typeface="Calibri" pitchFamily="34" charset="-120"/>
              </a:rPr>
              <a:t>PICO CRÍTICO DEL MES (N.º CLIENTES)</a:t>
            </a:r>
            <a:endParaRPr lang="en-US" sz="850" dirty="0"/>
          </a:p>
        </p:txBody>
      </p:sp>
      <p:sp>
        <p:nvSpPr>
          <p:cNvPr id="26" name="Text 22"/>
          <p:cNvSpPr/>
          <p:nvPr/>
        </p:nvSpPr>
        <p:spPr>
          <a:xfrm>
            <a:off x="8961120" y="3776472"/>
            <a:ext cx="237744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4 clientes</a:t>
            </a:r>
            <a:endParaRPr lang="en-US" sz="1900" dirty="0"/>
          </a:p>
        </p:txBody>
      </p:sp>
      <p:sp>
        <p:nvSpPr>
          <p:cNvPr id="27" name="Text 23"/>
          <p:cNvSpPr/>
          <p:nvPr/>
        </p:nvSpPr>
        <p:spPr>
          <a:xfrm>
            <a:off x="8961120" y="4160520"/>
            <a:ext cx="2377440" cy="292608"/>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retiraron &gt; S/20,000 el 25-Jun</a:t>
            </a:r>
            <a:endParaRPr lang="en-US" sz="1000" dirty="0"/>
          </a:p>
        </p:txBody>
      </p:sp>
      <p:sp>
        <p:nvSpPr>
          <p:cNvPr id="28" name="Shape 24"/>
          <p:cNvSpPr/>
          <p:nvPr/>
        </p:nvSpPr>
        <p:spPr>
          <a:xfrm>
            <a:off x="8778240" y="4617720"/>
            <a:ext cx="2697480" cy="1005840"/>
          </a:xfrm>
          <a:prstGeom prst="rect">
            <a:avLst/>
          </a:prstGeom>
          <a:solidFill>
            <a:srgbClr val="8C1226"/>
          </a:solidFill>
          <a:ln/>
        </p:spPr>
        <p:txBody>
          <a:bodyPr/>
          <a:lstStyle/>
          <a:p>
            <a:endParaRPr lang="es-PE"/>
          </a:p>
        </p:txBody>
      </p:sp>
      <p:sp>
        <p:nvSpPr>
          <p:cNvPr id="29" name="Text 25"/>
          <p:cNvSpPr/>
          <p:nvPr/>
        </p:nvSpPr>
        <p:spPr>
          <a:xfrm>
            <a:off x="8961120" y="4718304"/>
            <a:ext cx="2377440" cy="219456"/>
          </a:xfrm>
          <a:prstGeom prst="rect">
            <a:avLst/>
          </a:prstGeom>
          <a:noFill/>
          <a:ln/>
        </p:spPr>
        <p:txBody>
          <a:bodyPr wrap="square" lIns="0" tIns="0" rIns="0" bIns="0" rtlCol="0" anchor="ctr"/>
          <a:lstStyle/>
          <a:p>
            <a:pPr marL="0" indent="0">
              <a:buNone/>
            </a:pPr>
            <a:r>
              <a:rPr lang="en-US" sz="850" b="1" kern="0" spc="100" dirty="0">
                <a:solidFill>
                  <a:srgbClr val="F4C4CE"/>
                </a:solidFill>
                <a:latin typeface="Calibri" pitchFamily="34" charset="0"/>
                <a:ea typeface="Calibri" pitchFamily="34" charset="-122"/>
                <a:cs typeface="Calibri" pitchFamily="34" charset="-120"/>
              </a:rPr>
              <a:t>MAYOR FUGA MONETARIA DEL MES</a:t>
            </a:r>
            <a:endParaRPr lang="en-US" sz="850" dirty="0"/>
          </a:p>
        </p:txBody>
      </p:sp>
      <p:sp>
        <p:nvSpPr>
          <p:cNvPr id="30" name="Text 26"/>
          <p:cNvSpPr/>
          <p:nvPr/>
        </p:nvSpPr>
        <p:spPr>
          <a:xfrm>
            <a:off x="8961120" y="4919472"/>
            <a:ext cx="237744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 294,436</a:t>
            </a:r>
            <a:endParaRPr lang="en-US" sz="1900" dirty="0"/>
          </a:p>
        </p:txBody>
      </p:sp>
      <p:sp>
        <p:nvSpPr>
          <p:cNvPr id="31" name="Text 27"/>
          <p:cNvSpPr/>
          <p:nvPr/>
        </p:nvSpPr>
        <p:spPr>
          <a:xfrm>
            <a:off x="8961120" y="5303520"/>
            <a:ext cx="2377440" cy="292608"/>
          </a:xfrm>
          <a:prstGeom prst="rect">
            <a:avLst/>
          </a:prstGeom>
          <a:noFill/>
          <a:ln/>
        </p:spPr>
        <p:txBody>
          <a:bodyPr wrap="square" lIns="0" tIns="0" rIns="0" bIns="0" rtlCol="0" anchor="ctr"/>
          <a:lstStyle/>
          <a:p>
            <a:pPr marL="0" indent="0">
              <a:buNone/>
            </a:pPr>
            <a:r>
              <a:rPr lang="en-US" sz="1000" dirty="0">
                <a:solidFill>
                  <a:srgbClr val="F4C4CE"/>
                </a:solidFill>
                <a:latin typeface="Calibri" pitchFamily="34" charset="0"/>
                <a:ea typeface="Calibri" pitchFamily="34" charset="-122"/>
                <a:cs typeface="Calibri" pitchFamily="34" charset="-120"/>
              </a:rPr>
              <a:t>retirados en total el 30-Jun</a:t>
            </a:r>
            <a:endParaRPr lang="en-US" sz="1000" dirty="0"/>
          </a:p>
        </p:txBody>
      </p:sp>
      <p:sp>
        <p:nvSpPr>
          <p:cNvPr id="32" name="Text 28"/>
          <p:cNvSpPr/>
          <p:nvPr/>
        </p:nvSpPr>
        <p:spPr>
          <a:xfrm>
            <a:off x="8778240" y="5806440"/>
            <a:ext cx="2743200"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 4,347,716 </a:t>
            </a:r>
            <a:r>
              <a:rPr lang="en-US" sz="950" dirty="0">
                <a:solidFill>
                  <a:srgbClr val="6B7280"/>
                </a:solidFill>
                <a:latin typeface="Calibri" pitchFamily="34" charset="0"/>
                <a:ea typeface="Calibri" pitchFamily="34" charset="-122"/>
                <a:cs typeface="Calibri" pitchFamily="34" charset="-120"/>
              </a:rPr>
              <a:t>retirados en total durante Junio 2026</a:t>
            </a:r>
            <a:endParaRPr lang="en-US" sz="1300" dirty="0"/>
          </a:p>
        </p:txBody>
      </p:sp>
    </p:spTree>
    <p:extLst>
      <p:ext uri="{BB962C8B-B14F-4D97-AF65-F5344CB8AC3E}">
        <p14:creationId xmlns:p14="http://schemas.microsoft.com/office/powerpoint/2010/main" val="3642205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600" b="1" dirty="0">
                <a:solidFill>
                  <a:srgbClr val="212121"/>
                </a:solidFill>
                <a:latin typeface="Cambria" pitchFamily="34" charset="0"/>
                <a:ea typeface="Cambria" pitchFamily="34" charset="-122"/>
                <a:cs typeface="Cambria" pitchFamily="34" charset="-120"/>
              </a:rPr>
              <a:t>Línea de tiempo de retiros — </a:t>
            </a:r>
            <a:r>
              <a:rPr lang="en-US" sz="2600" b="1" dirty="0">
                <a:solidFill>
                  <a:srgbClr val="1E2761"/>
                </a:solidFill>
                <a:latin typeface="Cambria" pitchFamily="34" charset="0"/>
                <a:ea typeface="Cambria" pitchFamily="34" charset="-122"/>
                <a:cs typeface="Cambria" pitchFamily="34" charset="-120"/>
              </a:rPr>
              <a:t>Julio 2026</a:t>
            </a:r>
            <a:endParaRPr lang="en-US" sz="2600" dirty="0"/>
          </a:p>
        </p:txBody>
      </p:sp>
      <p:sp>
        <p:nvSpPr>
          <p:cNvPr id="3" name="Text 1"/>
          <p:cNvSpPr/>
          <p:nvPr/>
        </p:nvSpPr>
        <p:spPr>
          <a:xfrm>
            <a:off x="457200" y="822960"/>
            <a:ext cx="1124712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Cantidad de clientes que retiraron dinero por día, agrupados por monto retirado (S/)</a:t>
            </a:r>
            <a:endParaRPr lang="en-US" sz="1300" dirty="0"/>
          </a:p>
        </p:txBody>
      </p:sp>
      <p:graphicFrame>
        <p:nvGraphicFramePr>
          <p:cNvPr id="4" name="Chart 0"/>
          <p:cNvGraphicFramePr/>
          <p:nvPr/>
        </p:nvGraphicFramePr>
        <p:xfrm>
          <a:off x="457200" y="1234440"/>
          <a:ext cx="78638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4645152"/>
            <a:ext cx="7863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Usuarios únicos por rango en el mes</a:t>
            </a:r>
            <a:endParaRPr lang="en-US" sz="1200" dirty="0"/>
          </a:p>
        </p:txBody>
      </p:sp>
      <p:graphicFrame>
        <p:nvGraphicFramePr>
          <p:cNvPr id="6" name="Chart 1"/>
          <p:cNvGraphicFramePr/>
          <p:nvPr/>
        </p:nvGraphicFramePr>
        <p:xfrm>
          <a:off x="320040" y="4937760"/>
          <a:ext cx="8138160" cy="14173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8549640" y="1280160"/>
            <a:ext cx="3154680" cy="5029200"/>
          </a:xfrm>
          <a:prstGeom prst="rect">
            <a:avLst/>
          </a:prstGeom>
          <a:solidFill>
            <a:srgbClr val="F7F8FC"/>
          </a:solidFill>
          <a:ln/>
        </p:spPr>
        <p:txBody>
          <a:bodyPr/>
          <a:lstStyle/>
          <a:p>
            <a:endParaRPr lang="es-PE"/>
          </a:p>
        </p:txBody>
      </p:sp>
      <p:sp>
        <p:nvSpPr>
          <p:cNvPr id="8" name="Text 4"/>
          <p:cNvSpPr/>
          <p:nvPr/>
        </p:nvSpPr>
        <p:spPr>
          <a:xfrm>
            <a:off x="8778240" y="1463040"/>
            <a:ext cx="27432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Rangos de retiro</a:t>
            </a:r>
            <a:endParaRPr lang="en-US" sz="1400" dirty="0"/>
          </a:p>
        </p:txBody>
      </p:sp>
      <p:sp>
        <p:nvSpPr>
          <p:cNvPr id="9" name="Shape 5"/>
          <p:cNvSpPr/>
          <p:nvPr/>
        </p:nvSpPr>
        <p:spPr>
          <a:xfrm>
            <a:off x="8778240" y="1828800"/>
            <a:ext cx="128016" cy="128016"/>
          </a:xfrm>
          <a:prstGeom prst="ellipse">
            <a:avLst/>
          </a:prstGeom>
          <a:solidFill>
            <a:srgbClr val="9CA3AF"/>
          </a:solidFill>
          <a:ln/>
        </p:spPr>
        <p:txBody>
          <a:bodyPr/>
          <a:lstStyle/>
          <a:p>
            <a:endParaRPr lang="es-PE"/>
          </a:p>
        </p:txBody>
      </p:sp>
      <p:sp>
        <p:nvSpPr>
          <p:cNvPr id="10" name="Text 6"/>
          <p:cNvSpPr/>
          <p:nvPr/>
        </p:nvSpPr>
        <p:spPr>
          <a:xfrm>
            <a:off x="8988552" y="1764792"/>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&lt; S/500</a:t>
            </a:r>
            <a:endParaRPr lang="en-US" sz="1100" dirty="0"/>
          </a:p>
        </p:txBody>
      </p:sp>
      <p:sp>
        <p:nvSpPr>
          <p:cNvPr id="11" name="Text 7"/>
          <p:cNvSpPr/>
          <p:nvPr/>
        </p:nvSpPr>
        <p:spPr>
          <a:xfrm>
            <a:off x="10241280" y="1764792"/>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Muy bajo</a:t>
            </a:r>
            <a:endParaRPr lang="en-US" sz="1000" dirty="0"/>
          </a:p>
        </p:txBody>
      </p:sp>
      <p:sp>
        <p:nvSpPr>
          <p:cNvPr id="12" name="Shape 8"/>
          <p:cNvSpPr/>
          <p:nvPr/>
        </p:nvSpPr>
        <p:spPr>
          <a:xfrm>
            <a:off x="8778240" y="2139696"/>
            <a:ext cx="128016" cy="128016"/>
          </a:xfrm>
          <a:prstGeom prst="ellipse">
            <a:avLst/>
          </a:prstGeom>
          <a:solidFill>
            <a:srgbClr val="60A5FA"/>
          </a:solidFill>
          <a:ln/>
        </p:spPr>
        <p:txBody>
          <a:bodyPr/>
          <a:lstStyle/>
          <a:p>
            <a:endParaRPr lang="es-PE"/>
          </a:p>
        </p:txBody>
      </p:sp>
      <p:sp>
        <p:nvSpPr>
          <p:cNvPr id="13" name="Text 9"/>
          <p:cNvSpPr/>
          <p:nvPr/>
        </p:nvSpPr>
        <p:spPr>
          <a:xfrm>
            <a:off x="8988552" y="2075688"/>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Solo S/500</a:t>
            </a:r>
            <a:endParaRPr lang="en-US" sz="1100" dirty="0"/>
          </a:p>
        </p:txBody>
      </p:sp>
      <p:sp>
        <p:nvSpPr>
          <p:cNvPr id="14" name="Text 10"/>
          <p:cNvSpPr/>
          <p:nvPr/>
        </p:nvSpPr>
        <p:spPr>
          <a:xfrm>
            <a:off x="10241280" y="2075688"/>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Exacto S/500</a:t>
            </a:r>
            <a:endParaRPr lang="en-US" sz="1000" dirty="0"/>
          </a:p>
        </p:txBody>
      </p:sp>
      <p:sp>
        <p:nvSpPr>
          <p:cNvPr id="15" name="Shape 11"/>
          <p:cNvSpPr/>
          <p:nvPr/>
        </p:nvSpPr>
        <p:spPr>
          <a:xfrm>
            <a:off x="8778240" y="2450592"/>
            <a:ext cx="128016" cy="128016"/>
          </a:xfrm>
          <a:prstGeom prst="ellipse">
            <a:avLst/>
          </a:prstGeom>
          <a:solidFill>
            <a:srgbClr val="F4B942"/>
          </a:solidFill>
          <a:ln/>
        </p:spPr>
        <p:txBody>
          <a:bodyPr/>
          <a:lstStyle/>
          <a:p>
            <a:endParaRPr lang="es-PE"/>
          </a:p>
        </p:txBody>
      </p:sp>
      <p:sp>
        <p:nvSpPr>
          <p:cNvPr id="16" name="Text 12"/>
          <p:cNvSpPr/>
          <p:nvPr/>
        </p:nvSpPr>
        <p:spPr>
          <a:xfrm>
            <a:off x="8988552" y="2386584"/>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Moderado</a:t>
            </a:r>
            <a:endParaRPr lang="en-US" sz="1100" dirty="0"/>
          </a:p>
        </p:txBody>
      </p:sp>
      <p:sp>
        <p:nvSpPr>
          <p:cNvPr id="17" name="Text 13"/>
          <p:cNvSpPr/>
          <p:nvPr/>
        </p:nvSpPr>
        <p:spPr>
          <a:xfrm>
            <a:off x="10241280" y="2386584"/>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S/501 – 5,000</a:t>
            </a:r>
            <a:endParaRPr lang="en-US" sz="1000" dirty="0"/>
          </a:p>
        </p:txBody>
      </p:sp>
      <p:sp>
        <p:nvSpPr>
          <p:cNvPr id="18" name="Shape 14"/>
          <p:cNvSpPr/>
          <p:nvPr/>
        </p:nvSpPr>
        <p:spPr>
          <a:xfrm>
            <a:off x="8778240" y="2761488"/>
            <a:ext cx="128016" cy="128016"/>
          </a:xfrm>
          <a:prstGeom prst="ellipse">
            <a:avLst/>
          </a:prstGeom>
          <a:solidFill>
            <a:srgbClr val="F2724B"/>
          </a:solidFill>
          <a:ln/>
        </p:spPr>
        <p:txBody>
          <a:bodyPr/>
          <a:lstStyle/>
          <a:p>
            <a:endParaRPr lang="es-PE"/>
          </a:p>
        </p:txBody>
      </p:sp>
      <p:sp>
        <p:nvSpPr>
          <p:cNvPr id="19" name="Text 15"/>
          <p:cNvSpPr/>
          <p:nvPr/>
        </p:nvSpPr>
        <p:spPr>
          <a:xfrm>
            <a:off x="8988552" y="2697480"/>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Alto</a:t>
            </a:r>
            <a:endParaRPr lang="en-US" sz="1100" dirty="0"/>
          </a:p>
        </p:txBody>
      </p:sp>
      <p:sp>
        <p:nvSpPr>
          <p:cNvPr id="20" name="Text 16"/>
          <p:cNvSpPr/>
          <p:nvPr/>
        </p:nvSpPr>
        <p:spPr>
          <a:xfrm>
            <a:off x="10241280" y="2697480"/>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S/5,001 – 20,000</a:t>
            </a:r>
            <a:endParaRPr lang="en-US" sz="1000" dirty="0"/>
          </a:p>
        </p:txBody>
      </p:sp>
      <p:sp>
        <p:nvSpPr>
          <p:cNvPr id="21" name="Shape 17"/>
          <p:cNvSpPr/>
          <p:nvPr/>
        </p:nvSpPr>
        <p:spPr>
          <a:xfrm>
            <a:off x="8778240" y="3072384"/>
            <a:ext cx="128016" cy="128016"/>
          </a:xfrm>
          <a:prstGeom prst="ellipse">
            <a:avLst/>
          </a:prstGeom>
          <a:solidFill>
            <a:srgbClr val="C0152F"/>
          </a:solidFill>
          <a:ln/>
        </p:spPr>
        <p:txBody>
          <a:bodyPr/>
          <a:lstStyle/>
          <a:p>
            <a:endParaRPr lang="es-PE"/>
          </a:p>
        </p:txBody>
      </p:sp>
      <p:sp>
        <p:nvSpPr>
          <p:cNvPr id="22" name="Text 18"/>
          <p:cNvSpPr/>
          <p:nvPr/>
        </p:nvSpPr>
        <p:spPr>
          <a:xfrm>
            <a:off x="8988552" y="3008376"/>
            <a:ext cx="1234440" cy="237744"/>
          </a:xfrm>
          <a:prstGeom prst="rect">
            <a:avLst/>
          </a:prstGeom>
          <a:noFill/>
          <a:ln/>
        </p:spPr>
        <p:txBody>
          <a:bodyPr wrap="square" lIns="0" tIns="0" rIns="0" bIns="0"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Crítico</a:t>
            </a:r>
            <a:endParaRPr lang="en-US" sz="1100" dirty="0"/>
          </a:p>
        </p:txBody>
      </p:sp>
      <p:sp>
        <p:nvSpPr>
          <p:cNvPr id="23" name="Text 19"/>
          <p:cNvSpPr/>
          <p:nvPr/>
        </p:nvSpPr>
        <p:spPr>
          <a:xfrm>
            <a:off x="10241280" y="3008376"/>
            <a:ext cx="1417320" cy="237744"/>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&gt; S/20,000</a:t>
            </a:r>
            <a:endParaRPr lang="en-US" sz="1000" dirty="0"/>
          </a:p>
        </p:txBody>
      </p:sp>
      <p:sp>
        <p:nvSpPr>
          <p:cNvPr id="24" name="Shape 20"/>
          <p:cNvSpPr/>
          <p:nvPr/>
        </p:nvSpPr>
        <p:spPr>
          <a:xfrm>
            <a:off x="8778240" y="3474720"/>
            <a:ext cx="2697480" cy="1005840"/>
          </a:xfrm>
          <a:prstGeom prst="rect">
            <a:avLst/>
          </a:prstGeom>
          <a:solidFill>
            <a:srgbClr val="1E2761"/>
          </a:solidFill>
          <a:ln/>
        </p:spPr>
        <p:txBody>
          <a:bodyPr/>
          <a:lstStyle/>
          <a:p>
            <a:endParaRPr lang="es-PE"/>
          </a:p>
        </p:txBody>
      </p:sp>
      <p:sp>
        <p:nvSpPr>
          <p:cNvPr id="25" name="Text 21"/>
          <p:cNvSpPr/>
          <p:nvPr/>
        </p:nvSpPr>
        <p:spPr>
          <a:xfrm>
            <a:off x="8961120" y="3575304"/>
            <a:ext cx="2377440" cy="219456"/>
          </a:xfrm>
          <a:prstGeom prst="rect">
            <a:avLst/>
          </a:prstGeom>
          <a:noFill/>
          <a:ln/>
        </p:spPr>
        <p:txBody>
          <a:bodyPr wrap="square" lIns="0" tIns="0" rIns="0" bIns="0" rtlCol="0" anchor="ctr"/>
          <a:lstStyle/>
          <a:p>
            <a:pPr marL="0" indent="0">
              <a:buNone/>
            </a:pPr>
            <a:r>
              <a:rPr lang="en-US" sz="850" b="1" kern="0" spc="100" dirty="0">
                <a:solidFill>
                  <a:srgbClr val="CADCFC"/>
                </a:solidFill>
                <a:latin typeface="Calibri" pitchFamily="34" charset="0"/>
                <a:ea typeface="Calibri" pitchFamily="34" charset="-122"/>
                <a:cs typeface="Calibri" pitchFamily="34" charset="-120"/>
              </a:rPr>
              <a:t>PICO CRÍTICO DEL MES (N.º CLIENTES)</a:t>
            </a:r>
            <a:endParaRPr lang="en-US" sz="850" dirty="0"/>
          </a:p>
        </p:txBody>
      </p:sp>
      <p:sp>
        <p:nvSpPr>
          <p:cNvPr id="26" name="Text 22"/>
          <p:cNvSpPr/>
          <p:nvPr/>
        </p:nvSpPr>
        <p:spPr>
          <a:xfrm>
            <a:off x="8961120" y="3776472"/>
            <a:ext cx="237744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2 clientes</a:t>
            </a:r>
            <a:endParaRPr lang="en-US" sz="1900" dirty="0"/>
          </a:p>
        </p:txBody>
      </p:sp>
      <p:sp>
        <p:nvSpPr>
          <p:cNvPr id="27" name="Text 23"/>
          <p:cNvSpPr/>
          <p:nvPr/>
        </p:nvSpPr>
        <p:spPr>
          <a:xfrm>
            <a:off x="8961120" y="4160520"/>
            <a:ext cx="2377440" cy="292608"/>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retiraron &gt; S/20,000 el 9-Jul</a:t>
            </a:r>
            <a:endParaRPr lang="en-US" sz="1000" dirty="0"/>
          </a:p>
        </p:txBody>
      </p:sp>
      <p:sp>
        <p:nvSpPr>
          <p:cNvPr id="28" name="Shape 24"/>
          <p:cNvSpPr/>
          <p:nvPr/>
        </p:nvSpPr>
        <p:spPr>
          <a:xfrm>
            <a:off x="8778240" y="4617720"/>
            <a:ext cx="2697480" cy="1005840"/>
          </a:xfrm>
          <a:prstGeom prst="rect">
            <a:avLst/>
          </a:prstGeom>
          <a:solidFill>
            <a:srgbClr val="8C1226"/>
          </a:solidFill>
          <a:ln/>
        </p:spPr>
        <p:txBody>
          <a:bodyPr/>
          <a:lstStyle/>
          <a:p>
            <a:endParaRPr lang="es-PE"/>
          </a:p>
        </p:txBody>
      </p:sp>
      <p:sp>
        <p:nvSpPr>
          <p:cNvPr id="29" name="Text 25"/>
          <p:cNvSpPr/>
          <p:nvPr/>
        </p:nvSpPr>
        <p:spPr>
          <a:xfrm>
            <a:off x="8961120" y="4718304"/>
            <a:ext cx="2377440" cy="219456"/>
          </a:xfrm>
          <a:prstGeom prst="rect">
            <a:avLst/>
          </a:prstGeom>
          <a:noFill/>
          <a:ln/>
        </p:spPr>
        <p:txBody>
          <a:bodyPr wrap="square" lIns="0" tIns="0" rIns="0" bIns="0" rtlCol="0" anchor="ctr"/>
          <a:lstStyle/>
          <a:p>
            <a:pPr marL="0" indent="0">
              <a:buNone/>
            </a:pPr>
            <a:r>
              <a:rPr lang="en-US" sz="850" b="1" kern="0" spc="100" dirty="0">
                <a:solidFill>
                  <a:srgbClr val="F4C4CE"/>
                </a:solidFill>
                <a:latin typeface="Calibri" pitchFamily="34" charset="0"/>
                <a:ea typeface="Calibri" pitchFamily="34" charset="-122"/>
                <a:cs typeface="Calibri" pitchFamily="34" charset="-120"/>
              </a:rPr>
              <a:t>MAYOR FUGA MONETARIA DEL MES</a:t>
            </a:r>
            <a:endParaRPr lang="en-US" sz="850" dirty="0"/>
          </a:p>
        </p:txBody>
      </p:sp>
      <p:sp>
        <p:nvSpPr>
          <p:cNvPr id="30" name="Text 26"/>
          <p:cNvSpPr/>
          <p:nvPr/>
        </p:nvSpPr>
        <p:spPr>
          <a:xfrm>
            <a:off x="8961120" y="4919472"/>
            <a:ext cx="237744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 130,384</a:t>
            </a:r>
            <a:endParaRPr lang="en-US" sz="1900" dirty="0"/>
          </a:p>
        </p:txBody>
      </p:sp>
      <p:sp>
        <p:nvSpPr>
          <p:cNvPr id="31" name="Text 27"/>
          <p:cNvSpPr/>
          <p:nvPr/>
        </p:nvSpPr>
        <p:spPr>
          <a:xfrm>
            <a:off x="8961120" y="5303520"/>
            <a:ext cx="2377440" cy="292608"/>
          </a:xfrm>
          <a:prstGeom prst="rect">
            <a:avLst/>
          </a:prstGeom>
          <a:noFill/>
          <a:ln/>
        </p:spPr>
        <p:txBody>
          <a:bodyPr wrap="square" lIns="0" tIns="0" rIns="0" bIns="0" rtlCol="0" anchor="ctr"/>
          <a:lstStyle/>
          <a:p>
            <a:pPr marL="0" indent="0">
              <a:buNone/>
            </a:pPr>
            <a:r>
              <a:rPr lang="en-US" sz="1000" dirty="0">
                <a:solidFill>
                  <a:srgbClr val="F4C4CE"/>
                </a:solidFill>
                <a:latin typeface="Calibri" pitchFamily="34" charset="0"/>
                <a:ea typeface="Calibri" pitchFamily="34" charset="-122"/>
                <a:cs typeface="Calibri" pitchFamily="34" charset="-120"/>
              </a:rPr>
              <a:t>retirados en total el 24-Jul</a:t>
            </a:r>
            <a:endParaRPr lang="en-US" sz="1000" dirty="0"/>
          </a:p>
        </p:txBody>
      </p:sp>
      <p:sp>
        <p:nvSpPr>
          <p:cNvPr id="32" name="Text 28"/>
          <p:cNvSpPr/>
          <p:nvPr/>
        </p:nvSpPr>
        <p:spPr>
          <a:xfrm>
            <a:off x="8778240" y="5806440"/>
            <a:ext cx="2743200"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 1,499,370 </a:t>
            </a:r>
            <a:r>
              <a:rPr lang="en-US" sz="950" dirty="0">
                <a:solidFill>
                  <a:srgbClr val="6B7280"/>
                </a:solidFill>
                <a:latin typeface="Calibri" pitchFamily="34" charset="0"/>
                <a:ea typeface="Calibri" pitchFamily="34" charset="-122"/>
                <a:cs typeface="Calibri" pitchFamily="34" charset="-120"/>
              </a:rPr>
              <a:t>retirados en total durante Julio 2026</a:t>
            </a:r>
            <a:endParaRPr lang="en-US" sz="1300" dirty="0"/>
          </a:p>
        </p:txBody>
      </p:sp>
    </p:spTree>
    <p:extLst>
      <p:ext uri="{BB962C8B-B14F-4D97-AF65-F5344CB8AC3E}">
        <p14:creationId xmlns:p14="http://schemas.microsoft.com/office/powerpoint/2010/main" val="3775299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200" b="1" kern="0" spc="150">
                <a:solidFill>
                  <a:srgbClr val="C9A15A"/>
                </a:solidFill>
                <a:latin typeface="Calibri" pitchFamily="34" charset="0"/>
                <a:ea typeface="Calibri" pitchFamily="34" charset="-122"/>
                <a:cs typeface="Calibri" pitchFamily="34" charset="-120"/>
              </a:rPr>
              <a:t>SÍNTESIS CUALITATIVA</a:t>
            </a:r>
            <a:endParaRPr lang="en-US" sz="1200"/>
          </a:p>
        </p:txBody>
      </p:sp>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Los dos rostros de la fuga de ahorros</a:t>
            </a:r>
            <a:endParaRPr lang="en-US" sz="2600"/>
          </a:p>
        </p:txBody>
      </p:sp>
      <p:sp>
        <p:nvSpPr>
          <p:cNvPr id="4" name="Text 2"/>
          <p:cNvSpPr/>
          <p:nvPr/>
        </p:nvSpPr>
        <p:spPr>
          <a:xfrm>
            <a:off x="548640" y="1298448"/>
            <a:ext cx="11064240" cy="457200"/>
          </a:xfrm>
          <a:prstGeom prst="rect">
            <a:avLst/>
          </a:prstGeom>
          <a:noFill/>
          <a:ln/>
        </p:spPr>
        <p:txBody>
          <a:bodyPr wrap="square" rtlCol="0" anchor="ctr"/>
          <a:lstStyle/>
          <a:p>
            <a:pPr marL="0" indent="0" algn="l">
              <a:buNone/>
            </a:pPr>
            <a:r>
              <a:rPr lang="en-US" sz="1400">
                <a:solidFill>
                  <a:srgbClr val="C7D0E3"/>
                </a:solidFill>
                <a:latin typeface="Calibri" pitchFamily="34" charset="0"/>
                <a:ea typeface="Calibri" pitchFamily="34" charset="-122"/>
                <a:cs typeface="Calibri" pitchFamily="34" charset="-120"/>
              </a:rPr>
              <a:t>145 clientes de la encuesta transfirieron parte de sus ahorros en junio–julio. El destino cambia todo el patrón de riesgo.</a:t>
            </a:r>
            <a:endParaRPr lang="en-US" sz="1400"/>
          </a:p>
        </p:txBody>
      </p:sp>
      <p:sp>
        <p:nvSpPr>
          <p:cNvPr id="5" name="Shape 3"/>
          <p:cNvSpPr/>
          <p:nvPr/>
        </p:nvSpPr>
        <p:spPr>
          <a:xfrm>
            <a:off x="822960" y="2286000"/>
            <a:ext cx="5212080" cy="3977640"/>
          </a:xfrm>
          <a:prstGeom prst="roundRect">
            <a:avLst>
              <a:gd name="adj" fmla="val 2299"/>
            </a:avLst>
          </a:prstGeom>
          <a:solidFill>
            <a:srgbClr val="232C6E"/>
          </a:solidFill>
          <a:ln/>
        </p:spPr>
        <p:txBody>
          <a:bodyPr/>
          <a:lstStyle/>
          <a:p>
            <a:endParaRPr lang="es-PE"/>
          </a:p>
        </p:txBody>
      </p:sp>
      <p:sp>
        <p:nvSpPr>
          <p:cNvPr id="6" name="Text 4"/>
          <p:cNvSpPr/>
          <p:nvPr/>
        </p:nvSpPr>
        <p:spPr>
          <a:xfrm>
            <a:off x="1143000" y="2542032"/>
            <a:ext cx="4572000" cy="365760"/>
          </a:xfrm>
          <a:prstGeom prst="rect">
            <a:avLst/>
          </a:prstGeom>
          <a:noFill/>
          <a:ln/>
        </p:spPr>
        <p:txBody>
          <a:bodyPr wrap="square" rtlCol="0" anchor="ctr"/>
          <a:lstStyle/>
          <a:p>
            <a:pPr marL="0" indent="0">
              <a:buNone/>
            </a:pPr>
            <a:r>
              <a:rPr lang="en-US" sz="1700" b="1">
                <a:solidFill>
                  <a:srgbClr val="3D5A99"/>
                </a:solidFill>
                <a:latin typeface="Calibri" pitchFamily="34" charset="0"/>
                <a:ea typeface="Calibri" pitchFamily="34" charset="-122"/>
                <a:cs typeface="Calibri" pitchFamily="34" charset="-120"/>
              </a:rPr>
              <a:t>BANCOS GRANDES</a:t>
            </a:r>
            <a:endParaRPr lang="en-US" sz="1700"/>
          </a:p>
        </p:txBody>
      </p:sp>
      <p:sp>
        <p:nvSpPr>
          <p:cNvPr id="7" name="Text 5"/>
          <p:cNvSpPr/>
          <p:nvPr/>
        </p:nvSpPr>
        <p:spPr>
          <a:xfrm>
            <a:off x="1143000" y="2907792"/>
            <a:ext cx="4572000" cy="274320"/>
          </a:xfrm>
          <a:prstGeom prst="rect">
            <a:avLst/>
          </a:prstGeom>
          <a:noFill/>
          <a:ln/>
        </p:spPr>
        <p:txBody>
          <a:bodyPr wrap="square" rtlCol="0" anchor="ctr"/>
          <a:lstStyle/>
          <a:p>
            <a:pPr marL="0" indent="0">
              <a:buNone/>
            </a:pPr>
            <a:r>
              <a:rPr lang="en-US" sz="1050">
                <a:solidFill>
                  <a:srgbClr val="C7D0E3"/>
                </a:solidFill>
                <a:latin typeface="Calibri" pitchFamily="34" charset="0"/>
                <a:ea typeface="Calibri" pitchFamily="34" charset="-122"/>
                <a:cs typeface="Calibri" pitchFamily="34" charset="-120"/>
              </a:rPr>
              <a:t>BCP · BBVA · Scotiabank · Interbank</a:t>
            </a:r>
            <a:endParaRPr lang="en-US" sz="1050"/>
          </a:p>
        </p:txBody>
      </p:sp>
      <p:sp>
        <p:nvSpPr>
          <p:cNvPr id="8" name="Text 6"/>
          <p:cNvSpPr/>
          <p:nvPr/>
        </p:nvSpPr>
        <p:spPr>
          <a:xfrm>
            <a:off x="1143000" y="3337560"/>
            <a:ext cx="1554480" cy="5029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64</a:t>
            </a:r>
            <a:endParaRPr lang="en-US" sz="2600"/>
          </a:p>
        </p:txBody>
      </p:sp>
      <p:sp>
        <p:nvSpPr>
          <p:cNvPr id="9" name="Text 7"/>
          <p:cNvSpPr/>
          <p:nvPr/>
        </p:nvSpPr>
        <p:spPr>
          <a:xfrm>
            <a:off x="1143000" y="3822192"/>
            <a:ext cx="1554480" cy="274320"/>
          </a:xfrm>
          <a:prstGeom prst="rect">
            <a:avLst/>
          </a:prstGeom>
          <a:noFill/>
          <a:ln/>
        </p:spPr>
        <p:txBody>
          <a:bodyPr wrap="square" rtlCol="0" anchor="ctr"/>
          <a:lstStyle/>
          <a:p>
            <a:pPr marL="0" indent="0">
              <a:buNone/>
            </a:pPr>
            <a:r>
              <a:rPr lang="en-US" sz="950">
                <a:solidFill>
                  <a:srgbClr val="C7D0E3"/>
                </a:solidFill>
                <a:latin typeface="Calibri" pitchFamily="34" charset="0"/>
                <a:ea typeface="Calibri" pitchFamily="34" charset="-122"/>
                <a:cs typeface="Calibri" pitchFamily="34" charset="-120"/>
              </a:rPr>
              <a:t>clientes</a:t>
            </a:r>
            <a:endParaRPr lang="en-US" sz="950"/>
          </a:p>
        </p:txBody>
      </p:sp>
      <p:sp>
        <p:nvSpPr>
          <p:cNvPr id="10" name="Text 8"/>
          <p:cNvSpPr/>
          <p:nvPr/>
        </p:nvSpPr>
        <p:spPr>
          <a:xfrm>
            <a:off x="2743200" y="3337560"/>
            <a:ext cx="2926080" cy="5029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S/ 542 mil</a:t>
            </a:r>
            <a:endParaRPr lang="en-US" sz="2600"/>
          </a:p>
        </p:txBody>
      </p:sp>
      <p:sp>
        <p:nvSpPr>
          <p:cNvPr id="11" name="Text 9"/>
          <p:cNvSpPr/>
          <p:nvPr/>
        </p:nvSpPr>
        <p:spPr>
          <a:xfrm>
            <a:off x="2743200" y="3822192"/>
            <a:ext cx="3108960" cy="274320"/>
          </a:xfrm>
          <a:prstGeom prst="rect">
            <a:avLst/>
          </a:prstGeom>
          <a:noFill/>
          <a:ln/>
        </p:spPr>
        <p:txBody>
          <a:bodyPr wrap="square" rtlCol="0" anchor="ctr"/>
          <a:lstStyle/>
          <a:p>
            <a:pPr marL="0" indent="0">
              <a:buNone/>
            </a:pPr>
            <a:r>
              <a:rPr lang="en-US" sz="950">
                <a:solidFill>
                  <a:srgbClr val="C7D0E3"/>
                </a:solidFill>
                <a:latin typeface="Calibri" pitchFamily="34" charset="0"/>
                <a:ea typeface="Calibri" pitchFamily="34" charset="-122"/>
                <a:cs typeface="Calibri" pitchFamily="34" charset="-120"/>
              </a:rPr>
              <a:t>salió en 2 meses  ·  ticket prom. S/ 8,464</a:t>
            </a:r>
            <a:endParaRPr lang="en-US" sz="950"/>
          </a:p>
        </p:txBody>
      </p:sp>
      <p:sp>
        <p:nvSpPr>
          <p:cNvPr id="12" name="Shape 10"/>
          <p:cNvSpPr/>
          <p:nvPr/>
        </p:nvSpPr>
        <p:spPr>
          <a:xfrm>
            <a:off x="1143000" y="4297680"/>
            <a:ext cx="4572000" cy="0"/>
          </a:xfrm>
          <a:prstGeom prst="line">
            <a:avLst/>
          </a:prstGeom>
          <a:noFill/>
          <a:ln w="12700">
            <a:solidFill>
              <a:srgbClr val="3A448C"/>
            </a:solidFill>
            <a:prstDash val="solid"/>
          </a:ln>
        </p:spPr>
        <p:txBody>
          <a:bodyPr/>
          <a:lstStyle/>
          <a:p>
            <a:endParaRPr lang="es-PE"/>
          </a:p>
        </p:txBody>
      </p:sp>
      <p:sp>
        <p:nvSpPr>
          <p:cNvPr id="13" name="Text 11"/>
          <p:cNvSpPr/>
          <p:nvPr/>
        </p:nvSpPr>
        <p:spPr>
          <a:xfrm>
            <a:off x="1143000" y="4462272"/>
            <a:ext cx="4572000" cy="256032"/>
          </a:xfrm>
          <a:prstGeom prst="rect">
            <a:avLst/>
          </a:prstGeom>
          <a:noFill/>
          <a:ln/>
        </p:spPr>
        <p:txBody>
          <a:bodyPr wrap="square" rtlCol="0" anchor="ctr"/>
          <a:lstStyle/>
          <a:p>
            <a:pPr marL="0" indent="0">
              <a:buNone/>
            </a:pPr>
            <a:r>
              <a:rPr lang="en-US" sz="950" b="1" kern="0" spc="50">
                <a:solidFill>
                  <a:srgbClr val="3D5A99"/>
                </a:solidFill>
                <a:latin typeface="Calibri" pitchFamily="34" charset="0"/>
                <a:ea typeface="Calibri" pitchFamily="34" charset="-122"/>
                <a:cs typeface="Calibri" pitchFamily="34" charset="-120"/>
              </a:rPr>
              <a:t>PATRÓN DE SALIDA</a:t>
            </a:r>
            <a:endParaRPr lang="en-US" sz="950"/>
          </a:p>
        </p:txBody>
      </p:sp>
      <p:sp>
        <p:nvSpPr>
          <p:cNvPr id="14" name="Text 12"/>
          <p:cNvSpPr/>
          <p:nvPr/>
        </p:nvSpPr>
        <p:spPr>
          <a:xfrm>
            <a:off x="1143000" y="4754880"/>
            <a:ext cx="4572000" cy="777240"/>
          </a:xfrm>
          <a:prstGeom prst="rect">
            <a:avLst/>
          </a:prstGeom>
          <a:noFill/>
          <a:ln/>
        </p:spPr>
        <p:txBody>
          <a:bodyPr wrap="square" rtlCol="0" anchor="ctr"/>
          <a:lstStyle/>
          <a:p>
            <a:pPr marL="0" indent="0">
              <a:lnSpc>
                <a:spcPct val="120000"/>
              </a:lnSpc>
              <a:buNone/>
            </a:pPr>
            <a:r>
              <a:rPr lang="en-US" sz="1150">
                <a:solidFill>
                  <a:srgbClr val="FFFFFF"/>
                </a:solidFill>
                <a:latin typeface="Calibri" pitchFamily="34" charset="0"/>
                <a:ea typeface="Calibri" pitchFamily="34" charset="-122"/>
                <a:cs typeface="Calibri" pitchFamily="34" charset="-120"/>
              </a:rPr>
              <a:t>Salida puntual en junio, se recupera parcialmente en julio (+S/4,146 promedio).</a:t>
            </a:r>
            <a:endParaRPr lang="en-US" sz="1150"/>
          </a:p>
        </p:txBody>
      </p:sp>
      <p:sp>
        <p:nvSpPr>
          <p:cNvPr id="15" name="Shape 13"/>
          <p:cNvSpPr/>
          <p:nvPr/>
        </p:nvSpPr>
        <p:spPr>
          <a:xfrm>
            <a:off x="1143000" y="5596128"/>
            <a:ext cx="4572000" cy="457200"/>
          </a:xfrm>
          <a:prstGeom prst="roundRect">
            <a:avLst>
              <a:gd name="adj" fmla="val 50000"/>
            </a:avLst>
          </a:prstGeom>
          <a:solidFill>
            <a:srgbClr val="3D5A99"/>
          </a:solidFill>
          <a:ln/>
        </p:spPr>
        <p:txBody>
          <a:bodyPr/>
          <a:lstStyle/>
          <a:p>
            <a:endParaRPr lang="es-PE"/>
          </a:p>
        </p:txBody>
      </p:sp>
      <p:sp>
        <p:nvSpPr>
          <p:cNvPr id="16" name="Text 14"/>
          <p:cNvSpPr/>
          <p:nvPr/>
        </p:nvSpPr>
        <p:spPr>
          <a:xfrm>
            <a:off x="1143000" y="5596128"/>
            <a:ext cx="4572000" cy="45720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Fuga acotada, competible</a:t>
            </a:r>
            <a:endParaRPr lang="en-US" sz="1100">
              <a:solidFill>
                <a:srgbClr val="FFFFFF"/>
              </a:solidFill>
            </a:endParaRPr>
          </a:p>
        </p:txBody>
      </p:sp>
      <p:sp>
        <p:nvSpPr>
          <p:cNvPr id="17" name="Shape 15"/>
          <p:cNvSpPr/>
          <p:nvPr/>
        </p:nvSpPr>
        <p:spPr>
          <a:xfrm>
            <a:off x="6492240" y="2286000"/>
            <a:ext cx="5212080" cy="3977640"/>
          </a:xfrm>
          <a:prstGeom prst="roundRect">
            <a:avLst>
              <a:gd name="adj" fmla="val 2299"/>
            </a:avLst>
          </a:prstGeom>
          <a:solidFill>
            <a:srgbClr val="232C6E"/>
          </a:solidFill>
          <a:ln/>
        </p:spPr>
        <p:txBody>
          <a:bodyPr/>
          <a:lstStyle/>
          <a:p>
            <a:endParaRPr lang="es-PE"/>
          </a:p>
        </p:txBody>
      </p:sp>
      <p:sp>
        <p:nvSpPr>
          <p:cNvPr id="18" name="Text 16"/>
          <p:cNvSpPr/>
          <p:nvPr/>
        </p:nvSpPr>
        <p:spPr>
          <a:xfrm>
            <a:off x="6812280" y="2542032"/>
            <a:ext cx="4572000" cy="365760"/>
          </a:xfrm>
          <a:prstGeom prst="rect">
            <a:avLst/>
          </a:prstGeom>
          <a:noFill/>
          <a:ln/>
        </p:spPr>
        <p:txBody>
          <a:bodyPr wrap="square" rtlCol="0" anchor="ctr"/>
          <a:lstStyle/>
          <a:p>
            <a:pPr marL="0" indent="0">
              <a:buNone/>
            </a:pPr>
            <a:r>
              <a:rPr lang="en-US" sz="1700" b="1">
                <a:solidFill>
                  <a:srgbClr val="C9A15A"/>
                </a:solidFill>
                <a:latin typeface="Calibri" pitchFamily="34" charset="0"/>
                <a:ea typeface="Calibri" pitchFamily="34" charset="-122"/>
                <a:cs typeface="Calibri" pitchFamily="34" charset="-120"/>
              </a:rPr>
              <a:t>OTRAS ENTIDADES</a:t>
            </a:r>
            <a:endParaRPr lang="en-US" sz="1700"/>
          </a:p>
        </p:txBody>
      </p:sp>
      <p:sp>
        <p:nvSpPr>
          <p:cNvPr id="19" name="Text 17"/>
          <p:cNvSpPr/>
          <p:nvPr/>
        </p:nvSpPr>
        <p:spPr>
          <a:xfrm>
            <a:off x="6812280" y="2907792"/>
            <a:ext cx="4572000" cy="274320"/>
          </a:xfrm>
          <a:prstGeom prst="rect">
            <a:avLst/>
          </a:prstGeom>
          <a:noFill/>
          <a:ln/>
        </p:spPr>
        <p:txBody>
          <a:bodyPr wrap="square" rtlCol="0" anchor="ctr"/>
          <a:lstStyle/>
          <a:p>
            <a:pPr marL="0" indent="0">
              <a:buNone/>
            </a:pPr>
            <a:r>
              <a:rPr lang="en-US" sz="1050">
                <a:solidFill>
                  <a:srgbClr val="C7D0E3"/>
                </a:solidFill>
                <a:latin typeface="Calibri" pitchFamily="34" charset="0"/>
                <a:ea typeface="Calibri" pitchFamily="34" charset="-122"/>
                <a:cs typeface="Calibri" pitchFamily="34" charset="-120"/>
              </a:rPr>
              <a:t>Cajas, financieras y similares</a:t>
            </a:r>
            <a:endParaRPr lang="en-US" sz="1050"/>
          </a:p>
        </p:txBody>
      </p:sp>
      <p:sp>
        <p:nvSpPr>
          <p:cNvPr id="20" name="Text 18"/>
          <p:cNvSpPr/>
          <p:nvPr/>
        </p:nvSpPr>
        <p:spPr>
          <a:xfrm>
            <a:off x="6812280" y="3337560"/>
            <a:ext cx="1554480" cy="5029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81</a:t>
            </a:r>
            <a:endParaRPr lang="en-US" sz="2600"/>
          </a:p>
        </p:txBody>
      </p:sp>
      <p:sp>
        <p:nvSpPr>
          <p:cNvPr id="21" name="Text 19"/>
          <p:cNvSpPr/>
          <p:nvPr/>
        </p:nvSpPr>
        <p:spPr>
          <a:xfrm>
            <a:off x="6812280" y="3822192"/>
            <a:ext cx="1554480" cy="274320"/>
          </a:xfrm>
          <a:prstGeom prst="rect">
            <a:avLst/>
          </a:prstGeom>
          <a:noFill/>
          <a:ln/>
        </p:spPr>
        <p:txBody>
          <a:bodyPr wrap="square" rtlCol="0" anchor="ctr"/>
          <a:lstStyle/>
          <a:p>
            <a:pPr marL="0" indent="0">
              <a:buNone/>
            </a:pPr>
            <a:r>
              <a:rPr lang="en-US" sz="950">
                <a:solidFill>
                  <a:srgbClr val="C7D0E3"/>
                </a:solidFill>
                <a:latin typeface="Calibri" pitchFamily="34" charset="0"/>
                <a:ea typeface="Calibri" pitchFamily="34" charset="-122"/>
                <a:cs typeface="Calibri" pitchFamily="34" charset="-120"/>
              </a:rPr>
              <a:t>clientes</a:t>
            </a:r>
            <a:endParaRPr lang="en-US" sz="950"/>
          </a:p>
        </p:txBody>
      </p:sp>
      <p:sp>
        <p:nvSpPr>
          <p:cNvPr id="22" name="Text 20"/>
          <p:cNvSpPr/>
          <p:nvPr/>
        </p:nvSpPr>
        <p:spPr>
          <a:xfrm>
            <a:off x="8412480" y="3337560"/>
            <a:ext cx="2926080" cy="5029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S/ 1.99 millones</a:t>
            </a:r>
            <a:endParaRPr lang="en-US" sz="2600"/>
          </a:p>
        </p:txBody>
      </p:sp>
      <p:sp>
        <p:nvSpPr>
          <p:cNvPr id="23" name="Text 21"/>
          <p:cNvSpPr/>
          <p:nvPr/>
        </p:nvSpPr>
        <p:spPr>
          <a:xfrm>
            <a:off x="8412480" y="3822192"/>
            <a:ext cx="3108960" cy="274320"/>
          </a:xfrm>
          <a:prstGeom prst="rect">
            <a:avLst/>
          </a:prstGeom>
          <a:noFill/>
          <a:ln/>
        </p:spPr>
        <p:txBody>
          <a:bodyPr wrap="square" rtlCol="0" anchor="ctr"/>
          <a:lstStyle/>
          <a:p>
            <a:pPr marL="0" indent="0">
              <a:buNone/>
            </a:pPr>
            <a:r>
              <a:rPr lang="en-US" sz="950">
                <a:solidFill>
                  <a:srgbClr val="C7D0E3"/>
                </a:solidFill>
                <a:latin typeface="Calibri" pitchFamily="34" charset="0"/>
                <a:ea typeface="Calibri" pitchFamily="34" charset="-122"/>
                <a:cs typeface="Calibri" pitchFamily="34" charset="-120"/>
              </a:rPr>
              <a:t>salió en 2 meses  ·  ticket prom. S/ 25,131</a:t>
            </a:r>
            <a:endParaRPr lang="en-US" sz="950"/>
          </a:p>
        </p:txBody>
      </p:sp>
      <p:sp>
        <p:nvSpPr>
          <p:cNvPr id="24" name="Shape 22"/>
          <p:cNvSpPr/>
          <p:nvPr/>
        </p:nvSpPr>
        <p:spPr>
          <a:xfrm>
            <a:off x="6812280" y="4297680"/>
            <a:ext cx="4572000" cy="0"/>
          </a:xfrm>
          <a:prstGeom prst="line">
            <a:avLst/>
          </a:prstGeom>
          <a:noFill/>
          <a:ln w="12700">
            <a:solidFill>
              <a:srgbClr val="3A448C"/>
            </a:solidFill>
            <a:prstDash val="solid"/>
          </a:ln>
        </p:spPr>
        <p:txBody>
          <a:bodyPr/>
          <a:lstStyle/>
          <a:p>
            <a:endParaRPr lang="es-PE"/>
          </a:p>
        </p:txBody>
      </p:sp>
      <p:sp>
        <p:nvSpPr>
          <p:cNvPr id="25" name="Text 23"/>
          <p:cNvSpPr/>
          <p:nvPr/>
        </p:nvSpPr>
        <p:spPr>
          <a:xfrm>
            <a:off x="6812280" y="4462272"/>
            <a:ext cx="4572000" cy="256032"/>
          </a:xfrm>
          <a:prstGeom prst="rect">
            <a:avLst/>
          </a:prstGeom>
          <a:noFill/>
          <a:ln/>
        </p:spPr>
        <p:txBody>
          <a:bodyPr wrap="square" rtlCol="0" anchor="ctr"/>
          <a:lstStyle/>
          <a:p>
            <a:pPr marL="0" indent="0">
              <a:buNone/>
            </a:pPr>
            <a:r>
              <a:rPr lang="en-US" sz="950" b="1" kern="0" spc="50">
                <a:solidFill>
                  <a:srgbClr val="C9A15A"/>
                </a:solidFill>
                <a:latin typeface="Calibri" pitchFamily="34" charset="0"/>
                <a:ea typeface="Calibri" pitchFamily="34" charset="-122"/>
                <a:cs typeface="Calibri" pitchFamily="34" charset="-120"/>
              </a:rPr>
              <a:t>PATRÓN DE SALIDA</a:t>
            </a:r>
            <a:endParaRPr lang="en-US" sz="950"/>
          </a:p>
        </p:txBody>
      </p:sp>
      <p:sp>
        <p:nvSpPr>
          <p:cNvPr id="26" name="Text 24"/>
          <p:cNvSpPr/>
          <p:nvPr/>
        </p:nvSpPr>
        <p:spPr>
          <a:xfrm>
            <a:off x="6812280" y="4754880"/>
            <a:ext cx="4572000" cy="777240"/>
          </a:xfrm>
          <a:prstGeom prst="rect">
            <a:avLst/>
          </a:prstGeom>
          <a:noFill/>
          <a:ln/>
        </p:spPr>
        <p:txBody>
          <a:bodyPr wrap="square" rtlCol="0" anchor="ctr"/>
          <a:lstStyle/>
          <a:p>
            <a:pPr marL="0" indent="0">
              <a:lnSpc>
                <a:spcPct val="120000"/>
              </a:lnSpc>
              <a:buNone/>
            </a:pPr>
            <a:r>
              <a:rPr lang="en-US" sz="1150">
                <a:solidFill>
                  <a:srgbClr val="FFFFFF"/>
                </a:solidFill>
                <a:latin typeface="Calibri" pitchFamily="34" charset="0"/>
                <a:ea typeface="Calibri" pitchFamily="34" charset="-122"/>
                <a:cs typeface="Calibri" pitchFamily="34" charset="-120"/>
              </a:rPr>
              <a:t>Sigue perdiendo saldo en julio: fuga sostenida, no un evento aislado.</a:t>
            </a:r>
            <a:endParaRPr lang="en-US" sz="1150"/>
          </a:p>
        </p:txBody>
      </p:sp>
      <p:sp>
        <p:nvSpPr>
          <p:cNvPr id="27" name="Shape 25"/>
          <p:cNvSpPr/>
          <p:nvPr/>
        </p:nvSpPr>
        <p:spPr>
          <a:xfrm>
            <a:off x="6812280" y="5596128"/>
            <a:ext cx="4572000" cy="457200"/>
          </a:xfrm>
          <a:prstGeom prst="roundRect">
            <a:avLst>
              <a:gd name="adj" fmla="val 50000"/>
            </a:avLst>
          </a:prstGeom>
          <a:solidFill>
            <a:srgbClr val="C9A15A"/>
          </a:solidFill>
          <a:ln/>
        </p:spPr>
        <p:txBody>
          <a:bodyPr/>
          <a:lstStyle/>
          <a:p>
            <a:endParaRPr lang="es-PE"/>
          </a:p>
        </p:txBody>
      </p:sp>
      <p:sp>
        <p:nvSpPr>
          <p:cNvPr id="28" name="Text 26"/>
          <p:cNvSpPr/>
          <p:nvPr/>
        </p:nvSpPr>
        <p:spPr>
          <a:xfrm>
            <a:off x="6812280" y="5596128"/>
            <a:ext cx="4572000" cy="45720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Mayor riesgo de largo plazo</a:t>
            </a:r>
            <a:endParaRPr lang="en-US" sz="1100">
              <a:solidFill>
                <a:srgbClr val="FFFFFF"/>
              </a:solidFill>
            </a:endParaRPr>
          </a:p>
        </p:txBody>
      </p:sp>
      <p:sp>
        <p:nvSpPr>
          <p:cNvPr id="29" name="Text 27"/>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8892C4"/>
                </a:solidFill>
                <a:latin typeface="Calibri" pitchFamily="34" charset="0"/>
                <a:ea typeface="Calibri" pitchFamily="34" charset="-122"/>
                <a:cs typeface="Calibri" pitchFamily="34" charset="-120"/>
              </a:rPr>
              <a:t>BANCO PICHINCHA  |  Data Analytics Hub Pasivos</a:t>
            </a:r>
            <a:endParaRPr lang="en-US" sz="900"/>
          </a:p>
        </p:txBody>
      </p:sp>
      <p:sp>
        <p:nvSpPr>
          <p:cNvPr id="30" name="Text 28"/>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CONFIDENCIAL — USO INTERNO</a:t>
            </a:r>
            <a:endParaRPr lang="en-US" sz="900"/>
          </a:p>
        </p:txBody>
      </p:sp>
      <p:sp>
        <p:nvSpPr>
          <p:cNvPr id="31" name="Text 29"/>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6</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200" b="1" kern="0" spc="150">
                <a:solidFill>
                  <a:srgbClr val="8A6D2E"/>
                </a:solidFill>
                <a:latin typeface="Calibri" pitchFamily="34" charset="0"/>
                <a:ea typeface="Calibri" pitchFamily="34" charset="-122"/>
                <a:cs typeface="Calibri" pitchFamily="34" charset="-120"/>
              </a:rPr>
              <a:t>SEÑAL DE ALERTA TEMPRANA</a:t>
            </a:r>
            <a:endParaRPr lang="en-US" sz="1200"/>
          </a:p>
        </p:txBody>
      </p:sp>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400" b="1">
                <a:solidFill>
                  <a:srgbClr val="1E2761"/>
                </a:solidFill>
                <a:latin typeface="Calibri" pitchFamily="34" charset="0"/>
                <a:ea typeface="Calibri" pitchFamily="34" charset="-122"/>
                <a:cs typeface="Calibri" pitchFamily="34" charset="-120"/>
              </a:rPr>
              <a:t>La satisfacción ya anticipa la fuga, antes de que el cliente se vaya</a:t>
            </a:r>
            <a:endParaRPr lang="en-US" sz="2400"/>
          </a:p>
        </p:txBody>
      </p:sp>
      <p:sp>
        <p:nvSpPr>
          <p:cNvPr id="4" name="Text 2"/>
          <p:cNvSpPr/>
          <p:nvPr/>
        </p:nvSpPr>
        <p:spPr>
          <a:xfrm>
            <a:off x="548640" y="1298448"/>
            <a:ext cx="11064240" cy="457200"/>
          </a:xfrm>
          <a:prstGeom prst="rect">
            <a:avLst/>
          </a:prstGeom>
          <a:noFill/>
          <a:ln/>
        </p:spPr>
        <p:txBody>
          <a:bodyPr wrap="square" rtlCol="0" anchor="ctr"/>
          <a:lstStyle/>
          <a:p>
            <a:pPr marL="0" indent="0" algn="l">
              <a:buNone/>
            </a:pPr>
            <a:r>
              <a:rPr lang="en-US" sz="1400">
                <a:solidFill>
                  <a:srgbClr val="6B7280"/>
                </a:solidFill>
                <a:latin typeface="Calibri" pitchFamily="34" charset="0"/>
                <a:ea typeface="Calibri" pitchFamily="34" charset="-122"/>
                <a:cs typeface="Calibri" pitchFamily="34" charset="-120"/>
              </a:rPr>
              <a:t>Promedio de satisfacción (escala 1–10) declarado por cada segmento de clientes encuestados.</a:t>
            </a:r>
            <a:endParaRPr lang="en-US" sz="1400"/>
          </a:p>
        </p:txBody>
      </p:sp>
      <p:graphicFrame>
        <p:nvGraphicFramePr>
          <p:cNvPr id="5" name="Chart 0"/>
          <p:cNvGraphicFramePr/>
          <p:nvPr/>
        </p:nvGraphicFramePr>
        <p:xfrm>
          <a:off x="640080" y="205740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80960" y="2057400"/>
            <a:ext cx="3977640" cy="3931920"/>
          </a:xfrm>
          <a:prstGeom prst="roundRect">
            <a:avLst>
              <a:gd name="adj" fmla="val 1860"/>
            </a:avLst>
          </a:prstGeom>
          <a:solidFill>
            <a:srgbClr val="F2F4F8"/>
          </a:solidFill>
          <a:ln w="12700">
            <a:solidFill>
              <a:srgbClr val="E3E6EE"/>
            </a:solidFill>
            <a:prstDash val="solid"/>
          </a:ln>
        </p:spPr>
        <p:txBody>
          <a:bodyPr/>
          <a:lstStyle/>
          <a:p>
            <a:endParaRPr lang="es-PE"/>
          </a:p>
        </p:txBody>
      </p:sp>
      <p:sp>
        <p:nvSpPr>
          <p:cNvPr id="7" name="Text 4"/>
          <p:cNvSpPr/>
          <p:nvPr/>
        </p:nvSpPr>
        <p:spPr>
          <a:xfrm>
            <a:off x="7909560" y="2286000"/>
            <a:ext cx="3520440" cy="502920"/>
          </a:xfrm>
          <a:prstGeom prst="rect">
            <a:avLst/>
          </a:prstGeom>
          <a:noFill/>
          <a:ln/>
        </p:spPr>
        <p:txBody>
          <a:bodyPr wrap="square" rtlCol="0" anchor="ctr"/>
          <a:lstStyle/>
          <a:p>
            <a:pPr marL="0" indent="0">
              <a:buNone/>
            </a:pPr>
            <a:r>
              <a:rPr lang="en-US" sz="3000" b="1">
                <a:solidFill>
                  <a:srgbClr val="1E2761"/>
                </a:solidFill>
                <a:latin typeface="Calibri" pitchFamily="34" charset="0"/>
                <a:ea typeface="Calibri" pitchFamily="34" charset="-122"/>
                <a:cs typeface="Calibri" pitchFamily="34" charset="-120"/>
              </a:rPr>
              <a:t>7.9 / 10</a:t>
            </a:r>
            <a:endParaRPr lang="en-US" sz="3000"/>
          </a:p>
        </p:txBody>
      </p:sp>
      <p:sp>
        <p:nvSpPr>
          <p:cNvPr id="8" name="Text 5"/>
          <p:cNvSpPr/>
          <p:nvPr/>
        </p:nvSpPr>
        <p:spPr>
          <a:xfrm>
            <a:off x="7909560" y="2788920"/>
            <a:ext cx="3520440" cy="36576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satisfacción promedio general (227 respuestas)</a:t>
            </a:r>
            <a:endParaRPr lang="en-US" sz="1000"/>
          </a:p>
        </p:txBody>
      </p:sp>
      <p:sp>
        <p:nvSpPr>
          <p:cNvPr id="9" name="Shape 6"/>
          <p:cNvSpPr/>
          <p:nvPr/>
        </p:nvSpPr>
        <p:spPr>
          <a:xfrm>
            <a:off x="7909560" y="3291840"/>
            <a:ext cx="3520440" cy="0"/>
          </a:xfrm>
          <a:prstGeom prst="line">
            <a:avLst/>
          </a:prstGeom>
          <a:noFill/>
          <a:ln w="12700">
            <a:solidFill>
              <a:srgbClr val="E3E6EE"/>
            </a:solidFill>
            <a:prstDash val="solid"/>
          </a:ln>
        </p:spPr>
        <p:txBody>
          <a:bodyPr/>
          <a:lstStyle/>
          <a:p>
            <a:endParaRPr lang="es-PE"/>
          </a:p>
        </p:txBody>
      </p:sp>
      <p:sp>
        <p:nvSpPr>
          <p:cNvPr id="10" name="Text 7"/>
          <p:cNvSpPr/>
          <p:nvPr/>
        </p:nvSpPr>
        <p:spPr>
          <a:xfrm>
            <a:off x="7909560" y="3474720"/>
            <a:ext cx="3520440" cy="1005840"/>
          </a:xfrm>
          <a:prstGeom prst="rect">
            <a:avLst/>
          </a:prstGeom>
          <a:noFill/>
          <a:ln/>
        </p:spPr>
        <p:txBody>
          <a:bodyPr wrap="square" rtlCol="0" anchor="ctr"/>
          <a:lstStyle/>
          <a:p>
            <a:pPr marL="0" indent="0">
              <a:lnSpc>
                <a:spcPct val="120000"/>
              </a:lnSpc>
              <a:buNone/>
            </a:pPr>
            <a:r>
              <a:rPr lang="en-US" sz="1100">
                <a:solidFill>
                  <a:srgbClr val="333333"/>
                </a:solidFill>
                <a:latin typeface="Calibri" pitchFamily="34" charset="0"/>
                <a:ea typeface="Calibri" pitchFamily="34" charset="-122"/>
                <a:cs typeface="Calibri" pitchFamily="34" charset="-120"/>
              </a:rPr>
              <a:t>La caída no es grande en puntaje (8.5 → 7.2), pero sí en comportamiento: cada punto menos se traduce en clientes que ya movieron dinero fuera del banco.</a:t>
            </a:r>
            <a:endParaRPr lang="en-US" sz="1100"/>
          </a:p>
        </p:txBody>
      </p:sp>
      <p:sp>
        <p:nvSpPr>
          <p:cNvPr id="11" name="Text 8"/>
          <p:cNvSpPr/>
          <p:nvPr/>
        </p:nvSpPr>
        <p:spPr>
          <a:xfrm>
            <a:off x="7909560" y="4572000"/>
            <a:ext cx="3520440" cy="1097280"/>
          </a:xfrm>
          <a:prstGeom prst="rect">
            <a:avLst/>
          </a:prstGeom>
          <a:noFill/>
          <a:ln/>
        </p:spPr>
        <p:txBody>
          <a:bodyPr wrap="square" rtlCol="0" anchor="ctr"/>
          <a:lstStyle/>
          <a:p>
            <a:pPr marL="0" indent="0">
              <a:lnSpc>
                <a:spcPct val="120000"/>
              </a:lnSpc>
              <a:buNone/>
            </a:pPr>
            <a:r>
              <a:rPr lang="en-US" sz="1100" i="1">
                <a:solidFill>
                  <a:srgbClr val="8A6D2E"/>
                </a:solidFill>
                <a:latin typeface="Calibri" pitchFamily="34" charset="0"/>
                <a:ea typeface="Calibri" pitchFamily="34" charset="-122"/>
                <a:cs typeface="Calibri" pitchFamily="34" charset="-120"/>
              </a:rPr>
              <a:t>Usable como alerta temprana: monitorear satisfacción por segmento antes de que se materialice la salida de fondos.</a:t>
            </a:r>
            <a:endParaRPr lang="en-US" sz="1100"/>
          </a:p>
        </p:txBody>
      </p:sp>
      <p:sp>
        <p:nvSpPr>
          <p:cNvPr id="12" name="Text 9"/>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13" name="Text 10"/>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14" name="Text 11"/>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7</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41B4D"/>
        </a:solidFill>
        <a:effectLst/>
      </p:bgPr>
    </p:bg>
    <p:spTree>
      <p:nvGrpSpPr>
        <p:cNvPr id="1" name=""/>
        <p:cNvGrpSpPr/>
        <p:nvPr/>
      </p:nvGrpSpPr>
      <p:grpSpPr>
        <a:xfrm>
          <a:off x="0" y="0"/>
          <a:ext cx="0" cy="0"/>
          <a:chOff x="0" y="0"/>
          <a:chExt cx="0" cy="0"/>
        </a:xfrm>
      </p:grpSpPr>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La voz del cliente</a:t>
            </a:r>
            <a:endParaRPr lang="en-US" sz="2600"/>
          </a:p>
        </p:txBody>
      </p:sp>
      <p:sp>
        <p:nvSpPr>
          <p:cNvPr id="4" name="Text 2"/>
          <p:cNvSpPr/>
          <p:nvPr/>
        </p:nvSpPr>
        <p:spPr>
          <a:xfrm>
            <a:off x="548640" y="1298448"/>
            <a:ext cx="11064240" cy="457200"/>
          </a:xfrm>
          <a:prstGeom prst="rect">
            <a:avLst/>
          </a:prstGeom>
          <a:noFill/>
          <a:ln/>
        </p:spPr>
        <p:txBody>
          <a:bodyPr wrap="square" rtlCol="0" anchor="ctr"/>
          <a:lstStyle/>
          <a:p>
            <a:pPr marL="0" indent="0" algn="l">
              <a:buNone/>
            </a:pPr>
            <a:r>
              <a:rPr lang="en-US" sz="1400">
                <a:solidFill>
                  <a:srgbClr val="C7D0E3"/>
                </a:solidFill>
                <a:latin typeface="Calibri" pitchFamily="34" charset="0"/>
                <a:ea typeface="Calibri" pitchFamily="34" charset="-122"/>
                <a:cs typeface="Calibri" pitchFamily="34" charset="-120"/>
              </a:rPr>
              <a:t>Comentarios de clientes encuestados que ya transfirieron parte de sus ahorros a otra entidad.</a:t>
            </a:r>
            <a:endParaRPr lang="en-US" sz="1400"/>
          </a:p>
        </p:txBody>
      </p:sp>
      <p:sp>
        <p:nvSpPr>
          <p:cNvPr id="5" name="Text 3"/>
          <p:cNvSpPr/>
          <p:nvPr/>
        </p:nvSpPr>
        <p:spPr>
          <a:xfrm>
            <a:off x="548640" y="2093976"/>
            <a:ext cx="11073384" cy="274320"/>
          </a:xfrm>
          <a:prstGeom prst="rect">
            <a:avLst/>
          </a:prstGeom>
          <a:noFill/>
          <a:ln/>
        </p:spPr>
        <p:txBody>
          <a:bodyPr wrap="square" rtlCol="0" anchor="ctr"/>
          <a:lstStyle/>
          <a:p>
            <a:pPr marL="0" indent="0">
              <a:buNone/>
            </a:pPr>
            <a:r>
              <a:rPr lang="en-US" sz="1100" b="1" kern="0" spc="50">
                <a:solidFill>
                  <a:srgbClr val="3D5A99"/>
                </a:solidFill>
                <a:latin typeface="Calibri" pitchFamily="34" charset="0"/>
                <a:ea typeface="Calibri" pitchFamily="34" charset="-122"/>
                <a:cs typeface="Calibri" pitchFamily="34" charset="-120"/>
              </a:rPr>
              <a:t>GRUPO BANCOS GRANDES</a:t>
            </a:r>
            <a:endParaRPr lang="en-US" sz="1100"/>
          </a:p>
        </p:txBody>
      </p:sp>
      <p:sp>
        <p:nvSpPr>
          <p:cNvPr id="6" name="Shape 4"/>
          <p:cNvSpPr/>
          <p:nvPr/>
        </p:nvSpPr>
        <p:spPr>
          <a:xfrm>
            <a:off x="548640" y="2423160"/>
            <a:ext cx="3520440" cy="1508760"/>
          </a:xfrm>
          <a:prstGeom prst="roundRect">
            <a:avLst>
              <a:gd name="adj" fmla="val 4848"/>
            </a:avLst>
          </a:prstGeom>
          <a:solidFill>
            <a:srgbClr val="232C6E"/>
          </a:solidFill>
          <a:ln/>
        </p:spPr>
        <p:txBody>
          <a:bodyPr/>
          <a:lstStyle/>
          <a:p>
            <a:endParaRPr lang="es-PE"/>
          </a:p>
        </p:txBody>
      </p:sp>
      <p:sp>
        <p:nvSpPr>
          <p:cNvPr id="7" name="Text 5"/>
          <p:cNvSpPr/>
          <p:nvPr/>
        </p:nvSpPr>
        <p:spPr>
          <a:xfrm>
            <a:off x="685800" y="2304288"/>
            <a:ext cx="548640" cy="548640"/>
          </a:xfrm>
          <a:prstGeom prst="rect">
            <a:avLst/>
          </a:prstGeom>
          <a:noFill/>
          <a:ln/>
        </p:spPr>
        <p:txBody>
          <a:bodyPr wrap="square" rtlCol="0" anchor="ctr"/>
          <a:lstStyle/>
          <a:p>
            <a:pPr marL="0" indent="0">
              <a:buNone/>
            </a:pPr>
            <a:r>
              <a:rPr lang="en-US" sz="4000" b="1">
                <a:solidFill>
                  <a:srgbClr val="3D5A99"/>
                </a:solidFill>
                <a:latin typeface="Times New Roman" pitchFamily="34" charset="0"/>
                <a:ea typeface="Times New Roman" pitchFamily="34" charset="-122"/>
                <a:cs typeface="Times New Roman" pitchFamily="34" charset="-120"/>
              </a:rPr>
              <a:t>“</a:t>
            </a:r>
            <a:endParaRPr lang="en-US" sz="4000"/>
          </a:p>
        </p:txBody>
      </p:sp>
      <p:sp>
        <p:nvSpPr>
          <p:cNvPr id="8" name="Text 6"/>
          <p:cNvSpPr/>
          <p:nvPr/>
        </p:nvSpPr>
        <p:spPr>
          <a:xfrm>
            <a:off x="804672" y="2734056"/>
            <a:ext cx="3008376" cy="1097280"/>
          </a:xfrm>
          <a:prstGeom prst="rect">
            <a:avLst/>
          </a:prstGeom>
          <a:noFill/>
          <a:ln/>
        </p:spPr>
        <p:txBody>
          <a:bodyPr wrap="square" rtlCol="0" anchor="ctr"/>
          <a:lstStyle/>
          <a:p>
            <a:pPr marL="0" indent="0">
              <a:lnSpc>
                <a:spcPct val="118000"/>
              </a:lnSpc>
              <a:buNone/>
            </a:pPr>
            <a:r>
              <a:rPr lang="en-US" sz="1100" i="1">
                <a:solidFill>
                  <a:srgbClr val="FFFFFF"/>
                </a:solidFill>
                <a:latin typeface="Calibri" pitchFamily="34" charset="0"/>
                <a:ea typeface="Calibri" pitchFamily="34" charset="-122"/>
                <a:cs typeface="Calibri" pitchFamily="34" charset="-120"/>
              </a:rPr>
              <a:t>Ya no es rentable y hay mejores opciones en el mercado; evalúo tasas constantemente.</a:t>
            </a:r>
            <a:endParaRPr lang="en-US" sz="1100"/>
          </a:p>
        </p:txBody>
      </p:sp>
      <p:sp>
        <p:nvSpPr>
          <p:cNvPr id="9" name="Shape 7"/>
          <p:cNvSpPr/>
          <p:nvPr/>
        </p:nvSpPr>
        <p:spPr>
          <a:xfrm>
            <a:off x="4325112" y="2423160"/>
            <a:ext cx="3520440" cy="1508760"/>
          </a:xfrm>
          <a:prstGeom prst="roundRect">
            <a:avLst>
              <a:gd name="adj" fmla="val 4848"/>
            </a:avLst>
          </a:prstGeom>
          <a:solidFill>
            <a:srgbClr val="232C6E"/>
          </a:solidFill>
          <a:ln/>
        </p:spPr>
        <p:txBody>
          <a:bodyPr/>
          <a:lstStyle/>
          <a:p>
            <a:endParaRPr lang="es-PE"/>
          </a:p>
        </p:txBody>
      </p:sp>
      <p:sp>
        <p:nvSpPr>
          <p:cNvPr id="10" name="Text 8"/>
          <p:cNvSpPr/>
          <p:nvPr/>
        </p:nvSpPr>
        <p:spPr>
          <a:xfrm>
            <a:off x="4462272" y="2304288"/>
            <a:ext cx="548640" cy="548640"/>
          </a:xfrm>
          <a:prstGeom prst="rect">
            <a:avLst/>
          </a:prstGeom>
          <a:noFill/>
          <a:ln/>
        </p:spPr>
        <p:txBody>
          <a:bodyPr wrap="square" rtlCol="0" anchor="ctr"/>
          <a:lstStyle/>
          <a:p>
            <a:pPr marL="0" indent="0">
              <a:buNone/>
            </a:pPr>
            <a:r>
              <a:rPr lang="en-US" sz="4000" b="1">
                <a:solidFill>
                  <a:srgbClr val="3D5A99"/>
                </a:solidFill>
                <a:latin typeface="Times New Roman" pitchFamily="34" charset="0"/>
                <a:ea typeface="Times New Roman" pitchFamily="34" charset="-122"/>
                <a:cs typeface="Times New Roman" pitchFamily="34" charset="-120"/>
              </a:rPr>
              <a:t>“</a:t>
            </a:r>
            <a:endParaRPr lang="en-US" sz="4000"/>
          </a:p>
        </p:txBody>
      </p:sp>
      <p:sp>
        <p:nvSpPr>
          <p:cNvPr id="11" name="Text 9"/>
          <p:cNvSpPr/>
          <p:nvPr/>
        </p:nvSpPr>
        <p:spPr>
          <a:xfrm>
            <a:off x="4581144" y="2734056"/>
            <a:ext cx="3008376" cy="1097280"/>
          </a:xfrm>
          <a:prstGeom prst="rect">
            <a:avLst/>
          </a:prstGeom>
          <a:noFill/>
          <a:ln/>
        </p:spPr>
        <p:txBody>
          <a:bodyPr wrap="square" rtlCol="0" anchor="ctr"/>
          <a:lstStyle/>
          <a:p>
            <a:pPr marL="0" indent="0">
              <a:lnSpc>
                <a:spcPct val="118000"/>
              </a:lnSpc>
              <a:buNone/>
            </a:pPr>
            <a:r>
              <a:rPr lang="en-US" sz="1100" i="1">
                <a:solidFill>
                  <a:srgbClr val="FFFFFF"/>
                </a:solidFill>
                <a:latin typeface="Calibri" pitchFamily="34" charset="0"/>
                <a:ea typeface="Calibri" pitchFamily="34" charset="-122"/>
                <a:cs typeface="Calibri" pitchFamily="34" charset="-120"/>
              </a:rPr>
              <a:t>Cada corto plazo van reduciendo la tasa; ya pienso trasladar todo mi fondo a otra entidad.</a:t>
            </a:r>
            <a:endParaRPr lang="en-US" sz="1100"/>
          </a:p>
        </p:txBody>
      </p:sp>
      <p:sp>
        <p:nvSpPr>
          <p:cNvPr id="12" name="Shape 10"/>
          <p:cNvSpPr/>
          <p:nvPr/>
        </p:nvSpPr>
        <p:spPr>
          <a:xfrm>
            <a:off x="8101584" y="2423160"/>
            <a:ext cx="3520440" cy="1508760"/>
          </a:xfrm>
          <a:prstGeom prst="roundRect">
            <a:avLst>
              <a:gd name="adj" fmla="val 4848"/>
            </a:avLst>
          </a:prstGeom>
          <a:solidFill>
            <a:srgbClr val="232C6E"/>
          </a:solidFill>
          <a:ln/>
        </p:spPr>
        <p:txBody>
          <a:bodyPr/>
          <a:lstStyle/>
          <a:p>
            <a:endParaRPr lang="es-PE"/>
          </a:p>
        </p:txBody>
      </p:sp>
      <p:sp>
        <p:nvSpPr>
          <p:cNvPr id="13" name="Text 11"/>
          <p:cNvSpPr/>
          <p:nvPr/>
        </p:nvSpPr>
        <p:spPr>
          <a:xfrm>
            <a:off x="8238744" y="2304288"/>
            <a:ext cx="548640" cy="548640"/>
          </a:xfrm>
          <a:prstGeom prst="rect">
            <a:avLst/>
          </a:prstGeom>
          <a:noFill/>
          <a:ln/>
        </p:spPr>
        <p:txBody>
          <a:bodyPr wrap="square" rtlCol="0" anchor="ctr"/>
          <a:lstStyle/>
          <a:p>
            <a:pPr marL="0" indent="0">
              <a:buNone/>
            </a:pPr>
            <a:r>
              <a:rPr lang="en-US" sz="4000" b="1">
                <a:solidFill>
                  <a:srgbClr val="3D5A99"/>
                </a:solidFill>
                <a:latin typeface="Times New Roman" pitchFamily="34" charset="0"/>
                <a:ea typeface="Times New Roman" pitchFamily="34" charset="-122"/>
                <a:cs typeface="Times New Roman" pitchFamily="34" charset="-120"/>
              </a:rPr>
              <a:t>“</a:t>
            </a:r>
            <a:endParaRPr lang="en-US" sz="4000"/>
          </a:p>
        </p:txBody>
      </p:sp>
      <p:sp>
        <p:nvSpPr>
          <p:cNvPr id="14" name="Text 12"/>
          <p:cNvSpPr/>
          <p:nvPr/>
        </p:nvSpPr>
        <p:spPr>
          <a:xfrm>
            <a:off x="8357616" y="2734056"/>
            <a:ext cx="3008376" cy="1097280"/>
          </a:xfrm>
          <a:prstGeom prst="rect">
            <a:avLst/>
          </a:prstGeom>
          <a:noFill/>
          <a:ln/>
        </p:spPr>
        <p:txBody>
          <a:bodyPr wrap="square" rtlCol="0" anchor="ctr"/>
          <a:lstStyle/>
          <a:p>
            <a:pPr marL="0" indent="0">
              <a:lnSpc>
                <a:spcPct val="118000"/>
              </a:lnSpc>
              <a:buNone/>
            </a:pPr>
            <a:r>
              <a:rPr lang="en-US" sz="1100" i="1">
                <a:solidFill>
                  <a:srgbClr val="FFFFFF"/>
                </a:solidFill>
                <a:latin typeface="Calibri" pitchFamily="34" charset="0"/>
                <a:ea typeface="Calibri" pitchFamily="34" charset="-122"/>
                <a:cs typeface="Calibri" pitchFamily="34" charset="-120"/>
              </a:rPr>
              <a:t>Bloquea por transacciones irregulares mi cuenta y me hace perder tiempo.</a:t>
            </a:r>
            <a:endParaRPr lang="en-US" sz="1100"/>
          </a:p>
        </p:txBody>
      </p:sp>
      <p:sp>
        <p:nvSpPr>
          <p:cNvPr id="15" name="Text 13"/>
          <p:cNvSpPr/>
          <p:nvPr/>
        </p:nvSpPr>
        <p:spPr>
          <a:xfrm>
            <a:off x="548640" y="4105656"/>
            <a:ext cx="11073384" cy="274320"/>
          </a:xfrm>
          <a:prstGeom prst="rect">
            <a:avLst/>
          </a:prstGeom>
          <a:noFill/>
          <a:ln/>
        </p:spPr>
        <p:txBody>
          <a:bodyPr wrap="square" rtlCol="0" anchor="ctr"/>
          <a:lstStyle/>
          <a:p>
            <a:pPr marL="0" indent="0">
              <a:buNone/>
            </a:pPr>
            <a:r>
              <a:rPr lang="en-US" sz="1100" b="1" kern="0" spc="50">
                <a:solidFill>
                  <a:srgbClr val="C9A15A"/>
                </a:solidFill>
                <a:latin typeface="Calibri" pitchFamily="34" charset="0"/>
                <a:ea typeface="Calibri" pitchFamily="34" charset="-122"/>
                <a:cs typeface="Calibri" pitchFamily="34" charset="-120"/>
              </a:rPr>
              <a:t>GRUPO OTRAS ENTIDADES</a:t>
            </a:r>
            <a:endParaRPr lang="en-US" sz="1100"/>
          </a:p>
        </p:txBody>
      </p:sp>
      <p:sp>
        <p:nvSpPr>
          <p:cNvPr id="16" name="Shape 14"/>
          <p:cNvSpPr/>
          <p:nvPr/>
        </p:nvSpPr>
        <p:spPr>
          <a:xfrm>
            <a:off x="548640" y="4434840"/>
            <a:ext cx="3520440" cy="1508760"/>
          </a:xfrm>
          <a:prstGeom prst="roundRect">
            <a:avLst>
              <a:gd name="adj" fmla="val 4848"/>
            </a:avLst>
          </a:prstGeom>
          <a:solidFill>
            <a:srgbClr val="232C6E"/>
          </a:solidFill>
          <a:ln/>
        </p:spPr>
        <p:txBody>
          <a:bodyPr/>
          <a:lstStyle/>
          <a:p>
            <a:endParaRPr lang="es-PE"/>
          </a:p>
        </p:txBody>
      </p:sp>
      <p:sp>
        <p:nvSpPr>
          <p:cNvPr id="17" name="Text 15"/>
          <p:cNvSpPr/>
          <p:nvPr/>
        </p:nvSpPr>
        <p:spPr>
          <a:xfrm>
            <a:off x="685800" y="4315968"/>
            <a:ext cx="548640" cy="548640"/>
          </a:xfrm>
          <a:prstGeom prst="rect">
            <a:avLst/>
          </a:prstGeom>
          <a:noFill/>
          <a:ln/>
        </p:spPr>
        <p:txBody>
          <a:bodyPr wrap="square" rtlCol="0" anchor="ctr"/>
          <a:lstStyle/>
          <a:p>
            <a:pPr marL="0" indent="0">
              <a:buNone/>
            </a:pPr>
            <a:r>
              <a:rPr lang="en-US" sz="4000" b="1">
                <a:solidFill>
                  <a:srgbClr val="C9A15A"/>
                </a:solidFill>
                <a:latin typeface="Times New Roman" pitchFamily="34" charset="0"/>
                <a:ea typeface="Times New Roman" pitchFamily="34" charset="-122"/>
                <a:cs typeface="Times New Roman" pitchFamily="34" charset="-120"/>
              </a:rPr>
              <a:t>“</a:t>
            </a:r>
            <a:endParaRPr lang="en-US" sz="4000"/>
          </a:p>
        </p:txBody>
      </p:sp>
      <p:sp>
        <p:nvSpPr>
          <p:cNvPr id="18" name="Text 16"/>
          <p:cNvSpPr/>
          <p:nvPr/>
        </p:nvSpPr>
        <p:spPr>
          <a:xfrm>
            <a:off x="804672" y="4745736"/>
            <a:ext cx="3008376" cy="1097280"/>
          </a:xfrm>
          <a:prstGeom prst="rect">
            <a:avLst/>
          </a:prstGeom>
          <a:noFill/>
          <a:ln/>
        </p:spPr>
        <p:txBody>
          <a:bodyPr wrap="square" rtlCol="0" anchor="ctr"/>
          <a:lstStyle/>
          <a:p>
            <a:pPr marL="0" indent="0">
              <a:lnSpc>
                <a:spcPct val="118000"/>
              </a:lnSpc>
              <a:buNone/>
            </a:pPr>
            <a:r>
              <a:rPr lang="en-US" sz="1100" i="1">
                <a:solidFill>
                  <a:srgbClr val="FFFFFF"/>
                </a:solidFill>
                <a:latin typeface="Calibri" pitchFamily="34" charset="0"/>
                <a:ea typeface="Calibri" pitchFamily="34" charset="-122"/>
                <a:cs typeface="Calibri" pitchFamily="34" charset="-120"/>
              </a:rPr>
              <a:t>Mejorar la tasa; su app es muy buena, pero bajaron la tasa y no me convenía.</a:t>
            </a:r>
            <a:endParaRPr lang="en-US" sz="1100"/>
          </a:p>
        </p:txBody>
      </p:sp>
      <p:sp>
        <p:nvSpPr>
          <p:cNvPr id="19" name="Shape 17"/>
          <p:cNvSpPr/>
          <p:nvPr/>
        </p:nvSpPr>
        <p:spPr>
          <a:xfrm>
            <a:off x="4325112" y="4434840"/>
            <a:ext cx="3520440" cy="1508760"/>
          </a:xfrm>
          <a:prstGeom prst="roundRect">
            <a:avLst>
              <a:gd name="adj" fmla="val 4848"/>
            </a:avLst>
          </a:prstGeom>
          <a:solidFill>
            <a:srgbClr val="232C6E"/>
          </a:solidFill>
          <a:ln/>
        </p:spPr>
        <p:txBody>
          <a:bodyPr/>
          <a:lstStyle/>
          <a:p>
            <a:endParaRPr lang="es-PE"/>
          </a:p>
        </p:txBody>
      </p:sp>
      <p:sp>
        <p:nvSpPr>
          <p:cNvPr id="20" name="Text 18"/>
          <p:cNvSpPr/>
          <p:nvPr/>
        </p:nvSpPr>
        <p:spPr>
          <a:xfrm>
            <a:off x="4462272" y="4315968"/>
            <a:ext cx="548640" cy="548640"/>
          </a:xfrm>
          <a:prstGeom prst="rect">
            <a:avLst/>
          </a:prstGeom>
          <a:noFill/>
          <a:ln/>
        </p:spPr>
        <p:txBody>
          <a:bodyPr wrap="square" rtlCol="0" anchor="ctr"/>
          <a:lstStyle/>
          <a:p>
            <a:pPr marL="0" indent="0">
              <a:buNone/>
            </a:pPr>
            <a:r>
              <a:rPr lang="en-US" sz="4000" b="1">
                <a:solidFill>
                  <a:srgbClr val="C9A15A"/>
                </a:solidFill>
                <a:latin typeface="Times New Roman" pitchFamily="34" charset="0"/>
                <a:ea typeface="Times New Roman" pitchFamily="34" charset="-122"/>
                <a:cs typeface="Times New Roman" pitchFamily="34" charset="-120"/>
              </a:rPr>
              <a:t>“</a:t>
            </a:r>
            <a:endParaRPr lang="en-US" sz="4000"/>
          </a:p>
        </p:txBody>
      </p:sp>
      <p:sp>
        <p:nvSpPr>
          <p:cNvPr id="21" name="Text 19"/>
          <p:cNvSpPr/>
          <p:nvPr/>
        </p:nvSpPr>
        <p:spPr>
          <a:xfrm>
            <a:off x="4581144" y="4745736"/>
            <a:ext cx="3008376" cy="1097280"/>
          </a:xfrm>
          <a:prstGeom prst="rect">
            <a:avLst/>
          </a:prstGeom>
          <a:noFill/>
          <a:ln/>
        </p:spPr>
        <p:txBody>
          <a:bodyPr wrap="square" rtlCol="0" anchor="ctr"/>
          <a:lstStyle/>
          <a:p>
            <a:pPr marL="0" indent="0">
              <a:lnSpc>
                <a:spcPct val="118000"/>
              </a:lnSpc>
              <a:buNone/>
            </a:pPr>
            <a:r>
              <a:rPr lang="en-US" sz="1100" i="1">
                <a:solidFill>
                  <a:srgbClr val="FFFFFF"/>
                </a:solidFill>
                <a:latin typeface="Calibri" pitchFamily="34" charset="0"/>
                <a:ea typeface="Calibri" pitchFamily="34" charset="-122"/>
                <a:cs typeface="Calibri" pitchFamily="34" charset="-120"/>
              </a:rPr>
              <a:t>Igualar la tasa de Ripley y no cobrar comisión por transferencias interbancarias.</a:t>
            </a:r>
            <a:endParaRPr lang="en-US" sz="1100"/>
          </a:p>
        </p:txBody>
      </p:sp>
      <p:sp>
        <p:nvSpPr>
          <p:cNvPr id="22" name="Shape 20"/>
          <p:cNvSpPr/>
          <p:nvPr/>
        </p:nvSpPr>
        <p:spPr>
          <a:xfrm>
            <a:off x="8101584" y="4434840"/>
            <a:ext cx="3520440" cy="1508760"/>
          </a:xfrm>
          <a:prstGeom prst="roundRect">
            <a:avLst>
              <a:gd name="adj" fmla="val 4848"/>
            </a:avLst>
          </a:prstGeom>
          <a:solidFill>
            <a:srgbClr val="232C6E"/>
          </a:solidFill>
          <a:ln/>
        </p:spPr>
        <p:txBody>
          <a:bodyPr/>
          <a:lstStyle/>
          <a:p>
            <a:endParaRPr lang="es-PE"/>
          </a:p>
        </p:txBody>
      </p:sp>
      <p:sp>
        <p:nvSpPr>
          <p:cNvPr id="23" name="Text 21"/>
          <p:cNvSpPr/>
          <p:nvPr/>
        </p:nvSpPr>
        <p:spPr>
          <a:xfrm>
            <a:off x="8238744" y="4315968"/>
            <a:ext cx="548640" cy="548640"/>
          </a:xfrm>
          <a:prstGeom prst="rect">
            <a:avLst/>
          </a:prstGeom>
          <a:noFill/>
          <a:ln/>
        </p:spPr>
        <p:txBody>
          <a:bodyPr wrap="square" rtlCol="0" anchor="ctr"/>
          <a:lstStyle/>
          <a:p>
            <a:pPr marL="0" indent="0">
              <a:buNone/>
            </a:pPr>
            <a:r>
              <a:rPr lang="en-US" sz="4000" b="1">
                <a:solidFill>
                  <a:srgbClr val="C9A15A"/>
                </a:solidFill>
                <a:latin typeface="Times New Roman" pitchFamily="34" charset="0"/>
                <a:ea typeface="Times New Roman" pitchFamily="34" charset="-122"/>
                <a:cs typeface="Times New Roman" pitchFamily="34" charset="-120"/>
              </a:rPr>
              <a:t>“</a:t>
            </a:r>
            <a:endParaRPr lang="en-US" sz="4000"/>
          </a:p>
        </p:txBody>
      </p:sp>
      <p:sp>
        <p:nvSpPr>
          <p:cNvPr id="24" name="Text 22"/>
          <p:cNvSpPr/>
          <p:nvPr/>
        </p:nvSpPr>
        <p:spPr>
          <a:xfrm>
            <a:off x="8357616" y="4745736"/>
            <a:ext cx="3008376" cy="1097280"/>
          </a:xfrm>
          <a:prstGeom prst="rect">
            <a:avLst/>
          </a:prstGeom>
          <a:noFill/>
          <a:ln/>
        </p:spPr>
        <p:txBody>
          <a:bodyPr wrap="square" rtlCol="0" anchor="ctr"/>
          <a:lstStyle/>
          <a:p>
            <a:pPr marL="0" indent="0">
              <a:lnSpc>
                <a:spcPct val="118000"/>
              </a:lnSpc>
              <a:buNone/>
            </a:pPr>
            <a:r>
              <a:rPr lang="en-US" sz="1100" i="1">
                <a:solidFill>
                  <a:srgbClr val="FFFFFF"/>
                </a:solidFill>
                <a:latin typeface="Calibri" pitchFamily="34" charset="0"/>
                <a:ea typeface="Calibri" pitchFamily="34" charset="-122"/>
                <a:cs typeface="Calibri" pitchFamily="34" charset="-120"/>
              </a:rPr>
              <a:t>Mayor tasa cuando va incrementando los ahorros, y también promociones o sorteos.</a:t>
            </a:r>
            <a:endParaRPr lang="en-US" sz="1100"/>
          </a:p>
        </p:txBody>
      </p:sp>
      <p:sp>
        <p:nvSpPr>
          <p:cNvPr id="25" name="Text 23"/>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8892C4"/>
                </a:solidFill>
                <a:latin typeface="Calibri" pitchFamily="34" charset="0"/>
                <a:ea typeface="Calibri" pitchFamily="34" charset="-122"/>
                <a:cs typeface="Calibri" pitchFamily="34" charset="-120"/>
              </a:rPr>
              <a:t>BANCO PICHINCHA  |  Data Analytics Hub Pasivos</a:t>
            </a:r>
            <a:endParaRPr lang="en-US" sz="900"/>
          </a:p>
        </p:txBody>
      </p:sp>
      <p:sp>
        <p:nvSpPr>
          <p:cNvPr id="26" name="Text 24"/>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CONFIDENCIAL — USO INTERNO</a:t>
            </a:r>
            <a:endParaRPr lang="en-US" sz="900"/>
          </a:p>
        </p:txBody>
      </p:sp>
      <p:sp>
        <p:nvSpPr>
          <p:cNvPr id="27" name="Text 25"/>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8</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300" b="1">
                <a:solidFill>
                  <a:srgbClr val="1E2761"/>
                </a:solidFill>
                <a:latin typeface="Calibri" pitchFamily="34" charset="0"/>
                <a:ea typeface="Calibri" pitchFamily="34" charset="-122"/>
                <a:cs typeface="Calibri" pitchFamily="34" charset="-120"/>
              </a:rPr>
              <a:t>Conclusiones: lo que dicen los números y lo que confirma el cliente</a:t>
            </a:r>
            <a:endParaRPr lang="en-US" sz="2300"/>
          </a:p>
        </p:txBody>
      </p:sp>
      <p:sp>
        <p:nvSpPr>
          <p:cNvPr id="4" name="Shape 2"/>
          <p:cNvSpPr/>
          <p:nvPr/>
        </p:nvSpPr>
        <p:spPr>
          <a:xfrm>
            <a:off x="548640" y="1965960"/>
            <a:ext cx="5440680" cy="2103120"/>
          </a:xfrm>
          <a:prstGeom prst="roundRect">
            <a:avLst>
              <a:gd name="adj" fmla="val 3478"/>
            </a:avLst>
          </a:prstGeom>
          <a:solidFill>
            <a:srgbClr val="F2F4F8"/>
          </a:solidFill>
          <a:ln w="12700">
            <a:solidFill>
              <a:srgbClr val="E3E6EE"/>
            </a:solidFill>
            <a:prstDash val="solid"/>
          </a:ln>
        </p:spPr>
        <p:txBody>
          <a:bodyPr/>
          <a:lstStyle/>
          <a:p>
            <a:endParaRPr lang="es-PE"/>
          </a:p>
        </p:txBody>
      </p:sp>
      <p:sp>
        <p:nvSpPr>
          <p:cNvPr id="5" name="Text 3"/>
          <p:cNvSpPr/>
          <p:nvPr/>
        </p:nvSpPr>
        <p:spPr>
          <a:xfrm>
            <a:off x="822960" y="2167128"/>
            <a:ext cx="914400" cy="457200"/>
          </a:xfrm>
          <a:prstGeom prst="rect">
            <a:avLst/>
          </a:prstGeom>
          <a:noFill/>
          <a:ln/>
        </p:spPr>
        <p:txBody>
          <a:bodyPr wrap="square" rtlCol="0" anchor="ctr"/>
          <a:lstStyle/>
          <a:p>
            <a:pPr marL="0" indent="0">
              <a:buNone/>
            </a:pPr>
            <a:r>
              <a:rPr lang="en-US" sz="2600" b="1">
                <a:solidFill>
                  <a:srgbClr val="3D5A99"/>
                </a:solidFill>
                <a:latin typeface="Calibri" pitchFamily="34" charset="0"/>
                <a:ea typeface="Calibri" pitchFamily="34" charset="-122"/>
                <a:cs typeface="Calibri" pitchFamily="34" charset="-120"/>
              </a:rPr>
              <a:t>01</a:t>
            </a:r>
            <a:endParaRPr lang="en-US" sz="2600"/>
          </a:p>
        </p:txBody>
      </p:sp>
      <p:sp>
        <p:nvSpPr>
          <p:cNvPr id="6" name="Text 4"/>
          <p:cNvSpPr/>
          <p:nvPr/>
        </p:nvSpPr>
        <p:spPr>
          <a:xfrm>
            <a:off x="822960" y="2679192"/>
            <a:ext cx="4892040" cy="594360"/>
          </a:xfrm>
          <a:prstGeom prst="rect">
            <a:avLst/>
          </a:prstGeom>
          <a:noFill/>
          <a:ln/>
        </p:spPr>
        <p:txBody>
          <a:bodyPr wrap="square" rtlCol="0" anchor="ctr"/>
          <a:lstStyle/>
          <a:p>
            <a:pPr marL="0" indent="0">
              <a:buNone/>
            </a:pPr>
            <a:r>
              <a:rPr lang="en-US" sz="1350" b="1">
                <a:solidFill>
                  <a:srgbClr val="1E2761"/>
                </a:solidFill>
                <a:latin typeface="Calibri" pitchFamily="34" charset="0"/>
                <a:ea typeface="Calibri" pitchFamily="34" charset="-122"/>
                <a:cs typeface="Calibri" pitchFamily="34" charset="-120"/>
              </a:rPr>
              <a:t>La tasa explica casi toda la fuga de precio puro</a:t>
            </a:r>
            <a:endParaRPr lang="en-US" sz="1350"/>
          </a:p>
        </p:txBody>
      </p:sp>
      <p:sp>
        <p:nvSpPr>
          <p:cNvPr id="7" name="Text 5"/>
          <p:cNvSpPr/>
          <p:nvPr/>
        </p:nvSpPr>
        <p:spPr>
          <a:xfrm>
            <a:off x="822960" y="3264408"/>
            <a:ext cx="4892040" cy="731520"/>
          </a:xfrm>
          <a:prstGeom prst="rect">
            <a:avLst/>
          </a:prstGeom>
          <a:noFill/>
          <a:ln/>
        </p:spPr>
        <p:txBody>
          <a:bodyPr wrap="square" rtlCol="0" anchor="ctr"/>
          <a:lstStyle/>
          <a:p>
            <a:pPr marL="0" indent="0">
              <a:lnSpc>
                <a:spcPct val="115000"/>
              </a:lnSpc>
              <a:buNone/>
            </a:pPr>
            <a:r>
              <a:rPr lang="en-US" sz="1050">
                <a:solidFill>
                  <a:srgbClr val="333333"/>
                </a:solidFill>
                <a:latin typeface="Calibri" pitchFamily="34" charset="0"/>
                <a:ea typeface="Calibri" pitchFamily="34" charset="-122"/>
                <a:cs typeface="Calibri" pitchFamily="34" charset="-120"/>
              </a:rPr>
              <a:t>90% de quienes migran a cajas/financieras lo hace solo por tasa; en bancos grandes compite con sueldo (25%) y promociones (23%).</a:t>
            </a:r>
            <a:endParaRPr lang="en-US" sz="1050"/>
          </a:p>
        </p:txBody>
      </p:sp>
      <p:sp>
        <p:nvSpPr>
          <p:cNvPr id="8" name="Shape 6"/>
          <p:cNvSpPr/>
          <p:nvPr/>
        </p:nvSpPr>
        <p:spPr>
          <a:xfrm>
            <a:off x="6309360" y="1965960"/>
            <a:ext cx="5440680" cy="2103120"/>
          </a:xfrm>
          <a:prstGeom prst="roundRect">
            <a:avLst>
              <a:gd name="adj" fmla="val 3478"/>
            </a:avLst>
          </a:prstGeom>
          <a:solidFill>
            <a:srgbClr val="F2F4F8"/>
          </a:solidFill>
          <a:ln w="12700">
            <a:solidFill>
              <a:srgbClr val="E3E6EE"/>
            </a:solidFill>
            <a:prstDash val="solid"/>
          </a:ln>
        </p:spPr>
        <p:txBody>
          <a:bodyPr/>
          <a:lstStyle/>
          <a:p>
            <a:endParaRPr lang="es-PE"/>
          </a:p>
        </p:txBody>
      </p:sp>
      <p:sp>
        <p:nvSpPr>
          <p:cNvPr id="9" name="Text 7"/>
          <p:cNvSpPr/>
          <p:nvPr/>
        </p:nvSpPr>
        <p:spPr>
          <a:xfrm>
            <a:off x="6583680" y="2167128"/>
            <a:ext cx="914400" cy="457200"/>
          </a:xfrm>
          <a:prstGeom prst="rect">
            <a:avLst/>
          </a:prstGeom>
          <a:noFill/>
          <a:ln/>
        </p:spPr>
        <p:txBody>
          <a:bodyPr wrap="square" rtlCol="0" anchor="ctr"/>
          <a:lstStyle/>
          <a:p>
            <a:pPr marL="0" indent="0">
              <a:buNone/>
            </a:pPr>
            <a:r>
              <a:rPr lang="en-US" sz="2600" b="1">
                <a:solidFill>
                  <a:srgbClr val="8A6D2E"/>
                </a:solidFill>
                <a:latin typeface="Calibri" pitchFamily="34" charset="0"/>
                <a:ea typeface="Calibri" pitchFamily="34" charset="-122"/>
                <a:cs typeface="Calibri" pitchFamily="34" charset="-120"/>
              </a:rPr>
              <a:t>02</a:t>
            </a:r>
            <a:endParaRPr lang="en-US" sz="2600"/>
          </a:p>
        </p:txBody>
      </p:sp>
      <p:sp>
        <p:nvSpPr>
          <p:cNvPr id="10" name="Text 8"/>
          <p:cNvSpPr/>
          <p:nvPr/>
        </p:nvSpPr>
        <p:spPr>
          <a:xfrm>
            <a:off x="6583680" y="2679192"/>
            <a:ext cx="4892040" cy="594360"/>
          </a:xfrm>
          <a:prstGeom prst="rect">
            <a:avLst/>
          </a:prstGeom>
          <a:noFill/>
          <a:ln/>
        </p:spPr>
        <p:txBody>
          <a:bodyPr wrap="square" rtlCol="0" anchor="ctr"/>
          <a:lstStyle/>
          <a:p>
            <a:pPr marL="0" indent="0">
              <a:buNone/>
            </a:pPr>
            <a:r>
              <a:rPr lang="en-US" sz="1350" b="1">
                <a:solidFill>
                  <a:srgbClr val="1E2761"/>
                </a:solidFill>
                <a:latin typeface="Calibri" pitchFamily="34" charset="0"/>
                <a:ea typeface="Calibri" pitchFamily="34" charset="-122"/>
                <a:cs typeface="Calibri" pitchFamily="34" charset="-120"/>
              </a:rPr>
              <a:t>El monto perdido es mayor de lo que sugiere el conteo de clientes</a:t>
            </a:r>
            <a:endParaRPr lang="en-US" sz="1350"/>
          </a:p>
        </p:txBody>
      </p:sp>
      <p:sp>
        <p:nvSpPr>
          <p:cNvPr id="11" name="Text 9"/>
          <p:cNvSpPr/>
          <p:nvPr/>
        </p:nvSpPr>
        <p:spPr>
          <a:xfrm>
            <a:off x="6583680" y="3264408"/>
            <a:ext cx="4892040" cy="731520"/>
          </a:xfrm>
          <a:prstGeom prst="rect">
            <a:avLst/>
          </a:prstGeom>
          <a:noFill/>
          <a:ln/>
        </p:spPr>
        <p:txBody>
          <a:bodyPr wrap="square" rtlCol="0" anchor="ctr"/>
          <a:lstStyle/>
          <a:p>
            <a:pPr marL="0" indent="0">
              <a:lnSpc>
                <a:spcPct val="115000"/>
              </a:lnSpc>
              <a:buNone/>
            </a:pPr>
            <a:r>
              <a:rPr lang="en-US" sz="1050">
                <a:solidFill>
                  <a:srgbClr val="333333"/>
                </a:solidFill>
                <a:latin typeface="Calibri" pitchFamily="34" charset="0"/>
                <a:ea typeface="Calibri" pitchFamily="34" charset="-122"/>
                <a:cs typeface="Calibri" pitchFamily="34" charset="-120"/>
              </a:rPr>
              <a:t>81 clientes se fueron a otras entidades (vs. 64 a bancos grandes), pero se llevaron 3.7x más dinero: S/1.99M vs. S/542 mil.</a:t>
            </a:r>
            <a:endParaRPr lang="en-US" sz="1050"/>
          </a:p>
        </p:txBody>
      </p:sp>
      <p:sp>
        <p:nvSpPr>
          <p:cNvPr id="12" name="Shape 10"/>
          <p:cNvSpPr/>
          <p:nvPr/>
        </p:nvSpPr>
        <p:spPr>
          <a:xfrm>
            <a:off x="548640" y="4343400"/>
            <a:ext cx="5440680" cy="2103120"/>
          </a:xfrm>
          <a:prstGeom prst="roundRect">
            <a:avLst>
              <a:gd name="adj" fmla="val 3478"/>
            </a:avLst>
          </a:prstGeom>
          <a:solidFill>
            <a:srgbClr val="F2F4F8"/>
          </a:solidFill>
          <a:ln w="12700">
            <a:solidFill>
              <a:srgbClr val="E3E6EE"/>
            </a:solidFill>
            <a:prstDash val="solid"/>
          </a:ln>
        </p:spPr>
        <p:txBody>
          <a:bodyPr/>
          <a:lstStyle/>
          <a:p>
            <a:endParaRPr lang="es-PE"/>
          </a:p>
        </p:txBody>
      </p:sp>
      <p:sp>
        <p:nvSpPr>
          <p:cNvPr id="13" name="Text 11"/>
          <p:cNvSpPr/>
          <p:nvPr/>
        </p:nvSpPr>
        <p:spPr>
          <a:xfrm>
            <a:off x="822960" y="4544568"/>
            <a:ext cx="914400" cy="457200"/>
          </a:xfrm>
          <a:prstGeom prst="rect">
            <a:avLst/>
          </a:prstGeom>
          <a:noFill/>
          <a:ln/>
        </p:spPr>
        <p:txBody>
          <a:bodyPr wrap="square" rtlCol="0" anchor="ctr"/>
          <a:lstStyle/>
          <a:p>
            <a:pPr marL="0" indent="0">
              <a:buNone/>
            </a:pPr>
            <a:r>
              <a:rPr lang="en-US" sz="2600" b="1">
                <a:solidFill>
                  <a:srgbClr val="3D5A99"/>
                </a:solidFill>
                <a:latin typeface="Calibri" pitchFamily="34" charset="0"/>
                <a:ea typeface="Calibri" pitchFamily="34" charset="-122"/>
                <a:cs typeface="Calibri" pitchFamily="34" charset="-120"/>
              </a:rPr>
              <a:t>03</a:t>
            </a:r>
            <a:endParaRPr lang="en-US" sz="2600"/>
          </a:p>
        </p:txBody>
      </p:sp>
      <p:sp>
        <p:nvSpPr>
          <p:cNvPr id="14" name="Text 12"/>
          <p:cNvSpPr/>
          <p:nvPr/>
        </p:nvSpPr>
        <p:spPr>
          <a:xfrm>
            <a:off x="822960" y="5056632"/>
            <a:ext cx="4892040" cy="594360"/>
          </a:xfrm>
          <a:prstGeom prst="rect">
            <a:avLst/>
          </a:prstGeom>
          <a:noFill/>
          <a:ln/>
        </p:spPr>
        <p:txBody>
          <a:bodyPr wrap="square" rtlCol="0" anchor="ctr"/>
          <a:lstStyle/>
          <a:p>
            <a:pPr marL="0" indent="0">
              <a:buNone/>
            </a:pPr>
            <a:r>
              <a:rPr lang="en-US" sz="1350" b="1">
                <a:solidFill>
                  <a:srgbClr val="1E2761"/>
                </a:solidFill>
                <a:latin typeface="Calibri" pitchFamily="34" charset="0"/>
                <a:ea typeface="Calibri" pitchFamily="34" charset="-122"/>
                <a:cs typeface="Calibri" pitchFamily="34" charset="-120"/>
              </a:rPr>
              <a:t>Los tickets altos (&gt;S/5,000) concentran el riesgo real</a:t>
            </a:r>
            <a:endParaRPr lang="en-US" sz="1350"/>
          </a:p>
        </p:txBody>
      </p:sp>
      <p:sp>
        <p:nvSpPr>
          <p:cNvPr id="15" name="Text 13"/>
          <p:cNvSpPr/>
          <p:nvPr/>
        </p:nvSpPr>
        <p:spPr>
          <a:xfrm>
            <a:off x="822960" y="5641848"/>
            <a:ext cx="4892040" cy="731520"/>
          </a:xfrm>
          <a:prstGeom prst="rect">
            <a:avLst/>
          </a:prstGeom>
          <a:noFill/>
          <a:ln/>
        </p:spPr>
        <p:txBody>
          <a:bodyPr wrap="square" lIns="91440" tIns="45720" rIns="91440" bIns="45720" rtlCol="0" anchor="ctr"/>
          <a:lstStyle/>
          <a:p>
            <a:pPr marL="0" indent="0">
              <a:lnSpc>
                <a:spcPct val="115000"/>
              </a:lnSpc>
              <a:buNone/>
            </a:pPr>
            <a:r>
              <a:rPr lang="en-US" sz="1050">
                <a:solidFill>
                  <a:srgbClr val="333333"/>
                </a:solidFill>
                <a:latin typeface="Calibri"/>
                <a:ea typeface="Calibri"/>
                <a:cs typeface="Calibri"/>
              </a:rPr>
              <a:t>47% del </a:t>
            </a:r>
            <a:r>
              <a:rPr lang="en-US" sz="1050" err="1">
                <a:solidFill>
                  <a:srgbClr val="333333"/>
                </a:solidFill>
                <a:latin typeface="Calibri"/>
                <a:ea typeface="Calibri"/>
                <a:cs typeface="Calibri"/>
              </a:rPr>
              <a:t>monto</a:t>
            </a:r>
            <a:r>
              <a:rPr lang="en-US" sz="1050">
                <a:solidFill>
                  <a:srgbClr val="333333"/>
                </a:solidFill>
                <a:latin typeface="Calibri"/>
                <a:ea typeface="Calibri"/>
                <a:cs typeface="Calibri"/>
              </a:rPr>
              <a:t> </a:t>
            </a:r>
            <a:r>
              <a:rPr lang="en-US" sz="1050" err="1">
                <a:solidFill>
                  <a:srgbClr val="333333"/>
                </a:solidFill>
                <a:latin typeface="Calibri"/>
                <a:ea typeface="Calibri"/>
                <a:cs typeface="Calibri"/>
              </a:rPr>
              <a:t>transaccional</a:t>
            </a:r>
            <a:r>
              <a:rPr lang="en-US" sz="1050">
                <a:solidFill>
                  <a:srgbClr val="333333"/>
                </a:solidFill>
                <a:latin typeface="Calibri"/>
                <a:ea typeface="Calibri"/>
                <a:cs typeface="Calibri"/>
              </a:rPr>
              <a:t> sale </a:t>
            </a:r>
            <a:r>
              <a:rPr lang="en-US" sz="1050" err="1">
                <a:solidFill>
                  <a:srgbClr val="333333"/>
                </a:solidFill>
                <a:latin typeface="Calibri"/>
                <a:ea typeface="Calibri"/>
                <a:cs typeface="Calibri"/>
              </a:rPr>
              <a:t>en</a:t>
            </a:r>
            <a:r>
              <a:rPr lang="en-US" sz="1050">
                <a:solidFill>
                  <a:srgbClr val="333333"/>
                </a:solidFill>
                <a:latin typeface="Calibri"/>
                <a:ea typeface="Calibri"/>
                <a:cs typeface="Calibri"/>
              </a:rPr>
              <a:t> solo 2.3% de las </a:t>
            </a:r>
            <a:r>
              <a:rPr lang="en-US" sz="1050" err="1">
                <a:solidFill>
                  <a:srgbClr val="333333"/>
                </a:solidFill>
                <a:latin typeface="Calibri"/>
                <a:ea typeface="Calibri"/>
                <a:cs typeface="Calibri"/>
              </a:rPr>
              <a:t>operaciones</a:t>
            </a:r>
            <a:r>
              <a:rPr lang="en-US" sz="1050">
                <a:solidFill>
                  <a:srgbClr val="333333"/>
                </a:solidFill>
                <a:latin typeface="Calibri"/>
                <a:ea typeface="Calibri"/>
                <a:cs typeface="Calibri"/>
              </a:rPr>
              <a:t> — coincide con el </a:t>
            </a:r>
            <a:r>
              <a:rPr lang="en-US" sz="1050" err="1">
                <a:solidFill>
                  <a:srgbClr val="333333"/>
                </a:solidFill>
                <a:latin typeface="Calibri"/>
                <a:ea typeface="Calibri"/>
                <a:cs typeface="Calibri"/>
              </a:rPr>
              <a:t>segmento</a:t>
            </a:r>
            <a:r>
              <a:rPr lang="en-US" sz="1050">
                <a:solidFill>
                  <a:srgbClr val="333333"/>
                </a:solidFill>
                <a:latin typeface="Calibri"/>
                <a:ea typeface="Calibri"/>
                <a:cs typeface="Calibri"/>
              </a:rPr>
              <a:t> </a:t>
            </a:r>
            <a:r>
              <a:rPr lang="en-US" sz="1050" err="1">
                <a:solidFill>
                  <a:srgbClr val="333333"/>
                </a:solidFill>
                <a:latin typeface="Calibri"/>
                <a:ea typeface="Calibri"/>
                <a:cs typeface="Calibri"/>
              </a:rPr>
              <a:t>que</a:t>
            </a:r>
            <a:r>
              <a:rPr lang="en-US" sz="1050">
                <a:solidFill>
                  <a:srgbClr val="333333"/>
                </a:solidFill>
                <a:latin typeface="Calibri"/>
                <a:ea typeface="Calibri"/>
                <a:cs typeface="Calibri"/>
              </a:rPr>
              <a:t> </a:t>
            </a:r>
            <a:r>
              <a:rPr lang="en-US" sz="1050" err="1">
                <a:solidFill>
                  <a:srgbClr val="333333"/>
                </a:solidFill>
                <a:latin typeface="Calibri"/>
                <a:ea typeface="Calibri"/>
                <a:cs typeface="Calibri"/>
              </a:rPr>
              <a:t>targeteó</a:t>
            </a:r>
            <a:r>
              <a:rPr lang="en-US" sz="1050">
                <a:solidFill>
                  <a:srgbClr val="333333"/>
                </a:solidFill>
                <a:latin typeface="Calibri"/>
                <a:ea typeface="Calibri"/>
                <a:cs typeface="Calibri"/>
              </a:rPr>
              <a:t> la </a:t>
            </a:r>
            <a:r>
              <a:rPr lang="en-US" sz="1050" err="1">
                <a:solidFill>
                  <a:srgbClr val="333333"/>
                </a:solidFill>
                <a:latin typeface="Calibri"/>
                <a:ea typeface="Calibri"/>
                <a:cs typeface="Calibri"/>
              </a:rPr>
              <a:t>encuesta</a:t>
            </a:r>
            <a:r>
              <a:rPr lang="en-US" sz="1050">
                <a:solidFill>
                  <a:srgbClr val="333333"/>
                </a:solidFill>
                <a:latin typeface="Calibri"/>
                <a:ea typeface="Calibri"/>
                <a:cs typeface="Calibri"/>
              </a:rPr>
              <a:t>.</a:t>
            </a:r>
            <a:endParaRPr lang="en-US" sz="1050">
              <a:latin typeface="Calibri"/>
              <a:ea typeface="Calibri"/>
              <a:cs typeface="Calibri"/>
            </a:endParaRPr>
          </a:p>
        </p:txBody>
      </p:sp>
      <p:sp>
        <p:nvSpPr>
          <p:cNvPr id="16" name="Shape 14"/>
          <p:cNvSpPr/>
          <p:nvPr/>
        </p:nvSpPr>
        <p:spPr>
          <a:xfrm>
            <a:off x="6309360" y="4343400"/>
            <a:ext cx="5440680" cy="2103120"/>
          </a:xfrm>
          <a:prstGeom prst="roundRect">
            <a:avLst>
              <a:gd name="adj" fmla="val 3478"/>
            </a:avLst>
          </a:prstGeom>
          <a:solidFill>
            <a:srgbClr val="F2F4F8"/>
          </a:solidFill>
          <a:ln w="12700">
            <a:solidFill>
              <a:srgbClr val="E3E6EE"/>
            </a:solidFill>
            <a:prstDash val="solid"/>
          </a:ln>
        </p:spPr>
        <p:txBody>
          <a:bodyPr/>
          <a:lstStyle/>
          <a:p>
            <a:endParaRPr lang="es-PE"/>
          </a:p>
        </p:txBody>
      </p:sp>
      <p:sp>
        <p:nvSpPr>
          <p:cNvPr id="17" name="Text 15"/>
          <p:cNvSpPr/>
          <p:nvPr/>
        </p:nvSpPr>
        <p:spPr>
          <a:xfrm>
            <a:off x="6583680" y="4544568"/>
            <a:ext cx="914400" cy="457200"/>
          </a:xfrm>
          <a:prstGeom prst="rect">
            <a:avLst/>
          </a:prstGeom>
          <a:noFill/>
          <a:ln/>
        </p:spPr>
        <p:txBody>
          <a:bodyPr wrap="square" rtlCol="0" anchor="ctr"/>
          <a:lstStyle/>
          <a:p>
            <a:pPr marL="0" indent="0">
              <a:buNone/>
            </a:pPr>
            <a:r>
              <a:rPr lang="en-US" sz="2600" b="1">
                <a:solidFill>
                  <a:srgbClr val="8A6D2E"/>
                </a:solidFill>
                <a:latin typeface="Calibri" pitchFamily="34" charset="0"/>
                <a:ea typeface="Calibri" pitchFamily="34" charset="-122"/>
                <a:cs typeface="Calibri" pitchFamily="34" charset="-120"/>
              </a:rPr>
              <a:t>04</a:t>
            </a:r>
            <a:endParaRPr lang="en-US" sz="2600"/>
          </a:p>
        </p:txBody>
      </p:sp>
      <p:sp>
        <p:nvSpPr>
          <p:cNvPr id="18" name="Text 16"/>
          <p:cNvSpPr/>
          <p:nvPr/>
        </p:nvSpPr>
        <p:spPr>
          <a:xfrm>
            <a:off x="6583680" y="5056632"/>
            <a:ext cx="4892040" cy="594360"/>
          </a:xfrm>
          <a:prstGeom prst="rect">
            <a:avLst/>
          </a:prstGeom>
          <a:noFill/>
          <a:ln/>
        </p:spPr>
        <p:txBody>
          <a:bodyPr wrap="square" rtlCol="0" anchor="ctr"/>
          <a:lstStyle/>
          <a:p>
            <a:pPr marL="0" indent="0">
              <a:buNone/>
            </a:pPr>
            <a:r>
              <a:rPr lang="en-US" sz="1350" b="1">
                <a:solidFill>
                  <a:srgbClr val="1E2761"/>
                </a:solidFill>
                <a:latin typeface="Calibri" pitchFamily="34" charset="0"/>
                <a:ea typeface="Calibri" pitchFamily="34" charset="-122"/>
                <a:cs typeface="Calibri" pitchFamily="34" charset="-120"/>
              </a:rPr>
              <a:t>Las diferidas de alto ticket sugieren vaciado programado</a:t>
            </a:r>
            <a:endParaRPr lang="en-US" sz="1350"/>
          </a:p>
        </p:txBody>
      </p:sp>
      <p:sp>
        <p:nvSpPr>
          <p:cNvPr id="19" name="Text 17"/>
          <p:cNvSpPr/>
          <p:nvPr/>
        </p:nvSpPr>
        <p:spPr>
          <a:xfrm>
            <a:off x="6583680" y="5641848"/>
            <a:ext cx="4892040" cy="731520"/>
          </a:xfrm>
          <a:prstGeom prst="rect">
            <a:avLst/>
          </a:prstGeom>
          <a:noFill/>
          <a:ln/>
        </p:spPr>
        <p:txBody>
          <a:bodyPr wrap="square" rtlCol="0" anchor="ctr"/>
          <a:lstStyle/>
          <a:p>
            <a:pPr marL="0" indent="0">
              <a:lnSpc>
                <a:spcPct val="115000"/>
              </a:lnSpc>
              <a:buNone/>
            </a:pPr>
            <a:r>
              <a:rPr lang="en-US" sz="1050">
                <a:solidFill>
                  <a:srgbClr val="333333"/>
                </a:solidFill>
                <a:latin typeface="Calibri" pitchFamily="34" charset="0"/>
                <a:ea typeface="Calibri" pitchFamily="34" charset="-122"/>
                <a:cs typeface="Calibri" pitchFamily="34" charset="-120"/>
              </a:rPr>
              <a:t>Ticket medio S/3,621.61 con 1.9 operaciones por cliente en el canal Diferido: patrón a auditar, no un retiro puntual.</a:t>
            </a:r>
            <a:endParaRPr lang="en-US" sz="1050"/>
          </a:p>
        </p:txBody>
      </p:sp>
      <p:sp>
        <p:nvSpPr>
          <p:cNvPr id="20" name="Text 18"/>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21" name="Text 19"/>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22" name="Text 20"/>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9</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41B4D"/>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marL="0" indent="0">
              <a:buNone/>
            </a:pPr>
            <a:r>
              <a:rPr lang="en-US" sz="1200" b="1" kern="0" spc="150">
                <a:solidFill>
                  <a:srgbClr val="C9A15A"/>
                </a:solidFill>
                <a:latin typeface="Calibri" pitchFamily="34" charset="0"/>
                <a:ea typeface="Calibri" pitchFamily="34" charset="-122"/>
                <a:cs typeface="Calibri" pitchFamily="34" charset="-120"/>
              </a:rPr>
              <a:t>PRÓXIMOS PASOS</a:t>
            </a:r>
            <a:endParaRPr lang="en-US" sz="1200"/>
          </a:p>
        </p:txBody>
      </p:sp>
      <p:sp>
        <p:nvSpPr>
          <p:cNvPr id="3" name="Text 1"/>
          <p:cNvSpPr/>
          <p:nvPr/>
        </p:nvSpPr>
        <p:spPr>
          <a:xfrm>
            <a:off x="548640" y="658368"/>
            <a:ext cx="11064240" cy="822960"/>
          </a:xfrm>
          <a:prstGeom prst="rect">
            <a:avLst/>
          </a:prstGeom>
          <a:noFill/>
          <a:ln/>
        </p:spPr>
        <p:txBody>
          <a:bodyPr wrap="square" rtlCol="0" anchor="ctr"/>
          <a:lstStyle/>
          <a:p>
            <a:pPr marL="0" indent="0" algn="l">
              <a:buNone/>
            </a:pPr>
            <a:r>
              <a:rPr lang="en-US" sz="2600" b="1" err="1">
                <a:solidFill>
                  <a:srgbClr val="FFFFFF"/>
                </a:solidFill>
                <a:latin typeface="Calibri" pitchFamily="34" charset="0"/>
                <a:ea typeface="Calibri" pitchFamily="34" charset="-122"/>
                <a:cs typeface="Calibri" pitchFamily="34" charset="-120"/>
              </a:rPr>
              <a:t>Recomendaciones</a:t>
            </a:r>
            <a:r>
              <a:rPr lang="en-US" sz="2600" b="1">
                <a:solidFill>
                  <a:srgbClr val="FFFFFF"/>
                </a:solidFill>
                <a:latin typeface="Calibri" pitchFamily="34" charset="0"/>
                <a:ea typeface="Calibri" pitchFamily="34" charset="-122"/>
                <a:cs typeface="Calibri" pitchFamily="34" charset="-120"/>
              </a:rPr>
              <a:t> </a:t>
            </a:r>
            <a:endParaRPr lang="en-US" sz="2600"/>
          </a:p>
        </p:txBody>
      </p:sp>
      <p:sp>
        <p:nvSpPr>
          <p:cNvPr id="4" name="Shape 2"/>
          <p:cNvSpPr/>
          <p:nvPr/>
        </p:nvSpPr>
        <p:spPr>
          <a:xfrm>
            <a:off x="548640" y="2103120"/>
            <a:ext cx="2697480" cy="3383280"/>
          </a:xfrm>
          <a:prstGeom prst="roundRect">
            <a:avLst>
              <a:gd name="adj" fmla="val 2712"/>
            </a:avLst>
          </a:prstGeom>
          <a:solidFill>
            <a:srgbClr val="232C6E"/>
          </a:solidFill>
          <a:ln/>
        </p:spPr>
        <p:txBody>
          <a:bodyPr/>
          <a:lstStyle/>
          <a:p>
            <a:endParaRPr lang="es-PE"/>
          </a:p>
        </p:txBody>
      </p:sp>
      <p:sp>
        <p:nvSpPr>
          <p:cNvPr id="5" name="Text 3"/>
          <p:cNvSpPr/>
          <p:nvPr/>
        </p:nvSpPr>
        <p:spPr>
          <a:xfrm>
            <a:off x="749808" y="2304288"/>
            <a:ext cx="2295144" cy="457200"/>
          </a:xfrm>
          <a:prstGeom prst="rect">
            <a:avLst/>
          </a:prstGeom>
          <a:noFill/>
          <a:ln/>
        </p:spPr>
        <p:txBody>
          <a:bodyPr wrap="square" rtlCol="0" anchor="ctr"/>
          <a:lstStyle/>
          <a:p>
            <a:pPr marL="0" indent="0">
              <a:buNone/>
            </a:pPr>
            <a:r>
              <a:rPr lang="en-US" sz="2200" b="1">
                <a:solidFill>
                  <a:srgbClr val="C9A15A"/>
                </a:solidFill>
                <a:latin typeface="Calibri" pitchFamily="34" charset="0"/>
                <a:ea typeface="Calibri" pitchFamily="34" charset="-122"/>
                <a:cs typeface="Calibri" pitchFamily="34" charset="-120"/>
              </a:rPr>
              <a:t>01</a:t>
            </a:r>
            <a:endParaRPr lang="en-US" sz="2200"/>
          </a:p>
        </p:txBody>
      </p:sp>
      <p:sp>
        <p:nvSpPr>
          <p:cNvPr id="6" name="Text 4"/>
          <p:cNvSpPr/>
          <p:nvPr/>
        </p:nvSpPr>
        <p:spPr>
          <a:xfrm>
            <a:off x="749808" y="2880360"/>
            <a:ext cx="2295144" cy="960120"/>
          </a:xfrm>
          <a:prstGeom prst="rect">
            <a:avLst/>
          </a:prstGeom>
          <a:noFill/>
          <a:ln/>
        </p:spPr>
        <p:txBody>
          <a:bodyPr wrap="square" rtlCol="0" anchor="ctr"/>
          <a:lstStyle/>
          <a:p>
            <a:pPr marL="0" indent="0">
              <a:lnSpc>
                <a:spcPct val="110000"/>
              </a:lnSpc>
              <a:buNone/>
            </a:pPr>
            <a:r>
              <a:rPr lang="en-US" sz="1250" b="1">
                <a:solidFill>
                  <a:srgbClr val="FFFFFF"/>
                </a:solidFill>
                <a:latin typeface="Calibri" pitchFamily="34" charset="0"/>
                <a:ea typeface="Calibri" pitchFamily="34" charset="-122"/>
                <a:cs typeface="Calibri" pitchFamily="34" charset="-120"/>
              </a:rPr>
              <a:t>Auditar diferidas de alto ticket</a:t>
            </a:r>
            <a:endParaRPr lang="en-US" sz="1250"/>
          </a:p>
        </p:txBody>
      </p:sp>
      <p:sp>
        <p:nvSpPr>
          <p:cNvPr id="7" name="Text 5"/>
          <p:cNvSpPr/>
          <p:nvPr/>
        </p:nvSpPr>
        <p:spPr>
          <a:xfrm>
            <a:off x="749808" y="3886200"/>
            <a:ext cx="2295144" cy="1508760"/>
          </a:xfrm>
          <a:prstGeom prst="rect">
            <a:avLst/>
          </a:prstGeom>
          <a:noFill/>
          <a:ln/>
        </p:spPr>
        <p:txBody>
          <a:bodyPr wrap="square" rtlCol="0" anchor="ctr"/>
          <a:lstStyle/>
          <a:p>
            <a:pPr marL="0" indent="0">
              <a:lnSpc>
                <a:spcPct val="120000"/>
              </a:lnSpc>
              <a:buNone/>
            </a:pPr>
            <a:r>
              <a:rPr lang="en-US" sz="1000">
                <a:solidFill>
                  <a:srgbClr val="C7D0E3"/>
                </a:solidFill>
                <a:latin typeface="Calibri" pitchFamily="34" charset="0"/>
                <a:ea typeface="Calibri" pitchFamily="34" charset="-122"/>
                <a:cs typeface="Calibri" pitchFamily="34" charset="-120"/>
              </a:rPr>
              <a:t>Investigar el patrón de vaciado programado (tk. medio S/3,621.61) antes de que escale.</a:t>
            </a:r>
            <a:endParaRPr lang="en-US" sz="1000"/>
          </a:p>
        </p:txBody>
      </p:sp>
      <p:sp>
        <p:nvSpPr>
          <p:cNvPr id="8" name="Shape 6"/>
          <p:cNvSpPr/>
          <p:nvPr/>
        </p:nvSpPr>
        <p:spPr>
          <a:xfrm>
            <a:off x="3447288" y="2103120"/>
            <a:ext cx="2697480" cy="3383280"/>
          </a:xfrm>
          <a:prstGeom prst="roundRect">
            <a:avLst>
              <a:gd name="adj" fmla="val 2712"/>
            </a:avLst>
          </a:prstGeom>
          <a:solidFill>
            <a:srgbClr val="232C6E"/>
          </a:solidFill>
          <a:ln/>
        </p:spPr>
        <p:txBody>
          <a:bodyPr/>
          <a:lstStyle/>
          <a:p>
            <a:endParaRPr lang="es-PE"/>
          </a:p>
        </p:txBody>
      </p:sp>
      <p:sp>
        <p:nvSpPr>
          <p:cNvPr id="9" name="Text 7"/>
          <p:cNvSpPr/>
          <p:nvPr/>
        </p:nvSpPr>
        <p:spPr>
          <a:xfrm>
            <a:off x="3648456" y="2304288"/>
            <a:ext cx="2295144" cy="457200"/>
          </a:xfrm>
          <a:prstGeom prst="rect">
            <a:avLst/>
          </a:prstGeom>
          <a:noFill/>
          <a:ln/>
        </p:spPr>
        <p:txBody>
          <a:bodyPr wrap="square" rtlCol="0" anchor="ctr"/>
          <a:lstStyle/>
          <a:p>
            <a:pPr marL="0" indent="0">
              <a:buNone/>
            </a:pPr>
            <a:r>
              <a:rPr lang="en-US" sz="2200" b="1">
                <a:solidFill>
                  <a:srgbClr val="C9A15A"/>
                </a:solidFill>
                <a:latin typeface="Calibri" pitchFamily="34" charset="0"/>
                <a:ea typeface="Calibri" pitchFamily="34" charset="-122"/>
                <a:cs typeface="Calibri" pitchFamily="34" charset="-120"/>
              </a:rPr>
              <a:t>02</a:t>
            </a:r>
            <a:endParaRPr lang="en-US" sz="2200"/>
          </a:p>
        </p:txBody>
      </p:sp>
      <p:sp>
        <p:nvSpPr>
          <p:cNvPr id="10" name="Text 8"/>
          <p:cNvSpPr/>
          <p:nvPr/>
        </p:nvSpPr>
        <p:spPr>
          <a:xfrm>
            <a:off x="3648456" y="2880360"/>
            <a:ext cx="2295144" cy="960120"/>
          </a:xfrm>
          <a:prstGeom prst="rect">
            <a:avLst/>
          </a:prstGeom>
          <a:noFill/>
          <a:ln/>
        </p:spPr>
        <p:txBody>
          <a:bodyPr wrap="square" rtlCol="0" anchor="ctr"/>
          <a:lstStyle/>
          <a:p>
            <a:pPr marL="0" indent="0">
              <a:lnSpc>
                <a:spcPct val="110000"/>
              </a:lnSpc>
              <a:buNone/>
            </a:pPr>
            <a:r>
              <a:rPr lang="en-US" sz="1250" b="1">
                <a:solidFill>
                  <a:srgbClr val="FFFFFF"/>
                </a:solidFill>
                <a:latin typeface="Calibri" pitchFamily="34" charset="0"/>
                <a:ea typeface="Calibri" pitchFamily="34" charset="-122"/>
                <a:cs typeface="Calibri" pitchFamily="34" charset="-120"/>
              </a:rPr>
              <a:t>Retener con tasa + vínculo, no solo tasa</a:t>
            </a:r>
            <a:endParaRPr lang="en-US" sz="1250"/>
          </a:p>
        </p:txBody>
      </p:sp>
      <p:sp>
        <p:nvSpPr>
          <p:cNvPr id="11" name="Text 9"/>
          <p:cNvSpPr/>
          <p:nvPr/>
        </p:nvSpPr>
        <p:spPr>
          <a:xfrm>
            <a:off x="3648456" y="3886200"/>
            <a:ext cx="2295144" cy="1508760"/>
          </a:xfrm>
          <a:prstGeom prst="rect">
            <a:avLst/>
          </a:prstGeom>
          <a:noFill/>
          <a:ln/>
        </p:spPr>
        <p:txBody>
          <a:bodyPr wrap="square" rtlCol="0" anchor="ctr"/>
          <a:lstStyle/>
          <a:p>
            <a:pPr marL="0" indent="0">
              <a:lnSpc>
                <a:spcPct val="120000"/>
              </a:lnSpc>
              <a:buNone/>
            </a:pPr>
            <a:r>
              <a:rPr lang="en-US" sz="1000">
                <a:solidFill>
                  <a:srgbClr val="C7D0E3"/>
                </a:solidFill>
                <a:latin typeface="Calibri" pitchFamily="34" charset="0"/>
                <a:ea typeface="Calibri" pitchFamily="34" charset="-122"/>
                <a:cs typeface="Calibri" pitchFamily="34" charset="-120"/>
              </a:rPr>
              <a:t>Ofertas diferenciadas: comparativa de tasa para el segmento "precio puro" y refuerzo de vínculo (sueldo, promociones) para el resto.</a:t>
            </a:r>
            <a:endParaRPr lang="en-US" sz="1000"/>
          </a:p>
        </p:txBody>
      </p:sp>
      <p:sp>
        <p:nvSpPr>
          <p:cNvPr id="12" name="Shape 10"/>
          <p:cNvSpPr/>
          <p:nvPr/>
        </p:nvSpPr>
        <p:spPr>
          <a:xfrm>
            <a:off x="6345936" y="2103120"/>
            <a:ext cx="2697480" cy="3383280"/>
          </a:xfrm>
          <a:prstGeom prst="roundRect">
            <a:avLst>
              <a:gd name="adj" fmla="val 2712"/>
            </a:avLst>
          </a:prstGeom>
          <a:solidFill>
            <a:srgbClr val="232C6E"/>
          </a:solidFill>
          <a:ln/>
        </p:spPr>
        <p:txBody>
          <a:bodyPr/>
          <a:lstStyle/>
          <a:p>
            <a:endParaRPr lang="es-PE"/>
          </a:p>
        </p:txBody>
      </p:sp>
      <p:sp>
        <p:nvSpPr>
          <p:cNvPr id="13" name="Text 11"/>
          <p:cNvSpPr/>
          <p:nvPr/>
        </p:nvSpPr>
        <p:spPr>
          <a:xfrm>
            <a:off x="6547104" y="2304288"/>
            <a:ext cx="2295144" cy="457200"/>
          </a:xfrm>
          <a:prstGeom prst="rect">
            <a:avLst/>
          </a:prstGeom>
          <a:noFill/>
          <a:ln/>
        </p:spPr>
        <p:txBody>
          <a:bodyPr wrap="square" rtlCol="0" anchor="ctr"/>
          <a:lstStyle/>
          <a:p>
            <a:pPr marL="0" indent="0">
              <a:buNone/>
            </a:pPr>
            <a:r>
              <a:rPr lang="en-US" sz="2200" b="1">
                <a:solidFill>
                  <a:srgbClr val="C9A15A"/>
                </a:solidFill>
                <a:latin typeface="Calibri" pitchFamily="34" charset="0"/>
                <a:ea typeface="Calibri" pitchFamily="34" charset="-122"/>
                <a:cs typeface="Calibri" pitchFamily="34" charset="-120"/>
              </a:rPr>
              <a:t>03</a:t>
            </a:r>
            <a:endParaRPr lang="en-US" sz="2200"/>
          </a:p>
        </p:txBody>
      </p:sp>
      <p:sp>
        <p:nvSpPr>
          <p:cNvPr id="14" name="Text 12"/>
          <p:cNvSpPr/>
          <p:nvPr/>
        </p:nvSpPr>
        <p:spPr>
          <a:xfrm>
            <a:off x="6547104" y="2880360"/>
            <a:ext cx="2295144" cy="960120"/>
          </a:xfrm>
          <a:prstGeom prst="rect">
            <a:avLst/>
          </a:prstGeom>
          <a:noFill/>
          <a:ln/>
        </p:spPr>
        <p:txBody>
          <a:bodyPr wrap="square" rtlCol="0" anchor="ctr"/>
          <a:lstStyle/>
          <a:p>
            <a:pPr marL="0" indent="0">
              <a:lnSpc>
                <a:spcPct val="110000"/>
              </a:lnSpc>
              <a:buNone/>
            </a:pPr>
            <a:r>
              <a:rPr lang="en-US" sz="1250" b="1">
                <a:solidFill>
                  <a:srgbClr val="FFFFFF"/>
                </a:solidFill>
                <a:latin typeface="Calibri" pitchFamily="34" charset="0"/>
                <a:ea typeface="Calibri" pitchFamily="34" charset="-122"/>
                <a:cs typeface="Calibri" pitchFamily="34" charset="-120"/>
              </a:rPr>
              <a:t>Monitorear satisfacción como alerta temprana</a:t>
            </a:r>
            <a:endParaRPr lang="en-US" sz="1250"/>
          </a:p>
        </p:txBody>
      </p:sp>
      <p:sp>
        <p:nvSpPr>
          <p:cNvPr id="15" name="Text 13"/>
          <p:cNvSpPr/>
          <p:nvPr/>
        </p:nvSpPr>
        <p:spPr>
          <a:xfrm>
            <a:off x="6547104" y="3886200"/>
            <a:ext cx="2295144" cy="1508760"/>
          </a:xfrm>
          <a:prstGeom prst="rect">
            <a:avLst/>
          </a:prstGeom>
          <a:noFill/>
          <a:ln/>
        </p:spPr>
        <p:txBody>
          <a:bodyPr wrap="square" rtlCol="0" anchor="ctr"/>
          <a:lstStyle/>
          <a:p>
            <a:pPr marL="0" indent="0">
              <a:lnSpc>
                <a:spcPct val="120000"/>
              </a:lnSpc>
              <a:buNone/>
            </a:pPr>
            <a:r>
              <a:rPr lang="en-US" sz="1000">
                <a:solidFill>
                  <a:srgbClr val="C7D0E3"/>
                </a:solidFill>
                <a:latin typeface="Calibri" pitchFamily="34" charset="0"/>
                <a:ea typeface="Calibri" pitchFamily="34" charset="-122"/>
                <a:cs typeface="Calibri" pitchFamily="34" charset="-120"/>
              </a:rPr>
              <a:t>Trackear el puntaje por segmento; la caída de 8.5 a 7.2 precede la salida efectiva de fondos.</a:t>
            </a:r>
            <a:endParaRPr lang="en-US" sz="1000"/>
          </a:p>
        </p:txBody>
      </p:sp>
      <p:sp>
        <p:nvSpPr>
          <p:cNvPr id="16" name="Shape 14"/>
          <p:cNvSpPr/>
          <p:nvPr/>
        </p:nvSpPr>
        <p:spPr>
          <a:xfrm>
            <a:off x="9244584" y="2103120"/>
            <a:ext cx="2697480" cy="3383280"/>
          </a:xfrm>
          <a:prstGeom prst="roundRect">
            <a:avLst>
              <a:gd name="adj" fmla="val 2712"/>
            </a:avLst>
          </a:prstGeom>
          <a:solidFill>
            <a:srgbClr val="232C6E"/>
          </a:solidFill>
          <a:ln/>
        </p:spPr>
        <p:txBody>
          <a:bodyPr/>
          <a:lstStyle/>
          <a:p>
            <a:endParaRPr lang="es-PE"/>
          </a:p>
        </p:txBody>
      </p:sp>
      <p:sp>
        <p:nvSpPr>
          <p:cNvPr id="17" name="Text 15"/>
          <p:cNvSpPr/>
          <p:nvPr/>
        </p:nvSpPr>
        <p:spPr>
          <a:xfrm>
            <a:off x="9445752" y="2304288"/>
            <a:ext cx="2295144" cy="457200"/>
          </a:xfrm>
          <a:prstGeom prst="rect">
            <a:avLst/>
          </a:prstGeom>
          <a:noFill/>
          <a:ln/>
        </p:spPr>
        <p:txBody>
          <a:bodyPr wrap="square" rtlCol="0" anchor="ctr"/>
          <a:lstStyle/>
          <a:p>
            <a:pPr marL="0" indent="0">
              <a:buNone/>
            </a:pPr>
            <a:r>
              <a:rPr lang="en-US" sz="2200" b="1">
                <a:solidFill>
                  <a:srgbClr val="C9A15A"/>
                </a:solidFill>
                <a:latin typeface="Calibri" pitchFamily="34" charset="0"/>
                <a:ea typeface="Calibri" pitchFamily="34" charset="-122"/>
                <a:cs typeface="Calibri" pitchFamily="34" charset="-120"/>
              </a:rPr>
              <a:t>04</a:t>
            </a:r>
            <a:endParaRPr lang="en-US" sz="2200"/>
          </a:p>
        </p:txBody>
      </p:sp>
      <p:sp>
        <p:nvSpPr>
          <p:cNvPr id="18" name="Text 16"/>
          <p:cNvSpPr/>
          <p:nvPr/>
        </p:nvSpPr>
        <p:spPr>
          <a:xfrm>
            <a:off x="9445752" y="2880360"/>
            <a:ext cx="2295144" cy="960120"/>
          </a:xfrm>
          <a:prstGeom prst="rect">
            <a:avLst/>
          </a:prstGeom>
          <a:noFill/>
          <a:ln/>
        </p:spPr>
        <p:txBody>
          <a:bodyPr wrap="square" rtlCol="0" anchor="ctr"/>
          <a:lstStyle/>
          <a:p>
            <a:pPr marL="0" indent="0">
              <a:lnSpc>
                <a:spcPct val="110000"/>
              </a:lnSpc>
              <a:buNone/>
            </a:pPr>
            <a:r>
              <a:rPr lang="en-US" sz="1250" b="1">
                <a:solidFill>
                  <a:srgbClr val="FFFFFF"/>
                </a:solidFill>
                <a:latin typeface="Calibri" pitchFamily="34" charset="0"/>
                <a:ea typeface="Calibri" pitchFamily="34" charset="-122"/>
                <a:cs typeface="Calibri" pitchFamily="34" charset="-120"/>
              </a:rPr>
              <a:t>Vigilar Efectibank y cajas de mayor ticket</a:t>
            </a:r>
            <a:endParaRPr lang="en-US" sz="1250"/>
          </a:p>
        </p:txBody>
      </p:sp>
      <p:sp>
        <p:nvSpPr>
          <p:cNvPr id="19" name="Text 17"/>
          <p:cNvSpPr/>
          <p:nvPr/>
        </p:nvSpPr>
        <p:spPr>
          <a:xfrm>
            <a:off x="9445752" y="3886200"/>
            <a:ext cx="2295144" cy="1508760"/>
          </a:xfrm>
          <a:prstGeom prst="rect">
            <a:avLst/>
          </a:prstGeom>
          <a:noFill/>
          <a:ln/>
        </p:spPr>
        <p:txBody>
          <a:bodyPr wrap="square" rtlCol="0" anchor="ctr"/>
          <a:lstStyle/>
          <a:p>
            <a:pPr marL="0" indent="0">
              <a:lnSpc>
                <a:spcPct val="120000"/>
              </a:lnSpc>
              <a:buNone/>
            </a:pPr>
            <a:r>
              <a:rPr lang="en-US" sz="1000">
                <a:solidFill>
                  <a:srgbClr val="C7D0E3"/>
                </a:solidFill>
                <a:latin typeface="Calibri" pitchFamily="34" charset="0"/>
                <a:ea typeface="Calibri" pitchFamily="34" charset="-122"/>
                <a:cs typeface="Calibri" pitchFamily="34" charset="-120"/>
              </a:rPr>
              <a:t>BanBif, Caja Huancayo y GNB muestran los tickets promedio más altos fuera del Big Four.</a:t>
            </a:r>
            <a:endParaRPr lang="en-US" sz="1000"/>
          </a:p>
        </p:txBody>
      </p:sp>
      <p:sp>
        <p:nvSpPr>
          <p:cNvPr id="20" name="Text 18"/>
          <p:cNvSpPr/>
          <p:nvPr/>
        </p:nvSpPr>
        <p:spPr>
          <a:xfrm>
            <a:off x="548640" y="5806440"/>
            <a:ext cx="11064240" cy="548640"/>
          </a:xfrm>
          <a:prstGeom prst="rect">
            <a:avLst/>
          </a:prstGeom>
          <a:noFill/>
          <a:ln/>
        </p:spPr>
        <p:txBody>
          <a:bodyPr wrap="square" rtlCol="0" anchor="ctr"/>
          <a:lstStyle/>
          <a:p>
            <a:pPr marL="0" indent="0">
              <a:buNone/>
            </a:pPr>
            <a:r>
              <a:rPr lang="en-US" sz="950" i="1">
                <a:solidFill>
                  <a:srgbClr val="8892C4"/>
                </a:solidFill>
                <a:latin typeface="Calibri" pitchFamily="34" charset="0"/>
                <a:ea typeface="Calibri" pitchFamily="34" charset="-122"/>
                <a:cs typeface="Calibri" pitchFamily="34" charset="-120"/>
              </a:rPr>
              <a:t>Este documento fusiona el análisis transaccional de junio 2026 (App, Inmediatas + Diferidas) con la encuesta cualitativa a clientes de alto retiro. Preparado por Data Analytics Hub Pasivos — uso interno confidencial.</a:t>
            </a:r>
            <a:endParaRPr lang="en-US" sz="950"/>
          </a:p>
        </p:txBody>
      </p:sp>
      <p:sp>
        <p:nvSpPr>
          <p:cNvPr id="21" name="Text 19"/>
          <p:cNvSpPr/>
          <p:nvPr/>
        </p:nvSpPr>
        <p:spPr>
          <a:xfrm>
            <a:off x="457200" y="6537960"/>
            <a:ext cx="6400800" cy="274320"/>
          </a:xfrm>
          <a:prstGeom prst="rect">
            <a:avLst/>
          </a:prstGeom>
          <a:noFill/>
          <a:ln/>
        </p:spPr>
        <p:txBody>
          <a:bodyPr wrap="square" rtlCol="0" anchor="ctr"/>
          <a:lstStyle/>
          <a:p>
            <a:pPr marL="0" indent="0" algn="l">
              <a:buNone/>
            </a:pPr>
            <a:r>
              <a:rPr lang="en-US" sz="900">
                <a:solidFill>
                  <a:srgbClr val="8892C4"/>
                </a:solidFill>
                <a:latin typeface="Calibri" pitchFamily="34" charset="0"/>
                <a:ea typeface="Calibri" pitchFamily="34" charset="-122"/>
                <a:cs typeface="Calibri" pitchFamily="34" charset="-120"/>
              </a:rPr>
              <a:t>BANCO PICHINCHA  |  Data Analytics Hub Pasivos</a:t>
            </a:r>
            <a:endParaRPr lang="en-US" sz="900"/>
          </a:p>
        </p:txBody>
      </p:sp>
      <p:sp>
        <p:nvSpPr>
          <p:cNvPr id="22" name="Text 20"/>
          <p:cNvSpPr/>
          <p:nvPr/>
        </p:nvSpPr>
        <p:spPr>
          <a:xfrm>
            <a:off x="6858000" y="6537960"/>
            <a:ext cx="393192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CONFIDENCIAL — USO INTERNO</a:t>
            </a:r>
            <a:endParaRPr lang="en-US" sz="900"/>
          </a:p>
        </p:txBody>
      </p:sp>
      <p:sp>
        <p:nvSpPr>
          <p:cNvPr id="23" name="Text 21"/>
          <p:cNvSpPr/>
          <p:nvPr/>
        </p:nvSpPr>
        <p:spPr>
          <a:xfrm>
            <a:off x="11795760" y="6537960"/>
            <a:ext cx="365760" cy="274320"/>
          </a:xfrm>
          <a:prstGeom prst="rect">
            <a:avLst/>
          </a:prstGeom>
          <a:noFill/>
          <a:ln/>
        </p:spPr>
        <p:txBody>
          <a:bodyPr wrap="square" rtlCol="0" anchor="ctr"/>
          <a:lstStyle/>
          <a:p>
            <a:pPr marL="0" indent="0" algn="r">
              <a:buNone/>
            </a:pPr>
            <a:r>
              <a:rPr lang="en-US" sz="900">
                <a:solidFill>
                  <a:srgbClr val="8892C4"/>
                </a:solidFill>
                <a:latin typeface="Calibri" pitchFamily="34" charset="0"/>
                <a:ea typeface="Calibri" pitchFamily="34" charset="-122"/>
                <a:cs typeface="Calibri" pitchFamily="34" charset="-120"/>
              </a:rPr>
              <a:t>10</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100" b="1" kern="0" spc="200">
                <a:solidFill>
                  <a:srgbClr val="C9A15A"/>
                </a:solidFill>
                <a:latin typeface="Calibri" pitchFamily="34" charset="0"/>
                <a:ea typeface="Calibri" pitchFamily="34" charset="-122"/>
                <a:cs typeface="Calibri" pitchFamily="34" charset="-120"/>
              </a:rPr>
              <a:t>CONCENTRACIÓN TRANSACCIONAL VS. FINANCIERA</a:t>
            </a:r>
            <a:endParaRPr lang="en-US" sz="1100"/>
          </a:p>
        </p:txBody>
      </p:sp>
      <p:sp>
        <p:nvSpPr>
          <p:cNvPr id="3" name="Text 1"/>
          <p:cNvSpPr/>
          <p:nvPr/>
        </p:nvSpPr>
        <p:spPr>
          <a:xfrm>
            <a:off x="548640" y="658368"/>
            <a:ext cx="10515600" cy="566928"/>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Pocas operaciones de alto valor concentran el mayor riesgo</a:t>
            </a:r>
            <a:endParaRPr lang="en-US" sz="2600"/>
          </a:p>
        </p:txBody>
      </p:sp>
      <p:sp>
        <p:nvSpPr>
          <p:cNvPr id="4" name="Text 2"/>
          <p:cNvSpPr/>
          <p:nvPr/>
        </p:nvSpPr>
        <p:spPr>
          <a:xfrm>
            <a:off x="548640" y="1371600"/>
            <a:ext cx="10424160" cy="502920"/>
          </a:xfrm>
          <a:prstGeom prst="rect">
            <a:avLst/>
          </a:prstGeom>
          <a:noFill/>
          <a:ln/>
        </p:spPr>
        <p:txBody>
          <a:bodyPr wrap="square" rtlCol="0" anchor="ctr"/>
          <a:lstStyle/>
          <a:p>
            <a:pPr marL="0" indent="0">
              <a:buNone/>
            </a:pPr>
            <a:r>
              <a:rPr lang="en-US" sz="1250">
                <a:solidFill>
                  <a:srgbClr val="333333"/>
                </a:solidFill>
                <a:latin typeface="Calibri" pitchFamily="34" charset="0"/>
                <a:ea typeface="Calibri" pitchFamily="34" charset="-122"/>
                <a:cs typeface="Calibri" pitchFamily="34" charset="-120"/>
              </a:rPr>
              <a:t>El tramo 'Menos de S/500' concentra el 60.9% de las operaciones (173,407 tx) pero solo el 8.0% del valor transferido (S/16.2M). A la inversa, los tramos Alto y Crítico agrupan apenas 2.3% de las operaciones (6,406 tx) pero el 47.5% del monto total (S/96.1M) — la relación inversa entre volumen transaccional e impacto financiero.</a:t>
            </a:r>
            <a:endParaRPr lang="en-US" sz="1250"/>
          </a:p>
        </p:txBody>
      </p:sp>
      <p:sp>
        <p:nvSpPr>
          <p:cNvPr id="5" name="Text 3"/>
          <p:cNvSpPr/>
          <p:nvPr/>
        </p:nvSpPr>
        <p:spPr>
          <a:xfrm>
            <a:off x="678028" y="2103120"/>
            <a:ext cx="4480560" cy="256032"/>
          </a:xfrm>
          <a:prstGeom prst="rect">
            <a:avLst/>
          </a:prstGeom>
          <a:noFill/>
          <a:ln/>
        </p:spPr>
        <p:txBody>
          <a:bodyPr wrap="square" rtlCol="0" anchor="ctr"/>
          <a:lstStyle/>
          <a:p>
            <a:pPr marL="0" indent="0" algn="ctr">
              <a:buNone/>
            </a:pPr>
            <a:r>
              <a:rPr lang="en-US" sz="1100" b="1">
                <a:solidFill>
                  <a:srgbClr val="1E2761"/>
                </a:solidFill>
                <a:latin typeface="Calibri" pitchFamily="34" charset="0"/>
                <a:ea typeface="Calibri" pitchFamily="34" charset="-122"/>
                <a:cs typeface="Calibri" pitchFamily="34" charset="-120"/>
              </a:rPr>
              <a:t>VOLUMEN DE OPERACIONES</a:t>
            </a:r>
            <a:endParaRPr lang="en-US" sz="1100"/>
          </a:p>
        </p:txBody>
      </p:sp>
      <p:sp>
        <p:nvSpPr>
          <p:cNvPr id="6" name="Text 4"/>
          <p:cNvSpPr/>
          <p:nvPr/>
        </p:nvSpPr>
        <p:spPr>
          <a:xfrm>
            <a:off x="678028" y="2350008"/>
            <a:ext cx="4480560" cy="219456"/>
          </a:xfrm>
          <a:prstGeom prst="rect">
            <a:avLst/>
          </a:prstGeom>
          <a:noFill/>
          <a:ln/>
        </p:spPr>
        <p:txBody>
          <a:bodyPr wrap="square" rtlCol="0" anchor="ctr"/>
          <a:lstStyle/>
          <a:p>
            <a:pPr marL="0" indent="0" algn="ctr">
              <a:buNone/>
            </a:pPr>
            <a:r>
              <a:rPr lang="en-US" sz="850">
                <a:solidFill>
                  <a:srgbClr val="6B7280"/>
                </a:solidFill>
                <a:latin typeface="Calibri" pitchFamily="34" charset="0"/>
                <a:ea typeface="Calibri" pitchFamily="34" charset="-122"/>
                <a:cs typeface="Calibri" pitchFamily="34" charset="-120"/>
              </a:rPr>
              <a:t>% de transacciones</a:t>
            </a:r>
            <a:endParaRPr lang="en-US" sz="850"/>
          </a:p>
        </p:txBody>
      </p:sp>
      <p:sp>
        <p:nvSpPr>
          <p:cNvPr id="7" name="Text 5"/>
          <p:cNvSpPr/>
          <p:nvPr/>
        </p:nvSpPr>
        <p:spPr>
          <a:xfrm>
            <a:off x="7033108" y="2103120"/>
            <a:ext cx="4480560" cy="256032"/>
          </a:xfrm>
          <a:prstGeom prst="rect">
            <a:avLst/>
          </a:prstGeom>
          <a:noFill/>
          <a:ln/>
        </p:spPr>
        <p:txBody>
          <a:bodyPr wrap="square" rtlCol="0" anchor="ctr"/>
          <a:lstStyle/>
          <a:p>
            <a:pPr marL="0" indent="0" algn="ctr">
              <a:buNone/>
            </a:pPr>
            <a:r>
              <a:rPr lang="en-US" sz="1100" b="1">
                <a:solidFill>
                  <a:srgbClr val="1E2761"/>
                </a:solidFill>
                <a:latin typeface="Calibri" pitchFamily="34" charset="0"/>
                <a:ea typeface="Calibri" pitchFamily="34" charset="-122"/>
                <a:cs typeface="Calibri" pitchFamily="34" charset="-120"/>
              </a:rPr>
              <a:t>VALOR MONETARIO</a:t>
            </a:r>
            <a:endParaRPr lang="en-US" sz="1100"/>
          </a:p>
        </p:txBody>
      </p:sp>
      <p:sp>
        <p:nvSpPr>
          <p:cNvPr id="8" name="Text 6"/>
          <p:cNvSpPr/>
          <p:nvPr/>
        </p:nvSpPr>
        <p:spPr>
          <a:xfrm>
            <a:off x="7033108" y="2350008"/>
            <a:ext cx="4480560" cy="219456"/>
          </a:xfrm>
          <a:prstGeom prst="rect">
            <a:avLst/>
          </a:prstGeom>
          <a:noFill/>
          <a:ln/>
        </p:spPr>
        <p:txBody>
          <a:bodyPr wrap="square" rtlCol="0" anchor="ctr"/>
          <a:lstStyle/>
          <a:p>
            <a:pPr marL="0" indent="0" algn="ctr">
              <a:buNone/>
            </a:pPr>
            <a:r>
              <a:rPr lang="en-US" sz="850">
                <a:solidFill>
                  <a:srgbClr val="6B7280"/>
                </a:solidFill>
                <a:latin typeface="Calibri" pitchFamily="34" charset="0"/>
                <a:ea typeface="Calibri" pitchFamily="34" charset="-122"/>
                <a:cs typeface="Calibri" pitchFamily="34" charset="-120"/>
              </a:rPr>
              <a:t>% del monto transferido</a:t>
            </a:r>
            <a:endParaRPr lang="en-US" sz="850"/>
          </a:p>
        </p:txBody>
      </p:sp>
      <p:sp>
        <p:nvSpPr>
          <p:cNvPr id="9" name="Text 7"/>
          <p:cNvSpPr/>
          <p:nvPr/>
        </p:nvSpPr>
        <p:spPr>
          <a:xfrm>
            <a:off x="5158588" y="2606040"/>
            <a:ext cx="1874520" cy="685800"/>
          </a:xfrm>
          <a:prstGeom prst="rect">
            <a:avLst/>
          </a:prstGeom>
          <a:noFill/>
          <a:ln/>
        </p:spPr>
        <p:txBody>
          <a:bodyPr wrap="square" rtlCol="0" anchor="ctr"/>
          <a:lstStyle/>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Menos de</a:t>
            </a:r>
            <a:endParaRPr lang="en-US" sz="950"/>
          </a:p>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S/ 500</a:t>
            </a:r>
            <a:endParaRPr lang="en-US" sz="950"/>
          </a:p>
        </p:txBody>
      </p:sp>
      <p:sp>
        <p:nvSpPr>
          <p:cNvPr id="10" name="Shape 8"/>
          <p:cNvSpPr/>
          <p:nvPr/>
        </p:nvSpPr>
        <p:spPr>
          <a:xfrm>
            <a:off x="2278228" y="2777490"/>
            <a:ext cx="2880360" cy="342900"/>
          </a:xfrm>
          <a:prstGeom prst="rect">
            <a:avLst/>
          </a:prstGeom>
          <a:solidFill>
            <a:srgbClr val="0E7C86"/>
          </a:solidFill>
          <a:ln/>
        </p:spPr>
        <p:txBody>
          <a:bodyPr/>
          <a:lstStyle/>
          <a:p>
            <a:endParaRPr lang="es-PE"/>
          </a:p>
        </p:txBody>
      </p:sp>
      <p:sp>
        <p:nvSpPr>
          <p:cNvPr id="11" name="Text 9"/>
          <p:cNvSpPr/>
          <p:nvPr/>
        </p:nvSpPr>
        <p:spPr>
          <a:xfrm>
            <a:off x="586588" y="2606040"/>
            <a:ext cx="1600200" cy="685800"/>
          </a:xfrm>
          <a:prstGeom prst="rect">
            <a:avLst/>
          </a:prstGeom>
          <a:noFill/>
          <a:ln/>
        </p:spPr>
        <p:txBody>
          <a:bodyPr wrap="square" rtlCol="0" anchor="ctr"/>
          <a:lstStyle/>
          <a:p>
            <a:pPr marL="0" indent="0" algn="r">
              <a:buNone/>
            </a:pPr>
            <a:r>
              <a:rPr lang="en-US" sz="900" b="1">
                <a:solidFill>
                  <a:srgbClr val="0E7C86"/>
                </a:solidFill>
                <a:latin typeface="Calibri" pitchFamily="34" charset="0"/>
                <a:ea typeface="Calibri" pitchFamily="34" charset="-122"/>
                <a:cs typeface="Calibri" pitchFamily="34" charset="-120"/>
              </a:rPr>
              <a:t>173,407 tx  |  60.9%</a:t>
            </a:r>
            <a:endParaRPr lang="en-US" sz="900"/>
          </a:p>
        </p:txBody>
      </p:sp>
      <p:sp>
        <p:nvSpPr>
          <p:cNvPr id="12" name="Shape 10"/>
          <p:cNvSpPr/>
          <p:nvPr/>
        </p:nvSpPr>
        <p:spPr>
          <a:xfrm>
            <a:off x="7033108" y="2777490"/>
            <a:ext cx="910786" cy="342900"/>
          </a:xfrm>
          <a:prstGeom prst="rect">
            <a:avLst/>
          </a:prstGeom>
          <a:solidFill>
            <a:srgbClr val="C7D0E3"/>
          </a:solidFill>
          <a:ln/>
        </p:spPr>
        <p:txBody>
          <a:bodyPr/>
          <a:lstStyle/>
          <a:p>
            <a:endParaRPr lang="es-PE"/>
          </a:p>
        </p:txBody>
      </p:sp>
      <p:sp>
        <p:nvSpPr>
          <p:cNvPr id="13" name="Text 11"/>
          <p:cNvSpPr/>
          <p:nvPr/>
        </p:nvSpPr>
        <p:spPr>
          <a:xfrm>
            <a:off x="8035333" y="2606040"/>
            <a:ext cx="1600200" cy="685800"/>
          </a:xfrm>
          <a:prstGeom prst="rect">
            <a:avLst/>
          </a:prstGeom>
          <a:noFill/>
          <a:ln/>
        </p:spPr>
        <p:txBody>
          <a:bodyPr wrap="square" rtlCol="0" anchor="ctr"/>
          <a:lstStyle/>
          <a:p>
            <a:pPr marL="0" indent="0" algn="l">
              <a:buNone/>
            </a:pPr>
            <a:r>
              <a:rPr lang="en-US" sz="900" b="1">
                <a:solidFill>
                  <a:srgbClr val="3A3A3A"/>
                </a:solidFill>
                <a:latin typeface="Calibri" pitchFamily="34" charset="0"/>
                <a:ea typeface="Calibri" pitchFamily="34" charset="-122"/>
                <a:cs typeface="Calibri" pitchFamily="34" charset="-120"/>
              </a:rPr>
              <a:t>8%  |  S/ 16.2 MM</a:t>
            </a:r>
            <a:endParaRPr lang="en-US" sz="900"/>
          </a:p>
        </p:txBody>
      </p:sp>
      <p:sp>
        <p:nvSpPr>
          <p:cNvPr id="14" name="Text 12"/>
          <p:cNvSpPr/>
          <p:nvPr/>
        </p:nvSpPr>
        <p:spPr>
          <a:xfrm>
            <a:off x="5158588" y="3291840"/>
            <a:ext cx="1874520" cy="685800"/>
          </a:xfrm>
          <a:prstGeom prst="rect">
            <a:avLst/>
          </a:prstGeom>
          <a:noFill/>
          <a:ln/>
        </p:spPr>
        <p:txBody>
          <a:bodyPr wrap="square" rtlCol="0" anchor="ctr"/>
          <a:lstStyle/>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Solo</a:t>
            </a:r>
            <a:endParaRPr lang="en-US" sz="950"/>
          </a:p>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S/ 500</a:t>
            </a:r>
            <a:endParaRPr lang="en-US" sz="950"/>
          </a:p>
        </p:txBody>
      </p:sp>
      <p:sp>
        <p:nvSpPr>
          <p:cNvPr id="15" name="Shape 13"/>
          <p:cNvSpPr/>
          <p:nvPr/>
        </p:nvSpPr>
        <p:spPr>
          <a:xfrm>
            <a:off x="3829554" y="3463290"/>
            <a:ext cx="1329033" cy="342900"/>
          </a:xfrm>
          <a:prstGeom prst="rect">
            <a:avLst/>
          </a:prstGeom>
          <a:solidFill>
            <a:srgbClr val="C7D0E3"/>
          </a:solidFill>
          <a:ln/>
        </p:spPr>
        <p:txBody>
          <a:bodyPr/>
          <a:lstStyle/>
          <a:p>
            <a:endParaRPr lang="es-PE"/>
          </a:p>
        </p:txBody>
      </p:sp>
      <p:sp>
        <p:nvSpPr>
          <p:cNvPr id="16" name="Text 14"/>
          <p:cNvSpPr/>
          <p:nvPr/>
        </p:nvSpPr>
        <p:spPr>
          <a:xfrm>
            <a:off x="2137914" y="3291840"/>
            <a:ext cx="1600200" cy="685800"/>
          </a:xfrm>
          <a:prstGeom prst="rect">
            <a:avLst/>
          </a:prstGeom>
          <a:noFill/>
          <a:ln/>
        </p:spPr>
        <p:txBody>
          <a:bodyPr wrap="square" rtlCol="0" anchor="ctr"/>
          <a:lstStyle/>
          <a:p>
            <a:pPr marL="0" indent="0" algn="r">
              <a:buNone/>
            </a:pPr>
            <a:r>
              <a:rPr lang="en-US" sz="900" b="1">
                <a:solidFill>
                  <a:srgbClr val="3A3A3A"/>
                </a:solidFill>
                <a:latin typeface="Calibri" pitchFamily="34" charset="0"/>
                <a:ea typeface="Calibri" pitchFamily="34" charset="-122"/>
                <a:cs typeface="Calibri" pitchFamily="34" charset="-120"/>
              </a:rPr>
              <a:t>80,082 tx  |  28.1%</a:t>
            </a:r>
            <a:endParaRPr lang="en-US" sz="900"/>
          </a:p>
        </p:txBody>
      </p:sp>
      <p:sp>
        <p:nvSpPr>
          <p:cNvPr id="17" name="Shape 15"/>
          <p:cNvSpPr/>
          <p:nvPr/>
        </p:nvSpPr>
        <p:spPr>
          <a:xfrm>
            <a:off x="7033108" y="3463290"/>
            <a:ext cx="2254195" cy="342900"/>
          </a:xfrm>
          <a:prstGeom prst="rect">
            <a:avLst/>
          </a:prstGeom>
          <a:solidFill>
            <a:srgbClr val="C7D0E3"/>
          </a:solidFill>
          <a:ln/>
        </p:spPr>
        <p:txBody>
          <a:bodyPr/>
          <a:lstStyle/>
          <a:p>
            <a:endParaRPr lang="es-PE"/>
          </a:p>
        </p:txBody>
      </p:sp>
      <p:sp>
        <p:nvSpPr>
          <p:cNvPr id="18" name="Text 16"/>
          <p:cNvSpPr/>
          <p:nvPr/>
        </p:nvSpPr>
        <p:spPr>
          <a:xfrm>
            <a:off x="9378742" y="3291840"/>
            <a:ext cx="1600200" cy="685800"/>
          </a:xfrm>
          <a:prstGeom prst="rect">
            <a:avLst/>
          </a:prstGeom>
          <a:noFill/>
          <a:ln/>
        </p:spPr>
        <p:txBody>
          <a:bodyPr wrap="square" rtlCol="0" anchor="ctr"/>
          <a:lstStyle/>
          <a:p>
            <a:pPr marL="0" indent="0" algn="l">
              <a:buNone/>
            </a:pPr>
            <a:r>
              <a:rPr lang="en-US" sz="900" b="1">
                <a:solidFill>
                  <a:srgbClr val="3A3A3A"/>
                </a:solidFill>
                <a:latin typeface="Calibri" pitchFamily="34" charset="0"/>
                <a:ea typeface="Calibri" pitchFamily="34" charset="-122"/>
                <a:cs typeface="Calibri" pitchFamily="34" charset="-120"/>
              </a:rPr>
              <a:t>19.8%  |  S/ 40.0 MM</a:t>
            </a:r>
            <a:endParaRPr lang="en-US" sz="900"/>
          </a:p>
        </p:txBody>
      </p:sp>
      <p:sp>
        <p:nvSpPr>
          <p:cNvPr id="19" name="Text 17"/>
          <p:cNvSpPr/>
          <p:nvPr/>
        </p:nvSpPr>
        <p:spPr>
          <a:xfrm>
            <a:off x="5158588" y="3977640"/>
            <a:ext cx="1874520" cy="685800"/>
          </a:xfrm>
          <a:prstGeom prst="rect">
            <a:avLst/>
          </a:prstGeom>
          <a:noFill/>
          <a:ln/>
        </p:spPr>
        <p:txBody>
          <a:bodyPr wrap="square" rtlCol="0" anchor="ctr"/>
          <a:lstStyle/>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Moderado</a:t>
            </a:r>
            <a:endParaRPr lang="en-US" sz="950"/>
          </a:p>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S/501–S/5,000</a:t>
            </a:r>
            <a:endParaRPr lang="en-US" sz="950"/>
          </a:p>
        </p:txBody>
      </p:sp>
      <p:sp>
        <p:nvSpPr>
          <p:cNvPr id="20" name="Shape 18"/>
          <p:cNvSpPr/>
          <p:nvPr/>
        </p:nvSpPr>
        <p:spPr>
          <a:xfrm>
            <a:off x="4747108" y="4149090"/>
            <a:ext cx="411480" cy="342900"/>
          </a:xfrm>
          <a:prstGeom prst="rect">
            <a:avLst/>
          </a:prstGeom>
          <a:solidFill>
            <a:srgbClr val="C7D0E3"/>
          </a:solidFill>
          <a:ln/>
        </p:spPr>
        <p:txBody>
          <a:bodyPr/>
          <a:lstStyle/>
          <a:p>
            <a:endParaRPr lang="es-PE"/>
          </a:p>
        </p:txBody>
      </p:sp>
      <p:sp>
        <p:nvSpPr>
          <p:cNvPr id="21" name="Text 19"/>
          <p:cNvSpPr/>
          <p:nvPr/>
        </p:nvSpPr>
        <p:spPr>
          <a:xfrm>
            <a:off x="3055468" y="3977640"/>
            <a:ext cx="1600200" cy="685800"/>
          </a:xfrm>
          <a:prstGeom prst="rect">
            <a:avLst/>
          </a:prstGeom>
          <a:noFill/>
          <a:ln/>
        </p:spPr>
        <p:txBody>
          <a:bodyPr wrap="square" rtlCol="0" anchor="ctr"/>
          <a:lstStyle/>
          <a:p>
            <a:pPr marL="0" indent="0" algn="r">
              <a:buNone/>
            </a:pPr>
            <a:r>
              <a:rPr lang="en-US" sz="900" b="1">
                <a:solidFill>
                  <a:srgbClr val="3A3A3A"/>
                </a:solidFill>
                <a:latin typeface="Calibri" pitchFamily="34" charset="0"/>
                <a:ea typeface="Calibri" pitchFamily="34" charset="-122"/>
                <a:cs typeface="Calibri" pitchFamily="34" charset="-120"/>
              </a:rPr>
              <a:t>24,875 tx  |  8.7%</a:t>
            </a:r>
            <a:endParaRPr lang="en-US" sz="900"/>
          </a:p>
        </p:txBody>
      </p:sp>
      <p:sp>
        <p:nvSpPr>
          <p:cNvPr id="22" name="Shape 20"/>
          <p:cNvSpPr/>
          <p:nvPr/>
        </p:nvSpPr>
        <p:spPr>
          <a:xfrm>
            <a:off x="7033108" y="4149090"/>
            <a:ext cx="2812051" cy="342900"/>
          </a:xfrm>
          <a:prstGeom prst="rect">
            <a:avLst/>
          </a:prstGeom>
          <a:solidFill>
            <a:srgbClr val="C7D0E3"/>
          </a:solidFill>
          <a:ln/>
        </p:spPr>
        <p:txBody>
          <a:bodyPr/>
          <a:lstStyle/>
          <a:p>
            <a:endParaRPr lang="es-PE"/>
          </a:p>
        </p:txBody>
      </p:sp>
      <p:sp>
        <p:nvSpPr>
          <p:cNvPr id="23" name="Text 21"/>
          <p:cNvSpPr/>
          <p:nvPr/>
        </p:nvSpPr>
        <p:spPr>
          <a:xfrm>
            <a:off x="9936599" y="3977640"/>
            <a:ext cx="1600200" cy="685800"/>
          </a:xfrm>
          <a:prstGeom prst="rect">
            <a:avLst/>
          </a:prstGeom>
          <a:noFill/>
          <a:ln/>
        </p:spPr>
        <p:txBody>
          <a:bodyPr wrap="square" rtlCol="0" anchor="ctr"/>
          <a:lstStyle/>
          <a:p>
            <a:pPr marL="0" indent="0" algn="l">
              <a:buNone/>
            </a:pPr>
            <a:r>
              <a:rPr lang="en-US" sz="900" b="1">
                <a:solidFill>
                  <a:srgbClr val="3A3A3A"/>
                </a:solidFill>
                <a:latin typeface="Calibri" pitchFamily="34" charset="0"/>
                <a:ea typeface="Calibri" pitchFamily="34" charset="-122"/>
                <a:cs typeface="Calibri" pitchFamily="34" charset="-120"/>
              </a:rPr>
              <a:t>24.7%  |  S/ 50.0 MM</a:t>
            </a:r>
            <a:endParaRPr lang="en-US" sz="900"/>
          </a:p>
        </p:txBody>
      </p:sp>
      <p:sp>
        <p:nvSpPr>
          <p:cNvPr id="24" name="Text 22"/>
          <p:cNvSpPr/>
          <p:nvPr/>
        </p:nvSpPr>
        <p:spPr>
          <a:xfrm>
            <a:off x="5158588" y="4663440"/>
            <a:ext cx="1874520" cy="685800"/>
          </a:xfrm>
          <a:prstGeom prst="rect">
            <a:avLst/>
          </a:prstGeom>
          <a:noFill/>
          <a:ln/>
        </p:spPr>
        <p:txBody>
          <a:bodyPr wrap="square" rtlCol="0" anchor="ctr"/>
          <a:lstStyle/>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Alto</a:t>
            </a:r>
            <a:endParaRPr lang="en-US" sz="950"/>
          </a:p>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S/5,001–S/20,000</a:t>
            </a:r>
            <a:endParaRPr lang="en-US" sz="950"/>
          </a:p>
        </p:txBody>
      </p:sp>
      <p:sp>
        <p:nvSpPr>
          <p:cNvPr id="25" name="Shape 23"/>
          <p:cNvSpPr/>
          <p:nvPr/>
        </p:nvSpPr>
        <p:spPr>
          <a:xfrm>
            <a:off x="5078183" y="4834890"/>
            <a:ext cx="80404" cy="342900"/>
          </a:xfrm>
          <a:prstGeom prst="rect">
            <a:avLst/>
          </a:prstGeom>
          <a:solidFill>
            <a:srgbClr val="C7D0E3"/>
          </a:solidFill>
          <a:ln/>
        </p:spPr>
        <p:txBody>
          <a:bodyPr/>
          <a:lstStyle/>
          <a:p>
            <a:endParaRPr lang="es-PE"/>
          </a:p>
        </p:txBody>
      </p:sp>
      <p:sp>
        <p:nvSpPr>
          <p:cNvPr id="26" name="Text 24"/>
          <p:cNvSpPr/>
          <p:nvPr/>
        </p:nvSpPr>
        <p:spPr>
          <a:xfrm>
            <a:off x="3386543" y="4663440"/>
            <a:ext cx="1600200" cy="685800"/>
          </a:xfrm>
          <a:prstGeom prst="rect">
            <a:avLst/>
          </a:prstGeom>
          <a:noFill/>
          <a:ln/>
        </p:spPr>
        <p:txBody>
          <a:bodyPr wrap="square" rtlCol="0" anchor="ctr"/>
          <a:lstStyle/>
          <a:p>
            <a:pPr marL="0" indent="0" algn="r">
              <a:buNone/>
            </a:pPr>
            <a:r>
              <a:rPr lang="en-US" sz="900" b="1">
                <a:solidFill>
                  <a:srgbClr val="3A3A3A"/>
                </a:solidFill>
                <a:latin typeface="Calibri" pitchFamily="34" charset="0"/>
                <a:ea typeface="Calibri" pitchFamily="34" charset="-122"/>
                <a:cs typeface="Calibri" pitchFamily="34" charset="-120"/>
              </a:rPr>
              <a:t>4,780 tx  |  1.7%</a:t>
            </a:r>
            <a:endParaRPr lang="en-US" sz="900"/>
          </a:p>
        </p:txBody>
      </p:sp>
      <p:sp>
        <p:nvSpPr>
          <p:cNvPr id="27" name="Shape 25"/>
          <p:cNvSpPr/>
          <p:nvPr/>
        </p:nvSpPr>
        <p:spPr>
          <a:xfrm>
            <a:off x="7033108" y="4834890"/>
            <a:ext cx="2880360" cy="342900"/>
          </a:xfrm>
          <a:prstGeom prst="rect">
            <a:avLst/>
          </a:prstGeom>
          <a:solidFill>
            <a:srgbClr val="D9534F"/>
          </a:solidFill>
          <a:ln/>
        </p:spPr>
        <p:txBody>
          <a:bodyPr/>
          <a:lstStyle/>
          <a:p>
            <a:endParaRPr lang="es-PE"/>
          </a:p>
        </p:txBody>
      </p:sp>
      <p:sp>
        <p:nvSpPr>
          <p:cNvPr id="28" name="Text 26"/>
          <p:cNvSpPr/>
          <p:nvPr/>
        </p:nvSpPr>
        <p:spPr>
          <a:xfrm>
            <a:off x="10004908" y="4663440"/>
            <a:ext cx="1600200" cy="685800"/>
          </a:xfrm>
          <a:prstGeom prst="rect">
            <a:avLst/>
          </a:prstGeom>
          <a:noFill/>
          <a:ln/>
        </p:spPr>
        <p:txBody>
          <a:bodyPr wrap="square" rtlCol="0" anchor="ctr"/>
          <a:lstStyle/>
          <a:p>
            <a:pPr marL="0" indent="0" algn="l">
              <a:buNone/>
            </a:pPr>
            <a:r>
              <a:rPr lang="en-US" sz="900" b="1">
                <a:solidFill>
                  <a:srgbClr val="D9534F"/>
                </a:solidFill>
                <a:latin typeface="Calibri" pitchFamily="34" charset="0"/>
                <a:ea typeface="Calibri" pitchFamily="34" charset="-122"/>
                <a:cs typeface="Calibri" pitchFamily="34" charset="-120"/>
              </a:rPr>
              <a:t>25.3%  |  S/ 51.1 MM</a:t>
            </a:r>
            <a:endParaRPr lang="en-US" sz="900"/>
          </a:p>
        </p:txBody>
      </p:sp>
      <p:sp>
        <p:nvSpPr>
          <p:cNvPr id="29" name="Text 27"/>
          <p:cNvSpPr/>
          <p:nvPr/>
        </p:nvSpPr>
        <p:spPr>
          <a:xfrm>
            <a:off x="5158588" y="5349240"/>
            <a:ext cx="1874520" cy="685800"/>
          </a:xfrm>
          <a:prstGeom prst="rect">
            <a:avLst/>
          </a:prstGeom>
          <a:noFill/>
          <a:ln/>
        </p:spPr>
        <p:txBody>
          <a:bodyPr wrap="square" rtlCol="0" anchor="ctr"/>
          <a:lstStyle/>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Crítico</a:t>
            </a:r>
            <a:endParaRPr lang="en-US" sz="950"/>
          </a:p>
          <a:p>
            <a:pPr marL="0" indent="0" algn="ctr">
              <a:lnSpc>
                <a:spcPct val="105000"/>
              </a:lnSpc>
              <a:buNone/>
            </a:pPr>
            <a:r>
              <a:rPr lang="en-US" sz="950" b="1">
                <a:solidFill>
                  <a:srgbClr val="1E2761"/>
                </a:solidFill>
                <a:latin typeface="Calibri" pitchFamily="34" charset="0"/>
                <a:ea typeface="Calibri" pitchFamily="34" charset="-122"/>
                <a:cs typeface="Calibri" pitchFamily="34" charset="-120"/>
              </a:rPr>
              <a:t>Más de S/20,000</a:t>
            </a:r>
            <a:endParaRPr lang="en-US" sz="950"/>
          </a:p>
        </p:txBody>
      </p:sp>
      <p:sp>
        <p:nvSpPr>
          <p:cNvPr id="30" name="Shape 28"/>
          <p:cNvSpPr/>
          <p:nvPr/>
        </p:nvSpPr>
        <p:spPr>
          <a:xfrm>
            <a:off x="5122012" y="5520690"/>
            <a:ext cx="36576" cy="342900"/>
          </a:xfrm>
          <a:prstGeom prst="rect">
            <a:avLst/>
          </a:prstGeom>
          <a:solidFill>
            <a:srgbClr val="C7D0E3"/>
          </a:solidFill>
          <a:ln/>
        </p:spPr>
        <p:txBody>
          <a:bodyPr/>
          <a:lstStyle/>
          <a:p>
            <a:endParaRPr lang="es-PE"/>
          </a:p>
        </p:txBody>
      </p:sp>
      <p:sp>
        <p:nvSpPr>
          <p:cNvPr id="31" name="Text 29"/>
          <p:cNvSpPr/>
          <p:nvPr/>
        </p:nvSpPr>
        <p:spPr>
          <a:xfrm>
            <a:off x="3430372" y="5349240"/>
            <a:ext cx="1600200" cy="685800"/>
          </a:xfrm>
          <a:prstGeom prst="rect">
            <a:avLst/>
          </a:prstGeom>
          <a:noFill/>
          <a:ln/>
        </p:spPr>
        <p:txBody>
          <a:bodyPr wrap="square" rtlCol="0" anchor="ctr"/>
          <a:lstStyle/>
          <a:p>
            <a:pPr marL="0" indent="0" algn="r">
              <a:buNone/>
            </a:pPr>
            <a:r>
              <a:rPr lang="en-US" sz="900" b="1">
                <a:solidFill>
                  <a:srgbClr val="3A3A3A"/>
                </a:solidFill>
                <a:latin typeface="Calibri" pitchFamily="34" charset="0"/>
                <a:ea typeface="Calibri" pitchFamily="34" charset="-122"/>
                <a:cs typeface="Calibri" pitchFamily="34" charset="-120"/>
              </a:rPr>
              <a:t>1,626 tx  |  0.6%</a:t>
            </a:r>
            <a:endParaRPr lang="en-US" sz="900"/>
          </a:p>
        </p:txBody>
      </p:sp>
      <p:sp>
        <p:nvSpPr>
          <p:cNvPr id="32" name="Shape 30"/>
          <p:cNvSpPr/>
          <p:nvPr/>
        </p:nvSpPr>
        <p:spPr>
          <a:xfrm>
            <a:off x="7033108" y="5520690"/>
            <a:ext cx="2527431" cy="342900"/>
          </a:xfrm>
          <a:prstGeom prst="rect">
            <a:avLst/>
          </a:prstGeom>
          <a:solidFill>
            <a:srgbClr val="C7D0E3"/>
          </a:solidFill>
          <a:ln/>
        </p:spPr>
        <p:txBody>
          <a:bodyPr/>
          <a:lstStyle/>
          <a:p>
            <a:endParaRPr lang="es-PE"/>
          </a:p>
        </p:txBody>
      </p:sp>
      <p:sp>
        <p:nvSpPr>
          <p:cNvPr id="33" name="Text 31"/>
          <p:cNvSpPr/>
          <p:nvPr/>
        </p:nvSpPr>
        <p:spPr>
          <a:xfrm>
            <a:off x="9651978" y="5349240"/>
            <a:ext cx="1600200" cy="685800"/>
          </a:xfrm>
          <a:prstGeom prst="rect">
            <a:avLst/>
          </a:prstGeom>
          <a:noFill/>
          <a:ln/>
        </p:spPr>
        <p:txBody>
          <a:bodyPr wrap="square" rtlCol="0" anchor="ctr"/>
          <a:lstStyle/>
          <a:p>
            <a:pPr marL="0" indent="0" algn="l">
              <a:buNone/>
            </a:pPr>
            <a:r>
              <a:rPr lang="en-US" sz="900" b="1">
                <a:solidFill>
                  <a:srgbClr val="3A3A3A"/>
                </a:solidFill>
                <a:latin typeface="Calibri" pitchFamily="34" charset="0"/>
                <a:ea typeface="Calibri" pitchFamily="34" charset="-122"/>
                <a:cs typeface="Calibri" pitchFamily="34" charset="-120"/>
              </a:rPr>
              <a:t>22.2%  |  S/ 45.0 MM</a:t>
            </a:r>
            <a:endParaRPr lang="en-US" sz="900"/>
          </a:p>
        </p:txBody>
      </p:sp>
      <p:sp>
        <p:nvSpPr>
          <p:cNvPr id="34" name="Text 32"/>
          <p:cNvSpPr/>
          <p:nvPr/>
        </p:nvSpPr>
        <p:spPr>
          <a:xfrm>
            <a:off x="548640" y="6172200"/>
            <a:ext cx="3657600" cy="274320"/>
          </a:xfrm>
          <a:prstGeom prst="rect">
            <a:avLst/>
          </a:prstGeom>
          <a:noFill/>
          <a:ln/>
        </p:spPr>
        <p:txBody>
          <a:bodyPr wrap="square" rtlCol="0" anchor="ctr"/>
          <a:lstStyle/>
          <a:p>
            <a:pPr marL="0" indent="0">
              <a:buNone/>
            </a:pPr>
            <a:r>
              <a:rPr lang="en-US" sz="1000" b="1">
                <a:solidFill>
                  <a:srgbClr val="1E2761"/>
                </a:solidFill>
                <a:latin typeface="Calibri" pitchFamily="34" charset="0"/>
                <a:ea typeface="Calibri" pitchFamily="34" charset="-122"/>
                <a:cs typeface="Calibri" pitchFamily="34" charset="-120"/>
              </a:rPr>
              <a:t>TOTAL OPERACIONES: 284,770</a:t>
            </a:r>
            <a:endParaRPr lang="en-US" sz="1000"/>
          </a:p>
        </p:txBody>
      </p:sp>
      <p:sp>
        <p:nvSpPr>
          <p:cNvPr id="35" name="Text 33"/>
          <p:cNvSpPr/>
          <p:nvPr/>
        </p:nvSpPr>
        <p:spPr>
          <a:xfrm>
            <a:off x="7033108" y="6172200"/>
            <a:ext cx="3657600" cy="274320"/>
          </a:xfrm>
          <a:prstGeom prst="rect">
            <a:avLst/>
          </a:prstGeom>
          <a:noFill/>
          <a:ln/>
        </p:spPr>
        <p:txBody>
          <a:bodyPr wrap="square" rtlCol="0" anchor="ctr"/>
          <a:lstStyle/>
          <a:p>
            <a:pPr marL="0" indent="0">
              <a:buNone/>
            </a:pPr>
            <a:r>
              <a:rPr lang="en-US" sz="1000" b="1">
                <a:solidFill>
                  <a:srgbClr val="1E2761"/>
                </a:solidFill>
                <a:latin typeface="Calibri" pitchFamily="34" charset="0"/>
                <a:ea typeface="Calibri" pitchFamily="34" charset="-122"/>
                <a:cs typeface="Calibri" pitchFamily="34" charset="-120"/>
              </a:rPr>
              <a:t>MONTO TOTAL: S/ 202.4 MM</a:t>
            </a:r>
            <a:endParaRPr lang="en-US" sz="1000"/>
          </a:p>
        </p:txBody>
      </p:sp>
      <p:sp>
        <p:nvSpPr>
          <p:cNvPr id="36" name="Text 34"/>
          <p:cNvSpPr/>
          <p:nvPr/>
        </p:nvSpPr>
        <p:spPr>
          <a:xfrm>
            <a:off x="457200" y="6473952"/>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37" name="Text 35"/>
          <p:cNvSpPr/>
          <p:nvPr/>
        </p:nvSpPr>
        <p:spPr>
          <a:xfrm>
            <a:off x="8076895" y="6473952"/>
            <a:ext cx="274320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38" name="Text 36"/>
          <p:cNvSpPr/>
          <p:nvPr/>
        </p:nvSpPr>
        <p:spPr>
          <a:xfrm>
            <a:off x="11460175" y="6473952"/>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8</a:t>
            </a:r>
            <a:endParaRPr lang="en-US" sz="900"/>
          </a:p>
        </p:txBody>
      </p:sp>
    </p:spTree>
    <p:extLst>
      <p:ext uri="{BB962C8B-B14F-4D97-AF65-F5344CB8AC3E}">
        <p14:creationId xmlns:p14="http://schemas.microsoft.com/office/powerpoint/2010/main" val="3773591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100" b="1" kern="0" spc="200">
                <a:solidFill>
                  <a:srgbClr val="C9A15A"/>
                </a:solidFill>
                <a:latin typeface="Calibri" pitchFamily="34" charset="0"/>
                <a:ea typeface="Calibri" pitchFamily="34" charset="-122"/>
                <a:cs typeface="Calibri" pitchFamily="34" charset="-120"/>
              </a:rPr>
              <a:t>CRUCE ESTRATÉGICO</a:t>
            </a:r>
            <a:endParaRPr lang="en-US" sz="1100"/>
          </a:p>
        </p:txBody>
      </p:sp>
      <p:sp>
        <p:nvSpPr>
          <p:cNvPr id="3" name="Text 1"/>
          <p:cNvSpPr/>
          <p:nvPr/>
        </p:nvSpPr>
        <p:spPr>
          <a:xfrm>
            <a:off x="548640" y="658368"/>
            <a:ext cx="10515600" cy="566928"/>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Big Four: BCP concentra el 57.0% de la fuga sistémica</a:t>
            </a:r>
            <a:endParaRPr lang="en-US" sz="2600"/>
          </a:p>
        </p:txBody>
      </p:sp>
      <p:sp>
        <p:nvSpPr>
          <p:cNvPr id="4" name="Text 2"/>
          <p:cNvSpPr/>
          <p:nvPr/>
        </p:nvSpPr>
        <p:spPr>
          <a:xfrm>
            <a:off x="548640" y="1298448"/>
            <a:ext cx="10424160" cy="594360"/>
          </a:xfrm>
          <a:prstGeom prst="rect">
            <a:avLst/>
          </a:prstGeom>
          <a:noFill/>
          <a:ln/>
        </p:spPr>
        <p:txBody>
          <a:bodyPr wrap="square" rtlCol="0" anchor="ctr"/>
          <a:lstStyle/>
          <a:p>
            <a:pPr marL="0" indent="0">
              <a:lnSpc>
                <a:spcPct val="122000"/>
              </a:lnSpc>
              <a:buNone/>
            </a:pPr>
            <a:r>
              <a:rPr lang="en-US" sz="1200">
                <a:solidFill>
                  <a:srgbClr val="333333"/>
                </a:solidFill>
                <a:latin typeface="Calibri" pitchFamily="34" charset="0"/>
                <a:ea typeface="Calibri" pitchFamily="34" charset="-122"/>
                <a:cs typeface="Calibri" pitchFamily="34" charset="-120"/>
              </a:rPr>
              <a:t>Entre los cuatro grandes bancos se analizaron S/171.4M en 268,907 operaciones de 32,332 clientes únicos. BCP lidera con 57.0% de participación, concentrando S/25.5M en el tramo Moderado y 15,216 clientes en 'Menos de S/500' — la mayor masa crítica de todo el análisis.</a:t>
            </a:r>
            <a:endParaRPr lang="en-US" sz="1200"/>
          </a:p>
        </p:txBody>
      </p:sp>
      <p:pic>
        <p:nvPicPr>
          <p:cNvPr id="5" name="Image 0" descr="img/matriz_bigfour.png"/>
          <p:cNvPicPr>
            <a:picLocks noChangeAspect="1"/>
          </p:cNvPicPr>
          <p:nvPr/>
        </p:nvPicPr>
        <p:blipFill>
          <a:blip r:embed="rId3"/>
          <a:stretch>
            <a:fillRect/>
          </a:stretch>
        </p:blipFill>
        <p:spPr>
          <a:xfrm>
            <a:off x="1682496" y="2011680"/>
            <a:ext cx="8833104" cy="4343400"/>
          </a:xfrm>
          <a:prstGeom prst="rect">
            <a:avLst/>
          </a:prstGeom>
        </p:spPr>
      </p:pic>
      <p:sp>
        <p:nvSpPr>
          <p:cNvPr id="6" name="Text 3"/>
          <p:cNvSpPr/>
          <p:nvPr/>
        </p:nvSpPr>
        <p:spPr>
          <a:xfrm>
            <a:off x="457200" y="6473952"/>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7" name="Text 4"/>
          <p:cNvSpPr/>
          <p:nvPr/>
        </p:nvSpPr>
        <p:spPr>
          <a:xfrm>
            <a:off x="8076895" y="6473952"/>
            <a:ext cx="274320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8" name="Text 5"/>
          <p:cNvSpPr/>
          <p:nvPr/>
        </p:nvSpPr>
        <p:spPr>
          <a:xfrm>
            <a:off x="11460175" y="6473952"/>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9</a:t>
            </a:r>
            <a:endParaRPr lang="en-US" sz="900"/>
          </a:p>
        </p:txBody>
      </p:sp>
    </p:spTree>
    <p:extLst>
      <p:ext uri="{BB962C8B-B14F-4D97-AF65-F5344CB8AC3E}">
        <p14:creationId xmlns:p14="http://schemas.microsoft.com/office/powerpoint/2010/main" val="2204163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100" b="1" kern="0" spc="200">
                <a:solidFill>
                  <a:srgbClr val="C9A15A"/>
                </a:solidFill>
                <a:latin typeface="Calibri" pitchFamily="34" charset="0"/>
                <a:ea typeface="Calibri" pitchFamily="34" charset="-122"/>
                <a:cs typeface="Calibri" pitchFamily="34" charset="-120"/>
              </a:rPr>
              <a:t>CRUCE ESTRATÉGICO</a:t>
            </a:r>
            <a:endParaRPr lang="en-US" sz="1100"/>
          </a:p>
        </p:txBody>
      </p:sp>
      <p:sp>
        <p:nvSpPr>
          <p:cNvPr id="3" name="Text 1"/>
          <p:cNvSpPr/>
          <p:nvPr/>
        </p:nvSpPr>
        <p:spPr>
          <a:xfrm>
            <a:off x="548640" y="658368"/>
            <a:ext cx="10515600" cy="566928"/>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Reto de Mercado: Efectibank lidera con 21.7% de participación</a:t>
            </a:r>
            <a:endParaRPr lang="en-US" sz="2600"/>
          </a:p>
        </p:txBody>
      </p:sp>
      <p:sp>
        <p:nvSpPr>
          <p:cNvPr id="4" name="Text 2"/>
          <p:cNvSpPr/>
          <p:nvPr/>
        </p:nvSpPr>
        <p:spPr>
          <a:xfrm>
            <a:off x="548640" y="1298448"/>
            <a:ext cx="10424160" cy="594360"/>
          </a:xfrm>
          <a:prstGeom prst="rect">
            <a:avLst/>
          </a:prstGeom>
          <a:noFill/>
          <a:ln/>
        </p:spPr>
        <p:txBody>
          <a:bodyPr wrap="square" rtlCol="0" anchor="ctr"/>
          <a:lstStyle/>
          <a:p>
            <a:pPr marL="0" indent="0">
              <a:lnSpc>
                <a:spcPct val="122000"/>
              </a:lnSpc>
              <a:buNone/>
            </a:pPr>
            <a:r>
              <a:rPr lang="en-US" sz="1200">
                <a:solidFill>
                  <a:srgbClr val="333333"/>
                </a:solidFill>
                <a:latin typeface="Calibri" pitchFamily="34" charset="0"/>
                <a:ea typeface="Calibri" pitchFamily="34" charset="-122"/>
                <a:cs typeface="Calibri" pitchFamily="34" charset="-120"/>
              </a:rPr>
              <a:t>En el grupo de competencia directa se analizaron S/17.1M en 6,959 operaciones de 2,178 clientes únicos. Efectibank lidera con 21.7% de participación, concentrando S/1.79M en el tramo Crítico — mientras Banco Falabella destaca por masa crítica: 578 clientes únicos en 'Menos de S/500', la mayor cifra de todo el grupo competencia.</a:t>
            </a:r>
            <a:endParaRPr lang="en-US" sz="1200"/>
          </a:p>
        </p:txBody>
      </p:sp>
      <p:pic>
        <p:nvPicPr>
          <p:cNvPr id="5" name="Image 0" descr="img/matriz_competencia.png"/>
          <p:cNvPicPr>
            <a:picLocks noChangeAspect="1"/>
          </p:cNvPicPr>
          <p:nvPr/>
        </p:nvPicPr>
        <p:blipFill>
          <a:blip r:embed="rId3"/>
          <a:stretch>
            <a:fillRect/>
          </a:stretch>
        </p:blipFill>
        <p:spPr>
          <a:xfrm>
            <a:off x="665131" y="2011680"/>
            <a:ext cx="10308240" cy="4343400"/>
          </a:xfrm>
          <a:prstGeom prst="rect">
            <a:avLst/>
          </a:prstGeom>
        </p:spPr>
      </p:pic>
      <p:sp>
        <p:nvSpPr>
          <p:cNvPr id="6" name="Text 3"/>
          <p:cNvSpPr/>
          <p:nvPr/>
        </p:nvSpPr>
        <p:spPr>
          <a:xfrm>
            <a:off x="457200" y="6473952"/>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7" name="Text 4"/>
          <p:cNvSpPr/>
          <p:nvPr/>
        </p:nvSpPr>
        <p:spPr>
          <a:xfrm>
            <a:off x="8076895" y="6473952"/>
            <a:ext cx="274320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8" name="Text 5"/>
          <p:cNvSpPr/>
          <p:nvPr/>
        </p:nvSpPr>
        <p:spPr>
          <a:xfrm>
            <a:off x="11460175" y="6473952"/>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10</a:t>
            </a:r>
            <a:endParaRPr lang="en-US" sz="900"/>
          </a:p>
        </p:txBody>
      </p:sp>
    </p:spTree>
    <p:extLst>
      <p:ext uri="{BB962C8B-B14F-4D97-AF65-F5344CB8AC3E}">
        <p14:creationId xmlns:p14="http://schemas.microsoft.com/office/powerpoint/2010/main" val="974699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100" b="1" kern="0" spc="200">
                <a:solidFill>
                  <a:srgbClr val="C9A15A"/>
                </a:solidFill>
                <a:latin typeface="Calibri" pitchFamily="34" charset="0"/>
                <a:ea typeface="Calibri" pitchFamily="34" charset="-122"/>
                <a:cs typeface="Calibri" pitchFamily="34" charset="-120"/>
              </a:rPr>
              <a:t>ANÁLISIS CUALITATIVO — EJES 2 Y 3</a:t>
            </a:r>
            <a:endParaRPr lang="en-US" sz="1100"/>
          </a:p>
        </p:txBody>
      </p:sp>
      <p:sp>
        <p:nvSpPr>
          <p:cNvPr id="3" name="Text 1"/>
          <p:cNvSpPr/>
          <p:nvPr/>
        </p:nvSpPr>
        <p:spPr>
          <a:xfrm>
            <a:off x="548640" y="658368"/>
            <a:ext cx="10515600" cy="566928"/>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Ganan con tasa, no con mejor app ni servicio</a:t>
            </a:r>
            <a:endParaRPr lang="en-US" sz="2600"/>
          </a:p>
        </p:txBody>
      </p:sp>
      <p:sp>
        <p:nvSpPr>
          <p:cNvPr id="4" name="Text 2"/>
          <p:cNvSpPr/>
          <p:nvPr/>
        </p:nvSpPr>
        <p:spPr>
          <a:xfrm>
            <a:off x="548640" y="1298448"/>
            <a:ext cx="10424160" cy="594360"/>
          </a:xfrm>
          <a:prstGeom prst="rect">
            <a:avLst/>
          </a:prstGeom>
          <a:noFill/>
          <a:ln/>
        </p:spPr>
        <p:txBody>
          <a:bodyPr wrap="square" rtlCol="0" anchor="ctr"/>
          <a:lstStyle/>
          <a:p>
            <a:pPr marL="0" indent="0">
              <a:lnSpc>
                <a:spcPct val="120000"/>
              </a:lnSpc>
              <a:buNone/>
            </a:pPr>
            <a:r>
              <a:rPr lang="en-US" sz="1200">
                <a:solidFill>
                  <a:srgbClr val="333333"/>
                </a:solidFill>
                <a:latin typeface="Calibri" pitchFamily="34" charset="0"/>
                <a:ea typeface="Calibri" pitchFamily="34" charset="-122"/>
                <a:cs typeface="Calibri" pitchFamily="34" charset="-120"/>
              </a:rPr>
              <a:t>El motivo 'mejor tasa de interés' triplica al ecosistema y multiplica por diez a la usabilidad de la app como razón de salida. La banca tradicional captura 2 de cada 3 soles (66%); un bloque de tasa pura — cajas, financieras y fintech — se lleva el 22% comprando saldo directamente con TREA.</a:t>
            </a:r>
            <a:endParaRPr lang="en-US" sz="1200"/>
          </a:p>
        </p:txBody>
      </p:sp>
      <p:graphicFrame>
        <p:nvGraphicFramePr>
          <p:cNvPr id="15" name="Table 0"/>
          <p:cNvGraphicFramePr>
            <a:graphicFrameLocks noGrp="1"/>
          </p:cNvGraphicFramePr>
          <p:nvPr/>
        </p:nvGraphicFramePr>
        <p:xfrm>
          <a:off x="548640" y="2057400"/>
          <a:ext cx="11091672" cy="3072384"/>
        </p:xfrm>
        <a:graphic>
          <a:graphicData uri="http://schemas.openxmlformats.org/drawingml/2006/table">
            <a:tbl>
              <a:tblPr/>
              <a:tblGrid>
                <a:gridCol w="2404872">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438912">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Entidad destino</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1E2761"/>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Tasa</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1E2761"/>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Promos</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1E2761"/>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Sueldo</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1E2761"/>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Productos</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1E2761"/>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App</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38912">
                <a:tc>
                  <a:txBody>
                    <a:bodyPr/>
                    <a:lstStyle/>
                    <a:p>
                      <a:pPr marL="0" indent="0" algn="l">
                        <a:buNone/>
                      </a:pPr>
                      <a:r>
                        <a:rPr lang="en-US" sz="1100" b="1">
                          <a:solidFill>
                            <a:srgbClr val="1E2761"/>
                          </a:solidFill>
                          <a:latin typeface="Calibri" pitchFamily="34" charset="0"/>
                          <a:ea typeface="Calibri" pitchFamily="34" charset="-122"/>
                          <a:cs typeface="Calibri" pitchFamily="34" charset="-120"/>
                        </a:rPr>
                        <a:t>BCP (n=27)</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b="1">
                          <a:solidFill>
                            <a:srgbClr val="333333"/>
                          </a:solidFill>
                          <a:latin typeface="Calibri" pitchFamily="34" charset="0"/>
                          <a:ea typeface="Calibri" pitchFamily="34" charset="-122"/>
                          <a:cs typeface="Calibri" pitchFamily="34" charset="-120"/>
                        </a:rPr>
                        <a:t>37%</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26%</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26%</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19%</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11%</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100" b="1">
                          <a:solidFill>
                            <a:srgbClr val="1E2761"/>
                          </a:solidFill>
                          <a:latin typeface="Calibri" pitchFamily="34" charset="0"/>
                          <a:ea typeface="Calibri" pitchFamily="34" charset="-122"/>
                          <a:cs typeface="Calibri" pitchFamily="34" charset="-120"/>
                        </a:rPr>
                        <a:t>Interbank (n=15)</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b="1">
                          <a:solidFill>
                            <a:srgbClr val="333333"/>
                          </a:solidFill>
                          <a:latin typeface="Calibri" pitchFamily="34" charset="0"/>
                          <a:ea typeface="Calibri" pitchFamily="34" charset="-122"/>
                          <a:cs typeface="Calibri" pitchFamily="34" charset="-120"/>
                        </a:rPr>
                        <a:t>47%</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33%</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20%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13%</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7%</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extLst>
                  <a:ext uri="{0D108BD9-81ED-4DB2-BD59-A6C34878D82A}">
                    <a16:rowId xmlns:a16="http://schemas.microsoft.com/office/drawing/2014/main" val="10002"/>
                  </a:ext>
                </a:extLst>
              </a:tr>
              <a:tr h="438912">
                <a:tc>
                  <a:txBody>
                    <a:bodyPr/>
                    <a:lstStyle/>
                    <a:p>
                      <a:pPr marL="0" indent="0" algn="l">
                        <a:buNone/>
                      </a:pPr>
                      <a:r>
                        <a:rPr lang="en-US" sz="1100" b="1">
                          <a:solidFill>
                            <a:srgbClr val="1E2761"/>
                          </a:solidFill>
                          <a:latin typeface="Calibri" pitchFamily="34" charset="0"/>
                          <a:ea typeface="Calibri" pitchFamily="34" charset="-122"/>
                          <a:cs typeface="Calibri" pitchFamily="34" charset="-120"/>
                        </a:rPr>
                        <a:t>BBVA (n=10)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b="1">
                          <a:solidFill>
                            <a:srgbClr val="333333"/>
                          </a:solidFill>
                          <a:latin typeface="Calibri" pitchFamily="34" charset="0"/>
                          <a:ea typeface="Calibri" pitchFamily="34" charset="-122"/>
                          <a:cs typeface="Calibri" pitchFamily="34" charset="-120"/>
                        </a:rPr>
                        <a:t>50%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20%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20%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100" b="1">
                          <a:solidFill>
                            <a:srgbClr val="1E2761"/>
                          </a:solidFill>
                          <a:latin typeface="Calibri" pitchFamily="34" charset="0"/>
                          <a:ea typeface="Calibri" pitchFamily="34" charset="-122"/>
                          <a:cs typeface="Calibri" pitchFamily="34" charset="-120"/>
                        </a:rPr>
                        <a:t>Banbif (n=9)</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b="1">
                          <a:solidFill>
                            <a:srgbClr val="B3352B"/>
                          </a:solidFill>
                          <a:latin typeface="Calibri" pitchFamily="34" charset="0"/>
                          <a:ea typeface="Calibri" pitchFamily="34" charset="-122"/>
                          <a:cs typeface="Calibri" pitchFamily="34" charset="-120"/>
                        </a:rPr>
                        <a:t>100%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11%</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11%</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11%</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extLst>
                  <a:ext uri="{0D108BD9-81ED-4DB2-BD59-A6C34878D82A}">
                    <a16:rowId xmlns:a16="http://schemas.microsoft.com/office/drawing/2014/main" val="10004"/>
                  </a:ext>
                </a:extLst>
              </a:tr>
              <a:tr h="438912">
                <a:tc>
                  <a:txBody>
                    <a:bodyPr/>
                    <a:lstStyle/>
                    <a:p>
                      <a:pPr marL="0" indent="0" algn="l">
                        <a:buNone/>
                      </a:pPr>
                      <a:r>
                        <a:rPr lang="en-US" sz="1100" b="1">
                          <a:solidFill>
                            <a:srgbClr val="1E2761"/>
                          </a:solidFill>
                          <a:latin typeface="Calibri" pitchFamily="34" charset="0"/>
                          <a:ea typeface="Calibri" pitchFamily="34" charset="-122"/>
                          <a:cs typeface="Calibri" pitchFamily="34" charset="-120"/>
                        </a:rPr>
                        <a:t>Cajas (n=17)</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b="1">
                          <a:solidFill>
                            <a:srgbClr val="B3352B"/>
                          </a:solidFill>
                          <a:latin typeface="Calibri" pitchFamily="34" charset="0"/>
                          <a:ea typeface="Calibri" pitchFamily="34" charset="-122"/>
                          <a:cs typeface="Calibri" pitchFamily="34" charset="-120"/>
                        </a:rPr>
                        <a:t>100%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35%</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6%</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100" b="1">
                          <a:solidFill>
                            <a:srgbClr val="1E2761"/>
                          </a:solidFill>
                          <a:latin typeface="Calibri" pitchFamily="34" charset="0"/>
                          <a:ea typeface="Calibri" pitchFamily="34" charset="-122"/>
                          <a:cs typeface="Calibri" pitchFamily="34" charset="-120"/>
                        </a:rPr>
                        <a:t>Financieras (n=8)</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b="1">
                          <a:solidFill>
                            <a:srgbClr val="B3352B"/>
                          </a:solidFill>
                          <a:latin typeface="Calibri" pitchFamily="34" charset="0"/>
                          <a:ea typeface="Calibri" pitchFamily="34" charset="-122"/>
                          <a:cs typeface="Calibri" pitchFamily="34" charset="-120"/>
                        </a:rPr>
                        <a:t>88%</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12%</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tc>
                  <a:txBody>
                    <a:bodyPr/>
                    <a:lstStyle/>
                    <a:p>
                      <a:pPr marL="0" indent="0" algn="ctr">
                        <a:buNone/>
                      </a:pPr>
                      <a:r>
                        <a:rPr lang="en-US" sz="1100">
                          <a:solidFill>
                            <a:srgbClr val="333333"/>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rgbClr val="F2F4F8"/>
                    </a:solidFill>
                  </a:tcPr>
                </a:tc>
                <a:extLst>
                  <a:ext uri="{0D108BD9-81ED-4DB2-BD59-A6C34878D82A}">
                    <a16:rowId xmlns:a16="http://schemas.microsoft.com/office/drawing/2014/main" val="10006"/>
                  </a:ext>
                </a:extLst>
              </a:tr>
            </a:tbl>
          </a:graphicData>
        </a:graphic>
      </p:graphicFrame>
      <p:sp>
        <p:nvSpPr>
          <p:cNvPr id="6" name="Text 3"/>
          <p:cNvSpPr/>
          <p:nvPr/>
        </p:nvSpPr>
        <p:spPr>
          <a:xfrm>
            <a:off x="548640" y="5212080"/>
            <a:ext cx="11091672" cy="274320"/>
          </a:xfrm>
          <a:prstGeom prst="rect">
            <a:avLst/>
          </a:prstGeom>
          <a:noFill/>
          <a:ln/>
        </p:spPr>
        <p:txBody>
          <a:bodyPr wrap="square" rtlCol="0" anchor="ctr"/>
          <a:lstStyle/>
          <a:p>
            <a:pPr marL="0" indent="0">
              <a:buNone/>
            </a:pPr>
            <a:r>
              <a:rPr lang="en-US" sz="950" i="1">
                <a:solidFill>
                  <a:srgbClr val="6B7280"/>
                </a:solidFill>
                <a:latin typeface="Calibri" pitchFamily="34" charset="0"/>
                <a:ea typeface="Calibri" pitchFamily="34" charset="-122"/>
                <a:cs typeface="Calibri" pitchFamily="34" charset="-120"/>
              </a:rPr>
              <a:t>% de clientes de cada entidad que menciona cada motivo · χ² tipo de competidor × motivo tasa: p=0.0008</a:t>
            </a:r>
            <a:endParaRPr lang="en-US" sz="950"/>
          </a:p>
        </p:txBody>
      </p:sp>
      <p:sp>
        <p:nvSpPr>
          <p:cNvPr id="7" name="Shape 4"/>
          <p:cNvSpPr/>
          <p:nvPr/>
        </p:nvSpPr>
        <p:spPr>
          <a:xfrm>
            <a:off x="548640" y="5532120"/>
            <a:ext cx="11091672" cy="777240"/>
          </a:xfrm>
          <a:prstGeom prst="rect">
            <a:avLst/>
          </a:prstGeom>
          <a:solidFill>
            <a:srgbClr val="F2F4F8"/>
          </a:solidFill>
          <a:ln/>
        </p:spPr>
        <p:txBody>
          <a:bodyPr/>
          <a:lstStyle/>
          <a:p>
            <a:endParaRPr lang="es-PE"/>
          </a:p>
        </p:txBody>
      </p:sp>
      <p:sp>
        <p:nvSpPr>
          <p:cNvPr id="8" name="Text 5"/>
          <p:cNvSpPr/>
          <p:nvPr/>
        </p:nvSpPr>
        <p:spPr>
          <a:xfrm>
            <a:off x="822960" y="5641848"/>
            <a:ext cx="10515600" cy="566928"/>
          </a:xfrm>
          <a:prstGeom prst="rect">
            <a:avLst/>
          </a:prstGeom>
          <a:noFill/>
          <a:ln/>
        </p:spPr>
        <p:txBody>
          <a:bodyPr wrap="square" rtlCol="0" anchor="ctr"/>
          <a:lstStyle/>
          <a:p>
            <a:pPr marL="0" indent="0">
              <a:lnSpc>
                <a:spcPct val="120000"/>
              </a:lnSpc>
              <a:buNone/>
            </a:pPr>
            <a:r>
              <a:rPr lang="en-US" sz="1100" i="1">
                <a:solidFill>
                  <a:srgbClr val="1E2761"/>
                </a:solidFill>
                <a:latin typeface="Calibri" pitchFamily="34" charset="0"/>
                <a:ea typeface="Calibri" pitchFamily="34" charset="-122"/>
                <a:cs typeface="Calibri" pitchFamily="34" charset="-120"/>
              </a:rPr>
              <a:t>Cajas y Banbif ganan por tasa en el 100% de los casos; BCP gana por ecosistema (solo 37% tasa). La hipótesis 'perdemos por experiencia digital' queda descartada con data.</a:t>
            </a:r>
            <a:endParaRPr lang="en-US" sz="1100"/>
          </a:p>
        </p:txBody>
      </p:sp>
      <p:sp>
        <p:nvSpPr>
          <p:cNvPr id="9" name="Text 6"/>
          <p:cNvSpPr/>
          <p:nvPr/>
        </p:nvSpPr>
        <p:spPr>
          <a:xfrm>
            <a:off x="457200" y="6473952"/>
            <a:ext cx="6400800" cy="274320"/>
          </a:xfrm>
          <a:prstGeom prst="rect">
            <a:avLst/>
          </a:prstGeom>
          <a:noFill/>
          <a:ln/>
        </p:spPr>
        <p:txBody>
          <a:bodyPr wrap="square" rtlCol="0" anchor="ctr"/>
          <a:lstStyle/>
          <a:p>
            <a:pPr marL="0" indent="0" algn="l">
              <a:buNone/>
            </a:pPr>
            <a:r>
              <a:rPr lang="en-US" sz="900">
                <a:solidFill>
                  <a:srgbClr val="6B7280"/>
                </a:solidFill>
                <a:latin typeface="Calibri" pitchFamily="34" charset="0"/>
                <a:ea typeface="Calibri" pitchFamily="34" charset="-122"/>
                <a:cs typeface="Calibri" pitchFamily="34" charset="-120"/>
              </a:rPr>
              <a:t>BANCO PICHINCHA  |  Data Analytics Hub Pasivos</a:t>
            </a:r>
            <a:endParaRPr lang="en-US" sz="900"/>
          </a:p>
        </p:txBody>
      </p:sp>
      <p:sp>
        <p:nvSpPr>
          <p:cNvPr id="10" name="Text 7"/>
          <p:cNvSpPr/>
          <p:nvPr/>
        </p:nvSpPr>
        <p:spPr>
          <a:xfrm>
            <a:off x="8076895" y="6473952"/>
            <a:ext cx="274320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CONFIDENCIAL — USO INTERNO</a:t>
            </a:r>
            <a:endParaRPr lang="en-US" sz="900"/>
          </a:p>
        </p:txBody>
      </p:sp>
      <p:sp>
        <p:nvSpPr>
          <p:cNvPr id="11" name="Text 8"/>
          <p:cNvSpPr/>
          <p:nvPr/>
        </p:nvSpPr>
        <p:spPr>
          <a:xfrm>
            <a:off x="11460175" y="6473952"/>
            <a:ext cx="365760" cy="27432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14</a:t>
            </a:r>
            <a:endParaRPr lang="en-US" sz="900"/>
          </a:p>
        </p:txBody>
      </p:sp>
    </p:spTree>
    <p:extLst>
      <p:ext uri="{BB962C8B-B14F-4D97-AF65-F5344CB8AC3E}">
        <p14:creationId xmlns:p14="http://schemas.microsoft.com/office/powerpoint/2010/main" val="2862326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2600</Words>
  <Application>Microsoft Office PowerPoint</Application>
  <PresentationFormat>Panorámica</PresentationFormat>
  <Paragraphs>340</Paragraphs>
  <Slides>16</Slides>
  <Notes>16</Notes>
  <HiddenSlides>4</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Aptos</vt:lpstr>
      <vt:lpstr>Arial</vt:lpstr>
      <vt:lpstr>Calibri</vt:lpstr>
      <vt:lpstr>Cambria</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Saul Ochoa</cp:lastModifiedBy>
  <cp:revision>1</cp:revision>
  <dcterms:created xsi:type="dcterms:W3CDTF">2026-08-04T21:42:26Z</dcterms:created>
  <dcterms:modified xsi:type="dcterms:W3CDTF">2026-08-11T22:05:31Z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117a5ba-086b-43a5-ac20-78afcb57e39e_Enabled">
    <vt:lpwstr>true</vt:lpwstr>
  </property>
  <property fmtid="{D5CDD505-2E9C-101B-9397-08002B2CF9AE}" pid="3" name="MSIP_Label_b117a5ba-086b-43a5-ac20-78afcb57e39e_SetDate">
    <vt:lpwstr>2026-08-04T21:49:14Z</vt:lpwstr>
  </property>
  <property fmtid="{D5CDD505-2E9C-101B-9397-08002B2CF9AE}" pid="4" name="MSIP_Label_b117a5ba-086b-43a5-ac20-78afcb57e39e_Method">
    <vt:lpwstr>Standard</vt:lpwstr>
  </property>
  <property fmtid="{D5CDD505-2E9C-101B-9397-08002B2CF9AE}" pid="5" name="MSIP_Label_b117a5ba-086b-43a5-ac20-78afcb57e39e_Name">
    <vt:lpwstr>Información Interna_Producción</vt:lpwstr>
  </property>
  <property fmtid="{D5CDD505-2E9C-101B-9397-08002B2CF9AE}" pid="6" name="MSIP_Label_b117a5ba-086b-43a5-ac20-78afcb57e39e_SiteId">
    <vt:lpwstr>517e0e98-94c4-4cdc-aedf-9a5d64ccdfb2</vt:lpwstr>
  </property>
  <property fmtid="{D5CDD505-2E9C-101B-9397-08002B2CF9AE}" pid="7" name="MSIP_Label_b117a5ba-086b-43a5-ac20-78afcb57e39e_ActionId">
    <vt:lpwstr>108a96db-20bc-4eed-9dab-1cc86c7e96aa</vt:lpwstr>
  </property>
  <property fmtid="{D5CDD505-2E9C-101B-9397-08002B2CF9AE}" pid="8" name="MSIP_Label_b117a5ba-086b-43a5-ac20-78afcb57e39e_ContentBits">
    <vt:lpwstr>2</vt:lpwstr>
  </property>
  <property fmtid="{D5CDD505-2E9C-101B-9397-08002B2CF9AE}" pid="9" name="MSIP_Label_b117a5ba-086b-43a5-ac20-78afcb57e39e_Tag">
    <vt:lpwstr>10, 3, 0, 2</vt:lpwstr>
  </property>
  <property fmtid="{D5CDD505-2E9C-101B-9397-08002B2CF9AE}" pid="10" name="ClassificationContentMarkingFooterLocations">
    <vt:lpwstr>Office Theme:3</vt:lpwstr>
  </property>
  <property fmtid="{D5CDD505-2E9C-101B-9397-08002B2CF9AE}" pid="11" name="ClassificationContentMarkingFooterText">
    <vt:lpwstr>Información Interna</vt:lpwstr>
  </property>
</Properties>
</file>