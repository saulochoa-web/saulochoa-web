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68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4DA1C0-2ECB-D0AB-0F45-965A73CBD4E8}" v="4" dt="2026-08-10T22:31:32.8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a Botteri" userId="S::alessandra.botteri@pichincha.pe::6f642955-bf30-4c01-a484-493024e4c307" providerId="AD" clId="Web-{E84DA1C0-2ECB-D0AB-0F45-965A73CBD4E8}"/>
    <pc:docChg chg="mod modSld modMainMaster">
      <pc:chgData name="Alessandra Botteri" userId="S::alessandra.botteri@pichincha.pe::6f642955-bf30-4c01-a484-493024e4c307" providerId="AD" clId="Web-{E84DA1C0-2ECB-D0AB-0F45-965A73CBD4E8}" dt="2026-08-10T22:31:32.874" v="157"/>
      <pc:docMkLst>
        <pc:docMk/>
      </pc:docMkLst>
      <pc:sldChg chg="modSp">
        <pc:chgData name="Alessandra Botteri" userId="S::alessandra.botteri@pichincha.pe::6f642955-bf30-4c01-a484-493024e4c307" providerId="AD" clId="Web-{E84DA1C0-2ECB-D0AB-0F45-965A73CBD4E8}" dt="2026-08-04T21:52:34.694" v="3" actId="20577"/>
        <pc:sldMkLst>
          <pc:docMk/>
          <pc:sldMk cId="0" sldId="257"/>
        </pc:sldMkLst>
        <pc:spChg chg="mod">
          <ac:chgData name="Alessandra Botteri" userId="S::alessandra.botteri@pichincha.pe::6f642955-bf30-4c01-a484-493024e4c307" providerId="AD" clId="Web-{E84DA1C0-2ECB-D0AB-0F45-965A73CBD4E8}" dt="2026-08-04T21:52:34.694" v="3" actId="20577"/>
          <ac:spMkLst>
            <pc:docMk/>
            <pc:sldMk cId="0" sldId="257"/>
            <ac:spMk id="9" creationId="{00000000-0000-0000-0000-000000000000}"/>
          </ac:spMkLst>
        </pc:spChg>
      </pc:sldChg>
      <pc:sldChg chg="modSp">
        <pc:chgData name="Alessandra Botteri" userId="S::alessandra.botteri@pichincha.pe::6f642955-bf30-4c01-a484-493024e4c307" providerId="AD" clId="Web-{E84DA1C0-2ECB-D0AB-0F45-965A73CBD4E8}" dt="2026-08-04T21:52:50.350" v="11" actId="20577"/>
        <pc:sldMkLst>
          <pc:docMk/>
          <pc:sldMk cId="0" sldId="258"/>
        </pc:sldMkLst>
        <pc:spChg chg="mod">
          <ac:chgData name="Alessandra Botteri" userId="S::alessandra.botteri@pichincha.pe::6f642955-bf30-4c01-a484-493024e4c307" providerId="AD" clId="Web-{E84DA1C0-2ECB-D0AB-0F45-965A73CBD4E8}" dt="2026-08-04T21:52:28.569" v="2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Alessandra Botteri" userId="S::alessandra.botteri@pichincha.pe::6f642955-bf30-4c01-a484-493024e4c307" providerId="AD" clId="Web-{E84DA1C0-2ECB-D0AB-0F45-965A73CBD4E8}" dt="2026-08-04T21:52:44.147" v="6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lessandra Botteri" userId="S::alessandra.botteri@pichincha.pe::6f642955-bf30-4c01-a484-493024e4c307" providerId="AD" clId="Web-{E84DA1C0-2ECB-D0AB-0F45-965A73CBD4E8}" dt="2026-08-04T21:52:47.084" v="9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lessandra Botteri" userId="S::alessandra.botteri@pichincha.pe::6f642955-bf30-4c01-a484-493024e4c307" providerId="AD" clId="Web-{E84DA1C0-2ECB-D0AB-0F45-965A73CBD4E8}" dt="2026-08-04T21:52:50.350" v="11" actId="20577"/>
          <ac:spMkLst>
            <pc:docMk/>
            <pc:sldMk cId="0" sldId="258"/>
            <ac:spMk id="22" creationId="{00000000-0000-0000-0000-000000000000}"/>
          </ac:spMkLst>
        </pc:spChg>
      </pc:sldChg>
      <pc:sldChg chg="modSp">
        <pc:chgData name="Alessandra Botteri" userId="S::alessandra.botteri@pichincha.pe::6f642955-bf30-4c01-a484-493024e4c307" providerId="AD" clId="Web-{E84DA1C0-2ECB-D0AB-0F45-965A73CBD4E8}" dt="2026-08-04T22:49:53.003" v="140" actId="20577"/>
        <pc:sldMkLst>
          <pc:docMk/>
          <pc:sldMk cId="0" sldId="259"/>
        </pc:sldMkLst>
        <pc:spChg chg="mod">
          <ac:chgData name="Alessandra Botteri" userId="S::alessandra.botteri@pichincha.pe::6f642955-bf30-4c01-a484-493024e4c307" providerId="AD" clId="Web-{E84DA1C0-2ECB-D0AB-0F45-965A73CBD4E8}" dt="2026-08-04T22:49:53.003" v="140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Alessandra Botteri" userId="S::alessandra.botteri@pichincha.pe::6f642955-bf30-4c01-a484-493024e4c307" providerId="AD" clId="Web-{E84DA1C0-2ECB-D0AB-0F45-965A73CBD4E8}" dt="2026-08-04T21:52:56.834" v="13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lessandra Botteri" userId="S::alessandra.botteri@pichincha.pe::6f642955-bf30-4c01-a484-493024e4c307" providerId="AD" clId="Web-{E84DA1C0-2ECB-D0AB-0F45-965A73CBD4E8}" dt="2026-08-04T21:52:58.366" v="15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Alessandra Botteri" userId="S::alessandra.botteri@pichincha.pe::6f642955-bf30-4c01-a484-493024e4c307" providerId="AD" clId="Web-{E84DA1C0-2ECB-D0AB-0F45-965A73CBD4E8}" dt="2026-08-04T21:53:00.819" v="17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Alessandra Botteri" userId="S::alessandra.botteri@pichincha.pe::6f642955-bf30-4c01-a484-493024e4c307" providerId="AD" clId="Web-{E84DA1C0-2ECB-D0AB-0F45-965A73CBD4E8}" dt="2026-08-04T21:53:02.772" v="18" actId="20577"/>
          <ac:spMkLst>
            <pc:docMk/>
            <pc:sldMk cId="0" sldId="259"/>
            <ac:spMk id="22" creationId="{00000000-0000-0000-0000-000000000000}"/>
          </ac:spMkLst>
        </pc:spChg>
        <pc:spChg chg="mod">
          <ac:chgData name="Alessandra Botteri" userId="S::alessandra.botteri@pichincha.pe::6f642955-bf30-4c01-a484-493024e4c307" providerId="AD" clId="Web-{E84DA1C0-2ECB-D0AB-0F45-965A73CBD4E8}" dt="2026-08-04T21:54:03.663" v="31" actId="20577"/>
          <ac:spMkLst>
            <pc:docMk/>
            <pc:sldMk cId="0" sldId="259"/>
            <ac:spMk id="26" creationId="{00000000-0000-0000-0000-000000000000}"/>
          </ac:spMkLst>
        </pc:spChg>
      </pc:sldChg>
      <pc:sldChg chg="delSp">
        <pc:chgData name="Alessandra Botteri" userId="S::alessandra.botteri@pichincha.pe::6f642955-bf30-4c01-a484-493024e4c307" providerId="AD" clId="Web-{E84DA1C0-2ECB-D0AB-0F45-965A73CBD4E8}" dt="2026-08-04T22:50:46.769" v="141"/>
        <pc:sldMkLst>
          <pc:docMk/>
          <pc:sldMk cId="0" sldId="260"/>
        </pc:sldMkLst>
      </pc:sldChg>
      <pc:sldChg chg="modSp">
        <pc:chgData name="Alessandra Botteri" userId="S::alessandra.botteri@pichincha.pe::6f642955-bf30-4c01-a484-493024e4c307" providerId="AD" clId="Web-{E84DA1C0-2ECB-D0AB-0F45-965A73CBD4E8}" dt="2026-08-04T22:55:10.349" v="146"/>
        <pc:sldMkLst>
          <pc:docMk/>
          <pc:sldMk cId="0" sldId="261"/>
        </pc:sldMkLst>
        <pc:spChg chg="mod">
          <ac:chgData name="Alessandra Botteri" userId="S::alessandra.botteri@pichincha.pe::6f642955-bf30-4c01-a484-493024e4c307" providerId="AD" clId="Web-{E84DA1C0-2ECB-D0AB-0F45-965A73CBD4E8}" dt="2026-08-04T22:55:10.349" v="146"/>
          <ac:spMkLst>
            <pc:docMk/>
            <pc:sldMk cId="0" sldId="261"/>
            <ac:spMk id="6" creationId="{00000000-0000-0000-0000-000000000000}"/>
          </ac:spMkLst>
        </pc:spChg>
        <pc:spChg chg="mod">
          <ac:chgData name="Alessandra Botteri" userId="S::alessandra.botteri@pichincha.pe::6f642955-bf30-4c01-a484-493024e4c307" providerId="AD" clId="Web-{E84DA1C0-2ECB-D0AB-0F45-965A73CBD4E8}" dt="2026-08-04T22:11:07.843" v="32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lessandra Botteri" userId="S::alessandra.botteri@pichincha.pe::6f642955-bf30-4c01-a484-493024e4c307" providerId="AD" clId="Web-{E84DA1C0-2ECB-D0AB-0F45-965A73CBD4E8}" dt="2026-08-04T22:11:07.874" v="33"/>
          <ac:spMkLst>
            <pc:docMk/>
            <pc:sldMk cId="0" sldId="261"/>
            <ac:spMk id="28" creationId="{00000000-0000-0000-0000-000000000000}"/>
          </ac:spMkLst>
        </pc:spChg>
      </pc:sldChg>
      <pc:sldChg chg="delSp modSp">
        <pc:chgData name="Alessandra Botteri" userId="S::alessandra.botteri@pichincha.pe::6f642955-bf30-4c01-a484-493024e4c307" providerId="AD" clId="Web-{E84DA1C0-2ECB-D0AB-0F45-965A73CBD4E8}" dt="2026-08-04T22:55:13.146" v="147"/>
        <pc:sldMkLst>
          <pc:docMk/>
          <pc:sldMk cId="0" sldId="263"/>
        </pc:sldMkLst>
        <pc:spChg chg="mod">
          <ac:chgData name="Alessandra Botteri" userId="S::alessandra.botteri@pichincha.pe::6f642955-bf30-4c01-a484-493024e4c307" providerId="AD" clId="Web-{E84DA1C0-2ECB-D0AB-0F45-965A73CBD4E8}" dt="2026-08-04T22:55:13.146" v="147"/>
          <ac:spMkLst>
            <pc:docMk/>
            <pc:sldMk cId="0" sldId="263"/>
            <ac:spMk id="5" creationId="{00000000-0000-0000-0000-000000000000}"/>
          </ac:spMkLst>
        </pc:spChg>
      </pc:sldChg>
      <pc:sldChg chg="delSp modSp">
        <pc:chgData name="Alessandra Botteri" userId="S::alessandra.botteri@pichincha.pe::6f642955-bf30-4c01-a484-493024e4c307" providerId="AD" clId="Web-{E84DA1C0-2ECB-D0AB-0F45-965A73CBD4E8}" dt="2026-08-04T22:51:19.050" v="142"/>
        <pc:sldMkLst>
          <pc:docMk/>
          <pc:sldMk cId="0" sldId="264"/>
        </pc:sldMkLst>
        <pc:spChg chg="mod">
          <ac:chgData name="Alessandra Botteri" userId="S::alessandra.botteri@pichincha.pe::6f642955-bf30-4c01-a484-493024e4c307" providerId="AD" clId="Web-{E84DA1C0-2ECB-D0AB-0F45-965A73CBD4E8}" dt="2026-08-04T21:53:51.491" v="30" actId="20577"/>
          <ac:spMkLst>
            <pc:docMk/>
            <pc:sldMk cId="0" sldId="264"/>
            <ac:spMk id="15" creationId="{00000000-0000-0000-0000-000000000000}"/>
          </ac:spMkLst>
        </pc:spChg>
      </pc:sldChg>
      <pc:sldChg chg="modSp">
        <pc:chgData name="Alessandra Botteri" userId="S::alessandra.botteri@pichincha.pe::6f642955-bf30-4c01-a484-493024e4c307" providerId="AD" clId="Web-{E84DA1C0-2ECB-D0AB-0F45-965A73CBD4E8}" dt="2026-08-04T21:53:43.100" v="26" actId="1076"/>
        <pc:sldMkLst>
          <pc:docMk/>
          <pc:sldMk cId="0" sldId="265"/>
        </pc:sldMkLst>
        <pc:spChg chg="mod">
          <ac:chgData name="Alessandra Botteri" userId="S::alessandra.botteri@pichincha.pe::6f642955-bf30-4c01-a484-493024e4c307" providerId="AD" clId="Web-{E84DA1C0-2ECB-D0AB-0F45-965A73CBD4E8}" dt="2026-08-04T21:53:43.100" v="26" actId="1076"/>
          <ac:spMkLst>
            <pc:docMk/>
            <pc:sldMk cId="0" sldId="265"/>
            <ac:spMk id="3" creationId="{00000000-0000-0000-0000-000000000000}"/>
          </ac:spMkLst>
        </pc:spChg>
      </pc:sldChg>
      <pc:sldChg chg="mod modShow">
        <pc:chgData name="Alessandra Botteri" userId="S::alessandra.botteri@pichincha.pe::6f642955-bf30-4c01-a484-493024e4c307" providerId="AD" clId="Web-{E84DA1C0-2ECB-D0AB-0F45-965A73CBD4E8}" dt="2026-08-10T22:31:32.327" v="154"/>
        <pc:sldMkLst>
          <pc:docMk/>
          <pc:sldMk cId="3773591565" sldId="267"/>
        </pc:sldMkLst>
      </pc:sldChg>
      <pc:sldChg chg="mod modShow">
        <pc:chgData name="Alessandra Botteri" userId="S::alessandra.botteri@pichincha.pe::6f642955-bf30-4c01-a484-493024e4c307" providerId="AD" clId="Web-{E84DA1C0-2ECB-D0AB-0F45-965A73CBD4E8}" dt="2026-08-10T22:31:32.749" v="156"/>
        <pc:sldMkLst>
          <pc:docMk/>
          <pc:sldMk cId="974699195" sldId="268"/>
        </pc:sldMkLst>
      </pc:sldChg>
      <pc:sldChg chg="mod modShow">
        <pc:chgData name="Alessandra Botteri" userId="S::alessandra.botteri@pichincha.pe::6f642955-bf30-4c01-a484-493024e4c307" providerId="AD" clId="Web-{E84DA1C0-2ECB-D0AB-0F45-965A73CBD4E8}" dt="2026-08-10T22:31:32.530" v="155"/>
        <pc:sldMkLst>
          <pc:docMk/>
          <pc:sldMk cId="2204163905" sldId="269"/>
        </pc:sldMkLst>
      </pc:sldChg>
      <pc:sldChg chg="mod modShow">
        <pc:chgData name="Alessandra Botteri" userId="S::alessandra.botteri@pichincha.pe::6f642955-bf30-4c01-a484-493024e4c307" providerId="AD" clId="Web-{E84DA1C0-2ECB-D0AB-0F45-965A73CBD4E8}" dt="2026-08-10T22:31:32.874" v="157"/>
        <pc:sldMkLst>
          <pc:docMk/>
          <pc:sldMk cId="2862326736" sldId="270"/>
        </pc:sldMkLst>
      </pc:sldChg>
      <pc:sldMasterChg chg="addSp">
        <pc:chgData name="Alessandra Botteri" userId="S::alessandra.botteri@pichincha.pe::6f642955-bf30-4c01-a484-493024e4c307" providerId="AD" clId="Web-{E84DA1C0-2ECB-D0AB-0F45-965A73CBD4E8}" dt="2026-08-04T21:49:14.534" v="0" actId="33475"/>
        <pc:sldMasterMkLst>
          <pc:docMk/>
          <pc:sldMasterMk cId="0" sldId="2147483648"/>
        </pc:sldMasterMkLst>
        <pc:spChg chg="add">
          <ac:chgData name="Alessandra Botteri" userId="S::alessandra.botteri@pichincha.pe::6f642955-bf30-4c01-a484-493024e4c307" providerId="AD" clId="Web-{E84DA1C0-2ECB-D0AB-0F45-965A73CBD4E8}" dt="2026-08-04T21:49:14.534" v="0" actId="33475"/>
          <ac:spMkLst>
            <pc:docMk/>
            <pc:sldMasterMk cId="0" sldId="2147483648"/>
            <ac:spMk id="3" creationId="{B361F40D-598E-E920-8E86-9B030FB32FC4}"/>
          </ac:spMkLst>
        </pc:spChg>
      </pc:sldMasterChg>
    </pc:docChg>
  </pc:docChgLst>
  <pc:docChgLst>
    <pc:chgData name="Saul Ochoa" userId="S::saul.ochoa@pichincha.pe::ea295e30-9476-4161-be30-84961aa327ee" providerId="AD" clId="Web-{00A03C32-5008-71D9-A888-AEB28B4D8274}"/>
    <pc:docChg chg="addSld delSld modSld sldOrd">
      <pc:chgData name="Saul Ochoa" userId="S::saul.ochoa@pichincha.pe::ea295e30-9476-4161-be30-84961aa327ee" providerId="AD" clId="Web-{00A03C32-5008-71D9-A888-AEB28B4D8274}" dt="2026-08-05T15:28:59.782" v="14"/>
      <pc:docMkLst>
        <pc:docMk/>
      </pc:docMkLst>
      <pc:sldChg chg="add ord">
        <pc:chgData name="Saul Ochoa" userId="S::saul.ochoa@pichincha.pe::ea295e30-9476-4161-be30-84961aa327ee" providerId="AD" clId="Web-{00A03C32-5008-71D9-A888-AEB28B4D8274}" dt="2026-08-05T15:28:10.564" v="11"/>
        <pc:sldMkLst>
          <pc:docMk/>
          <pc:sldMk cId="3773591565" sldId="267"/>
        </pc:sldMkLst>
      </pc:sldChg>
      <pc:sldChg chg="modSp add ord">
        <pc:chgData name="Saul Ochoa" userId="S::saul.ochoa@pichincha.pe::ea295e30-9476-4161-be30-84961aa327ee" providerId="AD" clId="Web-{00A03C32-5008-71D9-A888-AEB28B4D8274}" dt="2026-08-05T15:28:59.782" v="14"/>
        <pc:sldMkLst>
          <pc:docMk/>
          <pc:sldMk cId="974699195" sldId="268"/>
        </pc:sldMkLst>
        <pc:picChg chg="mod">
          <ac:chgData name="Saul Ochoa" userId="S::saul.ochoa@pichincha.pe::ea295e30-9476-4161-be30-84961aa327ee" providerId="AD" clId="Web-{00A03C32-5008-71D9-A888-AEB28B4D8274}" dt="2026-08-05T15:27:14.595" v="7" actId="14100"/>
          <ac:picMkLst>
            <pc:docMk/>
            <pc:sldMk cId="974699195" sldId="268"/>
            <ac:picMk id="5" creationId="{00000000-0000-0000-0000-000000000000}"/>
          </ac:picMkLst>
        </pc:picChg>
      </pc:sldChg>
      <pc:sldChg chg="add mod ord modShow">
        <pc:chgData name="Saul Ochoa" userId="S::saul.ochoa@pichincha.pe::ea295e30-9476-4161-be30-84961aa327ee" providerId="AD" clId="Web-{00A03C32-5008-71D9-A888-AEB28B4D8274}" dt="2026-08-05T15:28:06.704" v="10"/>
        <pc:sldMkLst>
          <pc:docMk/>
          <pc:sldMk cId="2204163905" sldId="269"/>
        </pc:sldMkLst>
      </pc:sldChg>
      <pc:sldChg chg="add mod modShow">
        <pc:chgData name="Saul Ochoa" userId="S::saul.ochoa@pichincha.pe::ea295e30-9476-4161-be30-84961aa327ee" providerId="AD" clId="Web-{00A03C32-5008-71D9-A888-AEB28B4D8274}" dt="2026-08-05T15:28:55.642" v="13"/>
        <pc:sldMkLst>
          <pc:docMk/>
          <pc:sldMk cId="2862326736" sldId="27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102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104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106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operaciones</c:v>
                </c:pt>
              </c:strCache>
            </c:strRef>
          </c:tx>
          <c:spPr>
            <a:solidFill>
              <a:srgbClr val="3D5A99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 S/500</c:v>
                </c:pt>
                <c:pt idx="1">
                  <c:v>Solo S/500</c:v>
                </c:pt>
                <c:pt idx="2">
                  <c:v>Moderado
501–5,000</c:v>
                </c:pt>
                <c:pt idx="3">
                  <c:v>Alto
5,001–20,000</c:v>
                </c:pt>
                <c:pt idx="4">
                  <c:v>Crítico
&gt; 20,000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60.9</c:v>
                </c:pt>
                <c:pt idx="1">
                  <c:v>28.1</c:v>
                </c:pt>
                <c:pt idx="2">
                  <c:v>8.6999999999999993</c:v>
                </c:pt>
                <c:pt idx="3">
                  <c:v>1.7</c:v>
                </c:pt>
                <c:pt idx="4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9C-4043-8926-3D7FA41651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del monto</c:v>
                </c:pt>
              </c:strCache>
            </c:strRef>
          </c:tx>
          <c:spPr>
            <a:solidFill>
              <a:srgbClr val="C9A15A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&lt; S/500</c:v>
                </c:pt>
                <c:pt idx="1">
                  <c:v>Solo S/500</c:v>
                </c:pt>
                <c:pt idx="2">
                  <c:v>Moderado
501–5,000</c:v>
                </c:pt>
                <c:pt idx="3">
                  <c:v>Alto
5,001–20,000</c:v>
                </c:pt>
                <c:pt idx="4">
                  <c:v>Crítico
&gt; 20,000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19.8</c:v>
                </c:pt>
                <c:pt idx="2">
                  <c:v>24.7</c:v>
                </c:pt>
                <c:pt idx="3">
                  <c:v>25.3</c:v>
                </c:pt>
                <c:pt idx="4">
                  <c:v>22.2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9C-4043-8926-3D7FA41651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Bancos grandes (BCP, BBVA, Scotia, Interbank)</c:v>
                </c:pt>
              </c:strCache>
            </c:strRef>
          </c:tx>
          <c:spPr>
            <a:solidFill>
              <a:srgbClr val="3D5A99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Mejor tasa
de interés</c:v>
                </c:pt>
                <c:pt idx="1">
                  <c:v>Vínculo previo
(sueldo/productos)</c:v>
                </c:pt>
                <c:pt idx="2">
                  <c:v>Promociones
o beneficios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</c:v>
                </c:pt>
                <c:pt idx="1">
                  <c:v>47</c:v>
                </c:pt>
                <c:pt idx="2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D1-3F41-A866-CB69A7DF3B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Otras entidades (cajas, financieras)</c:v>
                </c:pt>
              </c:strCache>
            </c:strRef>
          </c:tx>
          <c:spPr>
            <a:solidFill>
              <a:srgbClr val="C9A15A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Mejor tasa
de interés</c:v>
                </c:pt>
                <c:pt idx="1">
                  <c:v>Vínculo previo
(sueldo/productos)</c:v>
                </c:pt>
                <c:pt idx="2">
                  <c:v>Promociones
o beneficios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7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D1-3F41-A866-CB69A7DF3B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Satisfacción promedio</c:v>
                </c:pt>
              </c:strCache>
            </c:strRef>
          </c:tx>
          <c:spPr>
            <a:solidFill>
              <a:srgbClr val="C9A1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1C-7F43-A5DB-65E5D1C1DFE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1C-7F43-A5DB-65E5D1C1DFE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1C-7F43-A5DB-65E5D1C1DFE2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No transfirió
sus ahorros</c:v>
                </c:pt>
                <c:pt idx="1">
                  <c:v>Transfirió a
bancos grandes</c:v>
                </c:pt>
                <c:pt idx="2">
                  <c:v>Transfirió a
otras entidades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8.5</c:v>
                </c:pt>
                <c:pt idx="1">
                  <c:v>7.9</c:v>
                </c:pt>
                <c:pt idx="2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D1C-7F43-A5DB-65E5D1C1DF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709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361F40D-598E-E920-8E86-9B030FB32FC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63375" y="6672580"/>
            <a:ext cx="8858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Información Interna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PASIVOS  ·  BANCO PICHINCHA</a:t>
            </a:r>
            <a:endParaRPr lang="en-US" sz="120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van los ahorros?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Cruzando lo que dicen las transacciones con lo que dicen los clientes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9491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transaccional de salidas del App (Inmediatas + Diferidas, junio 2026) fusionado con la encuesta cualitativa a clientes que retiraron más de S/5,000 en el mes.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232C6E"/>
          </a:solidFill>
          <a:ln w="9525">
            <a:solidFill>
              <a:srgbClr val="3A44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822960" y="50017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202.35M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822960" y="5513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analizados en transferencias App · junio 2026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297680" y="48920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232C6E"/>
          </a:solidFill>
          <a:ln w="9525">
            <a:solidFill>
              <a:srgbClr val="3A44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480560" y="50017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4480560" y="5513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de la encuesta de fuga · jun–jul 2026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7955280" y="48920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232C6E"/>
          </a:solidFill>
          <a:ln w="9525">
            <a:solidFill>
              <a:srgbClr val="3A44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8138160" y="50017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2.53M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138160" y="5513832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declarado por encuestados como salida a otra entidad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68580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117957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</a:t>
            </a:r>
            <a:r>
              <a:rPr lang="en-US" sz="26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responder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muestran 284,770 transacciones de junio se confirma en lo que dicen 227 clientes encuestados.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Shape 4"/>
          <p:cNvSpPr/>
          <p:nvPr/>
        </p:nvSpPr>
        <p:spPr>
          <a:xfrm>
            <a:off x="804672" y="2587752"/>
            <a:ext cx="502920" cy="502920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804672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804672" y="324612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es fuga real y cuánto uso cotidiano?</a:t>
            </a:r>
            <a:endParaRPr lang="en-US" sz="1550"/>
          </a:p>
        </p:txBody>
      </p:sp>
      <p:sp>
        <p:nvSpPr>
          <p:cNvPr id="9" name="Text 7"/>
          <p:cNvSpPr/>
          <p:nvPr/>
        </p:nvSpPr>
        <p:spPr>
          <a:xfrm>
            <a:off x="804672" y="4206240"/>
            <a:ext cx="3008376" cy="1554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47% del </a:t>
            </a:r>
            <a:r>
              <a:rPr lang="en-US" sz="1150" err="1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monto</a:t>
            </a:r>
            <a:r>
              <a:rPr lang="en-US" sz="1150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150" err="1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transferencias</a:t>
            </a:r>
            <a:r>
              <a:rPr lang="en-US" sz="1150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 (S/96.1M) se </a:t>
            </a:r>
            <a:r>
              <a:rPr lang="en-US" sz="1150" err="1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concentra</a:t>
            </a:r>
            <a:r>
              <a:rPr lang="en-US" sz="1150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150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 solo 2.3% de las </a:t>
            </a:r>
            <a:r>
              <a:rPr lang="en-US" sz="1150" err="1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operaciones</a:t>
            </a:r>
            <a:r>
              <a:rPr lang="en-US" sz="1150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 — tickets altos con </a:t>
            </a:r>
            <a:r>
              <a:rPr lang="en-US" sz="1150" err="1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perfil</a:t>
            </a:r>
            <a:r>
              <a:rPr lang="en-US" sz="1150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150" err="1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fuga</a:t>
            </a:r>
            <a:r>
              <a:rPr lang="en-US" sz="1150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, no de </a:t>
            </a:r>
            <a:r>
              <a:rPr lang="en-US" sz="1150" err="1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consumo</a:t>
            </a:r>
            <a:r>
              <a:rPr lang="en-US" sz="1150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diario</a:t>
            </a:r>
            <a:r>
              <a:rPr lang="en-US" sz="1150">
                <a:solidFill>
                  <a:srgbClr val="C7D0E3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25112" y="23317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4581144" y="2587752"/>
            <a:ext cx="502920" cy="502920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4581144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4581144" y="324612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qué bancos se va el dinero?</a:t>
            </a:r>
            <a:endParaRPr lang="en-US" sz="1550"/>
          </a:p>
        </p:txBody>
      </p:sp>
      <p:sp>
        <p:nvSpPr>
          <p:cNvPr id="14" name="Text 12"/>
          <p:cNvSpPr/>
          <p:nvPr/>
        </p:nvSpPr>
        <p:spPr>
          <a:xfrm>
            <a:off x="4581144" y="4206240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concentra 57% de la fuga hacia el Big Four; fuera de él, Efectibank lidera. En la encuesta, quienes migran a cajas y financieras se llevan 3.7x más dinero por cliente.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8101584" y="23317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8357616" y="2587752"/>
            <a:ext cx="502920" cy="502920"/>
          </a:xfrm>
          <a:prstGeom prst="ellipse">
            <a:avLst/>
          </a:prstGeom>
          <a:solidFill>
            <a:srgbClr val="C9A15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8357616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8357616" y="324612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van?</a:t>
            </a:r>
            <a:endParaRPr lang="en-US" sz="1550"/>
          </a:p>
        </p:txBody>
      </p:sp>
      <p:sp>
        <p:nvSpPr>
          <p:cNvPr id="19" name="Text 17"/>
          <p:cNvSpPr/>
          <p:nvPr/>
        </p:nvSpPr>
        <p:spPr>
          <a:xfrm>
            <a:off x="8357616" y="4206240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de quienes migran a otras entidades lo hace solo por tasa. En bancos grandes la tasa compite con el vínculo: sueldo (25%) y promociones (23%).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68580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117957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8A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1 · COMPOSICIÓN DEL MONTO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El 47% del </a:t>
            </a:r>
            <a:r>
              <a:rPr lang="en-US" sz="2600" b="1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monto</a:t>
            </a:r>
            <a:r>
              <a:rPr lang="en-US"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sale </a:t>
            </a:r>
            <a:r>
              <a:rPr lang="en-US" sz="2600" b="1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600" b="1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apenas</a:t>
            </a:r>
            <a:r>
              <a:rPr lang="en-US"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 2.3% de las </a:t>
            </a:r>
            <a:r>
              <a:rPr lang="en-US" sz="2600" b="1" err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operaciones</a:t>
            </a:r>
            <a:endParaRPr lang="en-US" sz="2600" err="1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Tramos de valor de las 284,770 transferencias de junio (S/202.4M) — a mayor ticket, mayor probabilidad de fuga real.</a:t>
            </a:r>
            <a:endParaRPr lang="en-US" sz="140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68580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965960"/>
            <a:ext cx="4023360" cy="12801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4"/>
          <p:cNvSpPr/>
          <p:nvPr/>
        </p:nvSpPr>
        <p:spPr>
          <a:xfrm>
            <a:off x="7635240" y="1965960"/>
            <a:ext cx="73152" cy="1280160"/>
          </a:xfrm>
          <a:prstGeom prst="rect">
            <a:avLst/>
          </a:prstGeom>
          <a:solidFill>
            <a:srgbClr val="3D5A9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7845552" y="205740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COTIDIANO</a:t>
            </a:r>
            <a:endParaRPr lang="en-US" sz="1000"/>
          </a:p>
        </p:txBody>
      </p:sp>
      <p:sp>
        <p:nvSpPr>
          <p:cNvPr id="9" name="Text 6"/>
          <p:cNvSpPr/>
          <p:nvPr/>
        </p:nvSpPr>
        <p:spPr>
          <a:xfrm>
            <a:off x="7845552" y="231343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S/500 y "Solo S/500"</a:t>
            </a:r>
            <a:endParaRPr lang="en-US" sz="1000"/>
          </a:p>
        </p:txBody>
      </p:sp>
      <p:sp>
        <p:nvSpPr>
          <p:cNvPr id="10" name="Text 7"/>
          <p:cNvSpPr/>
          <p:nvPr/>
        </p:nvSpPr>
        <p:spPr>
          <a:xfrm>
            <a:off x="7845552" y="2532888"/>
            <a:ext cx="3703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S/ 56.2M · 28%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845552" y="286207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y consumo del día a día; bajo riesgo de fuga real.</a:t>
            </a:r>
            <a:endParaRPr lang="en-US" sz="880"/>
          </a:p>
        </p:txBody>
      </p:sp>
      <p:sp>
        <p:nvSpPr>
          <p:cNvPr id="12" name="Shape 9"/>
          <p:cNvSpPr/>
          <p:nvPr/>
        </p:nvSpPr>
        <p:spPr>
          <a:xfrm>
            <a:off x="7635240" y="3364992"/>
            <a:ext cx="4023360" cy="12801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0"/>
          <p:cNvSpPr/>
          <p:nvPr/>
        </p:nvSpPr>
        <p:spPr>
          <a:xfrm>
            <a:off x="7635240" y="3364992"/>
            <a:ext cx="73152" cy="1280160"/>
          </a:xfrm>
          <a:prstGeom prst="rect">
            <a:avLst/>
          </a:prstGeom>
          <a:solidFill>
            <a:srgbClr val="8A6D2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1"/>
          <p:cNvSpPr/>
          <p:nvPr/>
        </p:nvSpPr>
        <p:spPr>
          <a:xfrm>
            <a:off x="7845552" y="345643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>
                <a:solidFill>
                  <a:srgbClr val="8A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GRIS</a:t>
            </a:r>
            <a:endParaRPr lang="en-US" sz="1000"/>
          </a:p>
        </p:txBody>
      </p:sp>
      <p:sp>
        <p:nvSpPr>
          <p:cNvPr id="15" name="Text 12"/>
          <p:cNvSpPr/>
          <p:nvPr/>
        </p:nvSpPr>
        <p:spPr>
          <a:xfrm>
            <a:off x="7845552" y="3712464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 S/501–5,000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>
          <a:xfrm>
            <a:off x="7845552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S/ 50.0M · 25%</a:t>
            </a:r>
            <a:endParaRPr lang="en-US" sz="1500"/>
          </a:p>
        </p:txBody>
      </p:sp>
      <p:sp>
        <p:nvSpPr>
          <p:cNvPr id="17" name="Text 14"/>
          <p:cNvSpPr/>
          <p:nvPr/>
        </p:nvSpPr>
        <p:spPr>
          <a:xfrm>
            <a:off x="7845552" y="4261104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Traslado parcial de liquidez o administración del ahorro entre entidades.</a:t>
            </a:r>
            <a:endParaRPr lang="en-US" sz="880"/>
          </a:p>
        </p:txBody>
      </p:sp>
      <p:sp>
        <p:nvSpPr>
          <p:cNvPr id="18" name="Shape 15"/>
          <p:cNvSpPr/>
          <p:nvPr/>
        </p:nvSpPr>
        <p:spPr>
          <a:xfrm>
            <a:off x="7635240" y="4764024"/>
            <a:ext cx="4023360" cy="128016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6"/>
          <p:cNvSpPr/>
          <p:nvPr/>
        </p:nvSpPr>
        <p:spPr>
          <a:xfrm>
            <a:off x="7635240" y="4764024"/>
            <a:ext cx="73152" cy="128016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7"/>
          <p:cNvSpPr/>
          <p:nvPr/>
        </p:nvSpPr>
        <p:spPr>
          <a:xfrm>
            <a:off x="7845552" y="485546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REAL DE ALTO VALOR</a:t>
            </a:r>
            <a:endParaRPr lang="en-US" sz="1000"/>
          </a:p>
        </p:txBody>
      </p:sp>
      <p:sp>
        <p:nvSpPr>
          <p:cNvPr id="21" name="Text 18"/>
          <p:cNvSpPr/>
          <p:nvPr/>
        </p:nvSpPr>
        <p:spPr>
          <a:xfrm>
            <a:off x="7845552" y="5111496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+ Crítico &gt; S/5,000</a:t>
            </a:r>
            <a:endParaRPr lang="en-US" sz="1000"/>
          </a:p>
        </p:txBody>
      </p:sp>
      <p:sp>
        <p:nvSpPr>
          <p:cNvPr id="22" name="Text 19"/>
          <p:cNvSpPr/>
          <p:nvPr/>
        </p:nvSpPr>
        <p:spPr>
          <a:xfrm>
            <a:off x="7845552" y="5330952"/>
            <a:ext cx="3703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S/ 96.1M · 47%</a:t>
            </a:r>
            <a:endParaRPr lang="en-US" sz="1500"/>
          </a:p>
        </p:txBody>
      </p:sp>
      <p:sp>
        <p:nvSpPr>
          <p:cNvPr id="23" name="Text 20"/>
          <p:cNvSpPr/>
          <p:nvPr/>
        </p:nvSpPr>
        <p:spPr>
          <a:xfrm>
            <a:off x="7845552" y="566013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que la encuesta cualitativa confirma: aquí se concentra la migración.</a:t>
            </a:r>
            <a:endParaRPr lang="en-US" sz="880"/>
          </a:p>
        </p:txBody>
      </p:sp>
      <p:sp>
        <p:nvSpPr>
          <p:cNvPr id="24" name="Text 2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25" name="Text 22"/>
          <p:cNvSpPr/>
          <p:nvPr/>
        </p:nvSpPr>
        <p:spPr>
          <a:xfrm>
            <a:off x="68580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26" name="Text 23"/>
          <p:cNvSpPr/>
          <p:nvPr/>
        </p:nvSpPr>
        <p:spPr>
          <a:xfrm>
            <a:off x="117957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8A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2 · DESTINO DE LA FUGA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domina el Big Four; en la encuesta, las cajas y financieras se llevan el ticket más alto</a:t>
            </a:r>
            <a:endParaRPr lang="en-US" sz="23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6B7280"/>
                </a:solidFill>
                <a:ea typeface="Calibri"/>
                <a:cs typeface="Calibri"/>
              </a:rPr>
              <a:t>En </a:t>
            </a:r>
            <a:r>
              <a:rPr lang="en-US" sz="1400" err="1">
                <a:solidFill>
                  <a:srgbClr val="6B7280"/>
                </a:solidFill>
                <a:ea typeface="Calibri"/>
                <a:cs typeface="Calibri"/>
              </a:rPr>
              <a:t>los</a:t>
            </a:r>
            <a:r>
              <a:rPr lang="en-US" sz="1400">
                <a:solidFill>
                  <a:srgbClr val="6B7280"/>
                </a:solidFill>
                <a:ea typeface="Calibri"/>
                <a:cs typeface="Calibri"/>
              </a:rPr>
              <a:t> big four se </a:t>
            </a:r>
            <a:r>
              <a:rPr lang="en-US" sz="1400" err="1">
                <a:solidFill>
                  <a:srgbClr val="6B7280"/>
                </a:solidFill>
                <a:ea typeface="Calibri"/>
                <a:cs typeface="Calibri"/>
              </a:rPr>
              <a:t>concentra</a:t>
            </a:r>
            <a:r>
              <a:rPr lang="en-US" sz="1400">
                <a:solidFill>
                  <a:srgbClr val="6B7280"/>
                </a:solidFill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6B7280"/>
                </a:solidFill>
                <a:ea typeface="Calibri"/>
                <a:cs typeface="Calibri"/>
              </a:rPr>
              <a:t>más</a:t>
            </a:r>
            <a:r>
              <a:rPr lang="en-US" sz="1400">
                <a:solidFill>
                  <a:srgbClr val="6B7280"/>
                </a:solidFill>
                <a:ea typeface="Calibri"/>
                <a:cs typeface="Calibri"/>
              </a:rPr>
              <a:t> volumen de dinero, sin embargo, el ticket promedio de las </a:t>
            </a:r>
            <a:r>
              <a:rPr lang="en-US" sz="1400" err="1">
                <a:solidFill>
                  <a:srgbClr val="6B7280"/>
                </a:solidFill>
                <a:ea typeface="Calibri"/>
                <a:cs typeface="Calibri"/>
              </a:rPr>
              <a:t>otras</a:t>
            </a:r>
            <a:r>
              <a:rPr lang="en-US" sz="1400">
                <a:solidFill>
                  <a:srgbClr val="6B7280"/>
                </a:solidFill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6B7280"/>
                </a:solidFill>
                <a:ea typeface="Calibri"/>
                <a:cs typeface="Calibri"/>
              </a:rPr>
              <a:t>entidades</a:t>
            </a:r>
            <a:r>
              <a:rPr lang="en-US" sz="1400">
                <a:solidFill>
                  <a:srgbClr val="6B7280"/>
                </a:solidFill>
                <a:ea typeface="Calibri"/>
                <a:cs typeface="Calibri"/>
              </a:rPr>
              <a:t> es mayor.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2F4F8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DICEN LAS TRANSACCIONES — App, junio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171.4M en Big Four  ·  S/ 17.1M en Resto de Mercado</a:t>
            </a:r>
            <a:endParaRPr lang="en-US" sz="95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Crédito (BCP)</a:t>
            </a:r>
            <a:endParaRPr lang="en-US" sz="1150"/>
          </a:p>
        </p:txBody>
      </p:sp>
      <p:sp>
        <p:nvSpPr>
          <p:cNvPr id="9" name="Text 7"/>
          <p:cNvSpPr/>
          <p:nvPr/>
        </p:nvSpPr>
        <p:spPr>
          <a:xfrm>
            <a:off x="3657600" y="2697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94.6M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4892040" y="2697480"/>
            <a:ext cx="91440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3D5A99"/>
                </a:solidFill>
                <a:latin typeface="Calibri"/>
                <a:ea typeface="Calibri"/>
                <a:cs typeface="Calibri"/>
              </a:rPr>
              <a:t>57%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822960" y="3081528"/>
            <a:ext cx="4937760" cy="0"/>
          </a:xfrm>
          <a:prstGeom prst="line">
            <a:avLst/>
          </a:prstGeom>
          <a:noFill/>
          <a:ln w="9525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Interbank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3657600" y="31546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34.8M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4892040" y="3154680"/>
            <a:ext cx="91440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3D5A99"/>
                </a:solidFill>
                <a:latin typeface="Calibri"/>
                <a:ea typeface="Calibri"/>
                <a:cs typeface="Calibri"/>
              </a:rPr>
              <a:t>20%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822960" y="3538728"/>
            <a:ext cx="4937760" cy="0"/>
          </a:xfrm>
          <a:prstGeom prst="line">
            <a:avLst/>
          </a:prstGeom>
          <a:noFill/>
          <a:ln w="9525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822960" y="36118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BBVA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3657600" y="36118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24.4M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4892040" y="3611880"/>
            <a:ext cx="91440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3D5A99"/>
                </a:solidFill>
                <a:latin typeface="Calibri"/>
                <a:ea typeface="Calibri"/>
                <a:cs typeface="Calibri"/>
              </a:rPr>
              <a:t>14%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822960" y="3995928"/>
            <a:ext cx="4937760" cy="0"/>
          </a:xfrm>
          <a:prstGeom prst="line">
            <a:avLst/>
          </a:prstGeom>
          <a:noFill/>
          <a:ln w="9525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822960" y="40690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Scotiabank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3657600" y="40690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10.3M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4892040" y="4069080"/>
            <a:ext cx="91440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3D5A99"/>
                </a:solidFill>
                <a:latin typeface="Calibri"/>
                <a:ea typeface="Calibri"/>
                <a:cs typeface="Calibri"/>
              </a:rPr>
              <a:t>6%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22960" y="4453128"/>
            <a:ext cx="4937760" cy="0"/>
          </a:xfrm>
          <a:prstGeom prst="line">
            <a:avLst/>
          </a:prstGeom>
          <a:noFill/>
          <a:ln w="9525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822960" y="45262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8A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Efectibank (líder Resto de Mercado)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3657600" y="45262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3.18M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4892040" y="4526280"/>
            <a:ext cx="914400" cy="38404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8A6D2E"/>
                </a:solidFill>
                <a:latin typeface="Calibri"/>
                <a:ea typeface="Calibri"/>
                <a:cs typeface="Calibri"/>
              </a:rPr>
              <a:t>21%*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2960" y="505663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*% dentro del grupo Resto de Mercado (BanBif, Mibanco, Compartamos, Falabella, GNB, Efectibank).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6217920" y="1874520"/>
            <a:ext cx="5422392" cy="4160520"/>
          </a:xfrm>
          <a:prstGeom prst="roundRect">
            <a:avLst>
              <a:gd name="adj" fmla="val 175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6492240" y="202996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DICEN LOS CLIENTES — Encuesta, clientes que migraron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492240" y="22860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 3x mayor en cajas y financieras vs. bancos grandes</a:t>
            </a:r>
            <a:endParaRPr lang="en-US" sz="950"/>
          </a:p>
        </p:txBody>
      </p:sp>
      <p:sp>
        <p:nvSpPr>
          <p:cNvPr id="31" name="Text 29"/>
          <p:cNvSpPr/>
          <p:nvPr/>
        </p:nvSpPr>
        <p:spPr>
          <a:xfrm>
            <a:off x="6492240" y="2697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BanBif</a:t>
            </a:r>
            <a:endParaRPr lang="en-US" sz="1150"/>
          </a:p>
        </p:txBody>
      </p:sp>
      <p:sp>
        <p:nvSpPr>
          <p:cNvPr id="32" name="Text 30"/>
          <p:cNvSpPr/>
          <p:nvPr/>
        </p:nvSpPr>
        <p:spPr>
          <a:xfrm>
            <a:off x="9144000" y="26974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cli.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9966960" y="26974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-S/ 32,221</a:t>
            </a:r>
            <a:endParaRPr lang="en-US" sz="1150"/>
          </a:p>
        </p:txBody>
      </p:sp>
      <p:sp>
        <p:nvSpPr>
          <p:cNvPr id="34" name="Shape 32"/>
          <p:cNvSpPr/>
          <p:nvPr/>
        </p:nvSpPr>
        <p:spPr>
          <a:xfrm>
            <a:off x="6492240" y="3081528"/>
            <a:ext cx="5074920" cy="0"/>
          </a:xfrm>
          <a:prstGeom prst="line">
            <a:avLst/>
          </a:prstGeom>
          <a:noFill/>
          <a:ln w="9525">
            <a:solidFill>
              <a:srgbClr val="3A44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/>
          <p:nvPr/>
        </p:nvSpPr>
        <p:spPr>
          <a:xfrm>
            <a:off x="6492240" y="3154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Huancayo</a:t>
            </a:r>
            <a:endParaRPr lang="en-US" sz="1150"/>
          </a:p>
        </p:txBody>
      </p:sp>
      <p:sp>
        <p:nvSpPr>
          <p:cNvPr id="36" name="Text 34"/>
          <p:cNvSpPr/>
          <p:nvPr/>
        </p:nvSpPr>
        <p:spPr>
          <a:xfrm>
            <a:off x="9144000" y="31546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cli.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9966960" y="31546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-S/ 21,035</a:t>
            </a:r>
            <a:endParaRPr lang="en-US" sz="1150"/>
          </a:p>
        </p:txBody>
      </p:sp>
      <p:sp>
        <p:nvSpPr>
          <p:cNvPr id="38" name="Shape 36"/>
          <p:cNvSpPr/>
          <p:nvPr/>
        </p:nvSpPr>
        <p:spPr>
          <a:xfrm>
            <a:off x="6492240" y="3538728"/>
            <a:ext cx="5074920" cy="0"/>
          </a:xfrm>
          <a:prstGeom prst="line">
            <a:avLst/>
          </a:prstGeom>
          <a:noFill/>
          <a:ln w="9525">
            <a:solidFill>
              <a:srgbClr val="3A44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6492240" y="36118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GNB</a:t>
            </a:r>
            <a:endParaRPr lang="en-US" sz="1150"/>
          </a:p>
        </p:txBody>
      </p:sp>
      <p:sp>
        <p:nvSpPr>
          <p:cNvPr id="40" name="Text 38"/>
          <p:cNvSpPr/>
          <p:nvPr/>
        </p:nvSpPr>
        <p:spPr>
          <a:xfrm>
            <a:off x="9144000" y="36118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cli.</a:t>
            </a:r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9966960" y="36118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-S/ 26,974</a:t>
            </a:r>
            <a:endParaRPr lang="en-US" sz="1150"/>
          </a:p>
        </p:txBody>
      </p:sp>
      <p:sp>
        <p:nvSpPr>
          <p:cNvPr id="42" name="Shape 40"/>
          <p:cNvSpPr/>
          <p:nvPr/>
        </p:nvSpPr>
        <p:spPr>
          <a:xfrm>
            <a:off x="6492240" y="3995928"/>
            <a:ext cx="5074920" cy="0"/>
          </a:xfrm>
          <a:prstGeom prst="line">
            <a:avLst/>
          </a:prstGeom>
          <a:noFill/>
          <a:ln w="9525">
            <a:solidFill>
              <a:srgbClr val="3A44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6492240" y="40690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Financiera Confianza</a:t>
            </a:r>
            <a:endParaRPr lang="en-US" sz="1150"/>
          </a:p>
        </p:txBody>
      </p:sp>
      <p:sp>
        <p:nvSpPr>
          <p:cNvPr id="44" name="Text 42"/>
          <p:cNvSpPr/>
          <p:nvPr/>
        </p:nvSpPr>
        <p:spPr>
          <a:xfrm>
            <a:off x="9144000" y="40690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cli.</a:t>
            </a:r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9966960" y="40690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-S/ 82,986</a:t>
            </a:r>
            <a:endParaRPr lang="en-US" sz="1150"/>
          </a:p>
        </p:txBody>
      </p:sp>
      <p:sp>
        <p:nvSpPr>
          <p:cNvPr id="46" name="Shape 44"/>
          <p:cNvSpPr/>
          <p:nvPr/>
        </p:nvSpPr>
        <p:spPr>
          <a:xfrm>
            <a:off x="6492240" y="4453128"/>
            <a:ext cx="5074920" cy="0"/>
          </a:xfrm>
          <a:prstGeom prst="line">
            <a:avLst/>
          </a:prstGeom>
          <a:noFill/>
          <a:ln w="9525">
            <a:solidFill>
              <a:srgbClr val="3A44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7" name="Text 45"/>
          <p:cNvSpPr/>
          <p:nvPr/>
        </p:nvSpPr>
        <p:spPr>
          <a:xfrm>
            <a:off x="6492240" y="4526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Interbank (Big Four)</a:t>
            </a:r>
            <a:endParaRPr lang="en-US" sz="1150"/>
          </a:p>
        </p:txBody>
      </p:sp>
      <p:sp>
        <p:nvSpPr>
          <p:cNvPr id="48" name="Text 46"/>
          <p:cNvSpPr/>
          <p:nvPr/>
        </p:nvSpPr>
        <p:spPr>
          <a:xfrm>
            <a:off x="9144000" y="45262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cli.</a:t>
            </a:r>
            <a:endParaRPr lang="en-US" sz="1050"/>
          </a:p>
        </p:txBody>
      </p:sp>
      <p:sp>
        <p:nvSpPr>
          <p:cNvPr id="49" name="Text 47"/>
          <p:cNvSpPr/>
          <p:nvPr/>
        </p:nvSpPr>
        <p:spPr>
          <a:xfrm>
            <a:off x="9966960" y="452628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-S/ 13,982</a:t>
            </a:r>
            <a:endParaRPr lang="en-US" sz="1150"/>
          </a:p>
        </p:txBody>
      </p:sp>
      <p:sp>
        <p:nvSpPr>
          <p:cNvPr id="50" name="Text 48"/>
          <p:cNvSpPr/>
          <p:nvPr/>
        </p:nvSpPr>
        <p:spPr>
          <a:xfrm>
            <a:off x="6492240" y="5056632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 por cliente en 2 meses (jun–jul). "Otras entidades" agrupa 13 instituciones adicionales (S/1.99M en total, 81 clientes).</a:t>
            </a:r>
            <a:endParaRPr lang="en-US" sz="80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52" name="Text 50"/>
          <p:cNvSpPr/>
          <p:nvPr/>
        </p:nvSpPr>
        <p:spPr>
          <a:xfrm>
            <a:off x="68580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53" name="Text 51"/>
          <p:cNvSpPr/>
          <p:nvPr/>
        </p:nvSpPr>
        <p:spPr>
          <a:xfrm>
            <a:off x="117957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8A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3 · MOTIVACIÓN DE LA FUGA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bancos grandes se compite con vínculo; para el resto, solo con tasa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principal declarado para elegir la entidad de destino, por grupo (encuesta, 145 migraciones).</a:t>
            </a:r>
            <a:endParaRPr lang="en-US" sz="140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11680"/>
          <a:ext cx="70408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011680"/>
            <a:ext cx="3840480" cy="3931920"/>
          </a:xfrm>
          <a:prstGeom prst="roundRect">
            <a:avLst>
              <a:gd name="adj" fmla="val 1905"/>
            </a:avLst>
          </a:prstGeom>
          <a:solidFill>
            <a:srgbClr val="F2F4F8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046720" y="2514600"/>
            <a:ext cx="3383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hipótesis transaccional de junio ya lo anticipaba: los tramos Alto y Crítico (&gt;S/5,000) sugerían "migración de ahorro motivada por mejores tasas". La encuesta lo confirma con números.</a:t>
            </a:r>
            <a:endParaRPr lang="en-US" sz="1050"/>
          </a:p>
        </p:txBody>
      </p:sp>
      <p:sp>
        <p:nvSpPr>
          <p:cNvPr id="9" name="Shape 6"/>
          <p:cNvSpPr/>
          <p:nvPr/>
        </p:nvSpPr>
        <p:spPr>
          <a:xfrm>
            <a:off x="8046720" y="3657600"/>
            <a:ext cx="338328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8046720" y="38404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grandes: fuga "racional" — se puede competir con tasa + fidelización (sueldo, promociones, productos cruzados).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8046720" y="48006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8A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entidades: fuga de "precio puro" — casi sin vínculo previo (0% recibe su sueldo ahí), más difícil de retener y con mayor ticket promedio.</a:t>
            </a:r>
            <a:endParaRPr lang="en-US" sz="105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68580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14" name="Text 11"/>
          <p:cNvSpPr/>
          <p:nvPr/>
        </p:nvSpPr>
        <p:spPr>
          <a:xfrm>
            <a:off x="117957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CUALITATIVA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rostros de la fuga de ahorros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clientes de la encuesta transfirieron parte de sus ahorros en junio–julio. El destino cambia todo el patrón de riesgo.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143000" y="2542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GRANDES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1143000" y="2907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· BBVA · Scotiabank · Interbank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114300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1143000" y="38221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/>
          </a:p>
        </p:txBody>
      </p:sp>
      <p:sp>
        <p:nvSpPr>
          <p:cNvPr id="10" name="Text 8"/>
          <p:cNvSpPr/>
          <p:nvPr/>
        </p:nvSpPr>
        <p:spPr>
          <a:xfrm>
            <a:off x="2743200" y="3337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542 mil</a:t>
            </a:r>
            <a:endParaRPr lang="en-US" sz="2600"/>
          </a:p>
        </p:txBody>
      </p:sp>
      <p:sp>
        <p:nvSpPr>
          <p:cNvPr id="11" name="Text 9"/>
          <p:cNvSpPr/>
          <p:nvPr/>
        </p:nvSpPr>
        <p:spPr>
          <a:xfrm>
            <a:off x="274320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salió en 2 meses  ·  ticket prom. S/ 8,464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1143000" y="4297680"/>
            <a:ext cx="4572000" cy="0"/>
          </a:xfrm>
          <a:prstGeom prst="line">
            <a:avLst/>
          </a:prstGeom>
          <a:noFill/>
          <a:ln w="12700">
            <a:solidFill>
              <a:srgbClr val="3A44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143000" y="4462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SALIDA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1143000" y="47548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puntual en junio, se recupera parcialmente en julio (+S/4,146 promedio).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1143000" y="5596128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3D5A99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1143000" y="55961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acotada, competible</a:t>
            </a:r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92240" y="228600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812280" y="25420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ENTIDADES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6812280" y="29077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Cajas, financieras y similares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6812280" y="3337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6812280" y="38221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/>
          </a:p>
        </p:txBody>
      </p:sp>
      <p:sp>
        <p:nvSpPr>
          <p:cNvPr id="22" name="Text 20"/>
          <p:cNvSpPr/>
          <p:nvPr/>
        </p:nvSpPr>
        <p:spPr>
          <a:xfrm>
            <a:off x="8412480" y="3337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1.99 millones</a:t>
            </a:r>
            <a:endParaRPr lang="en-US" sz="2600"/>
          </a:p>
        </p:txBody>
      </p:sp>
      <p:sp>
        <p:nvSpPr>
          <p:cNvPr id="23" name="Text 21"/>
          <p:cNvSpPr/>
          <p:nvPr/>
        </p:nvSpPr>
        <p:spPr>
          <a:xfrm>
            <a:off x="841248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salió en 2 meses  ·  ticket prom. S/ 25,131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6812280" y="4297680"/>
            <a:ext cx="4572000" cy="0"/>
          </a:xfrm>
          <a:prstGeom prst="line">
            <a:avLst/>
          </a:prstGeom>
          <a:noFill/>
          <a:ln w="12700">
            <a:solidFill>
              <a:srgbClr val="3A448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6812280" y="4462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DE SALIDA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6812280" y="47548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perdiendo saldo en julio: fuga sostenida, no un evento aislado.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6812280" y="5596128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C9A15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6812280" y="55961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de largo plazo</a:t>
            </a:r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68580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117957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8A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ALERTA TEMPRANA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satisfacción ya anticipa la fuga, antes de que el cliente se vaya</a:t>
            </a:r>
            <a:endParaRPr lang="en-US" sz="24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satisfacción (escala 1–10) declarado por cada segmento de clientes encuestados.</a:t>
            </a:r>
            <a:endParaRPr lang="en-US" sz="140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2057400"/>
          <a:ext cx="66751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2057400"/>
            <a:ext cx="3977640" cy="3931920"/>
          </a:xfrm>
          <a:prstGeom prst="roundRect">
            <a:avLst>
              <a:gd name="adj" fmla="val 1860"/>
            </a:avLst>
          </a:prstGeom>
          <a:solidFill>
            <a:srgbClr val="F2F4F8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4"/>
          <p:cNvSpPr/>
          <p:nvPr/>
        </p:nvSpPr>
        <p:spPr>
          <a:xfrm>
            <a:off x="7909560" y="228600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 / 10</a:t>
            </a:r>
            <a:endParaRPr lang="en-US" sz="3000"/>
          </a:p>
        </p:txBody>
      </p:sp>
      <p:sp>
        <p:nvSpPr>
          <p:cNvPr id="8" name="Text 5"/>
          <p:cNvSpPr/>
          <p:nvPr/>
        </p:nvSpPr>
        <p:spPr>
          <a:xfrm>
            <a:off x="7909560" y="27889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 promedio general (227 respuestas)</a:t>
            </a:r>
            <a:endParaRPr lang="en-US" sz="1000"/>
          </a:p>
        </p:txBody>
      </p:sp>
      <p:sp>
        <p:nvSpPr>
          <p:cNvPr id="9" name="Shape 6"/>
          <p:cNvSpPr/>
          <p:nvPr/>
        </p:nvSpPr>
        <p:spPr>
          <a:xfrm>
            <a:off x="7909560" y="3291840"/>
            <a:ext cx="352044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7"/>
          <p:cNvSpPr/>
          <p:nvPr/>
        </p:nvSpPr>
        <p:spPr>
          <a:xfrm>
            <a:off x="7909560" y="347472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caída no es grande en puntaje (8.5 → 7.2), pero sí en comportamiento: cada punto menos se traduce en clientes que ya movieron dinero fuera del banco.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7909560" y="45720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>
                <a:solidFill>
                  <a:srgbClr val="8A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como alerta temprana: monitorear satisfacción por segmento antes de que se materialice la salida de fondos.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13" name="Text 10"/>
          <p:cNvSpPr/>
          <p:nvPr/>
        </p:nvSpPr>
        <p:spPr>
          <a:xfrm>
            <a:off x="68580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14" name="Text 11"/>
          <p:cNvSpPr/>
          <p:nvPr/>
        </p:nvSpPr>
        <p:spPr>
          <a:xfrm>
            <a:off x="117957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voz del cliente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de clientes encuestados que ya transfirieron parte de sus ahorros a otra entidad.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548640" y="2093976"/>
            <a:ext cx="11073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BANCOS GRANDES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/>
          <p:nvPr/>
        </p:nvSpPr>
        <p:spPr>
          <a:xfrm>
            <a:off x="685800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3D5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4000"/>
          </a:p>
        </p:txBody>
      </p:sp>
      <p:sp>
        <p:nvSpPr>
          <p:cNvPr id="8" name="Text 6"/>
          <p:cNvSpPr/>
          <p:nvPr/>
        </p:nvSpPr>
        <p:spPr>
          <a:xfrm>
            <a:off x="804672" y="2734056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no es rentable y hay mejores opciones en el mercado; evalúo tasas constantemente.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4325112" y="24231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462272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3D5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4000"/>
          </a:p>
        </p:txBody>
      </p:sp>
      <p:sp>
        <p:nvSpPr>
          <p:cNvPr id="11" name="Text 9"/>
          <p:cNvSpPr/>
          <p:nvPr/>
        </p:nvSpPr>
        <p:spPr>
          <a:xfrm>
            <a:off x="4581144" y="2734056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corto plazo van reduciendo la tasa; ya pienso trasladar todo mi fondo a otra entidad.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8101584" y="242316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8238744" y="2304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3D5A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4000"/>
          </a:p>
        </p:txBody>
      </p:sp>
      <p:sp>
        <p:nvSpPr>
          <p:cNvPr id="14" name="Text 12"/>
          <p:cNvSpPr/>
          <p:nvPr/>
        </p:nvSpPr>
        <p:spPr>
          <a:xfrm>
            <a:off x="8357616" y="2734056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por transacciones irregulares mi cuenta y me hace perder tiempo.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48640" y="4105656"/>
            <a:ext cx="11073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OTRAS ENTIDADES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85800" y="4315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C9A1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4000"/>
          </a:p>
        </p:txBody>
      </p:sp>
      <p:sp>
        <p:nvSpPr>
          <p:cNvPr id="18" name="Text 16"/>
          <p:cNvSpPr/>
          <p:nvPr/>
        </p:nvSpPr>
        <p:spPr>
          <a:xfrm>
            <a:off x="804672" y="4745736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tasa; su app es muy buena, pero bajaron la tasa y no me convenía.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325112" y="44348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4462272" y="4315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C9A1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4000"/>
          </a:p>
        </p:txBody>
      </p:sp>
      <p:sp>
        <p:nvSpPr>
          <p:cNvPr id="21" name="Text 19"/>
          <p:cNvSpPr/>
          <p:nvPr/>
        </p:nvSpPr>
        <p:spPr>
          <a:xfrm>
            <a:off x="4581144" y="4745736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Igualar la tasa de Ripley y no cobrar comisión por transferencias interbancarias.</a:t>
            </a:r>
            <a:endParaRPr lang="en-US" sz="1100"/>
          </a:p>
        </p:txBody>
      </p:sp>
      <p:sp>
        <p:nvSpPr>
          <p:cNvPr id="22" name="Shape 20"/>
          <p:cNvSpPr/>
          <p:nvPr/>
        </p:nvSpPr>
        <p:spPr>
          <a:xfrm>
            <a:off x="8101584" y="443484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8238744" y="4315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C9A1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4000"/>
          </a:p>
        </p:txBody>
      </p:sp>
      <p:sp>
        <p:nvSpPr>
          <p:cNvPr id="24" name="Text 22"/>
          <p:cNvSpPr/>
          <p:nvPr/>
        </p:nvSpPr>
        <p:spPr>
          <a:xfrm>
            <a:off x="8357616" y="4745736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tasa cuando va incrementando los ahorros, y también promociones o sorteos.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68580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117957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Conclusiones: lo que dicen los números y lo que confirma el cliente</a:t>
            </a:r>
            <a:endParaRPr lang="en-US" sz="230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2F4F8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822960" y="21671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822960" y="267919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explica casi toda la fuga de precio puro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822960" y="3264408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de quienes migran a cajas/financieras lo hace solo por tasa; en bancos grandes compite con sueldo (25%) y promociones (23%).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2F4F8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583680" y="21671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8A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/>
          </a:p>
        </p:txBody>
      </p:sp>
      <p:sp>
        <p:nvSpPr>
          <p:cNvPr id="10" name="Text 8"/>
          <p:cNvSpPr/>
          <p:nvPr/>
        </p:nvSpPr>
        <p:spPr>
          <a:xfrm>
            <a:off x="6583680" y="267919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monto perdido es mayor de lo que sugiere el conteo de clientes</a:t>
            </a:r>
            <a:endParaRPr lang="en-US" sz="1350"/>
          </a:p>
        </p:txBody>
      </p:sp>
      <p:sp>
        <p:nvSpPr>
          <p:cNvPr id="11" name="Text 9"/>
          <p:cNvSpPr/>
          <p:nvPr/>
        </p:nvSpPr>
        <p:spPr>
          <a:xfrm>
            <a:off x="6583680" y="3264408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clientes se fueron a otras entidades (vs. 64 a bancos grandes), pero se llevaron 3.7x más dinero: S/1.99M vs. S/542 mil.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2F4F8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822960" y="45445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3D5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/>
          </a:p>
        </p:txBody>
      </p:sp>
      <p:sp>
        <p:nvSpPr>
          <p:cNvPr id="14" name="Text 12"/>
          <p:cNvSpPr/>
          <p:nvPr/>
        </p:nvSpPr>
        <p:spPr>
          <a:xfrm>
            <a:off x="822960" y="505663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tickets altos (&gt;S/5,000) concentran el riesgo real</a:t>
            </a:r>
            <a:endParaRPr lang="en-US" sz="1350"/>
          </a:p>
        </p:txBody>
      </p:sp>
      <p:sp>
        <p:nvSpPr>
          <p:cNvPr id="15" name="Text 13"/>
          <p:cNvSpPr/>
          <p:nvPr/>
        </p:nvSpPr>
        <p:spPr>
          <a:xfrm>
            <a:off x="822960" y="5641848"/>
            <a:ext cx="489204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47% del </a:t>
            </a:r>
            <a:r>
              <a:rPr lang="en-US" sz="105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monto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transaccional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sale </a:t>
            </a:r>
            <a:r>
              <a:rPr lang="en-US" sz="105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solo 2.3% de las </a:t>
            </a:r>
            <a:r>
              <a:rPr lang="en-US" sz="105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operaciones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— coincide con el </a:t>
            </a:r>
            <a:r>
              <a:rPr lang="en-US" sz="105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segmento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targeteó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05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encuesta</a:t>
            </a:r>
            <a:r>
              <a:rPr lang="en-US" sz="105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09360" y="43434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2F4F8"/>
          </a:solidFill>
          <a:ln w="12700">
            <a:solidFill>
              <a:srgbClr val="E3E6E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583680" y="454456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8A6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/>
          </a:p>
        </p:txBody>
      </p:sp>
      <p:sp>
        <p:nvSpPr>
          <p:cNvPr id="18" name="Text 16"/>
          <p:cNvSpPr/>
          <p:nvPr/>
        </p:nvSpPr>
        <p:spPr>
          <a:xfrm>
            <a:off x="6583680" y="5056632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diferidas de alto ticket sugieren vaciado programado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6583680" y="5641848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medio S/3,621.61 con 1.9 operaciones por cliente en el canal Diferido: patrón a auditar, no un retiro puntual.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68580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117957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749808" y="2304288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749808" y="2880360"/>
            <a:ext cx="22951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 diferidas de alto ticket</a:t>
            </a:r>
            <a:endParaRPr lang="en-US" sz="1250"/>
          </a:p>
        </p:txBody>
      </p:sp>
      <p:sp>
        <p:nvSpPr>
          <p:cNvPr id="7" name="Text 5"/>
          <p:cNvSpPr/>
          <p:nvPr/>
        </p:nvSpPr>
        <p:spPr>
          <a:xfrm>
            <a:off x="749808" y="3886200"/>
            <a:ext cx="229514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el patrón de vaciado programado (tk. medio S/3,621.61) antes de que escale.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3447288" y="210312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3648456" y="2304288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3648456" y="2880360"/>
            <a:ext cx="22951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Retener con tasa + vínculo, no solo tasa</a:t>
            </a:r>
            <a:endParaRPr lang="en-US" sz="1250"/>
          </a:p>
        </p:txBody>
      </p:sp>
      <p:sp>
        <p:nvSpPr>
          <p:cNvPr id="11" name="Text 9"/>
          <p:cNvSpPr/>
          <p:nvPr/>
        </p:nvSpPr>
        <p:spPr>
          <a:xfrm>
            <a:off x="3648456" y="3886200"/>
            <a:ext cx="229514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diferenciadas: comparativa de tasa para el segmento "precio puro" y refuerzo de vínculo (sueldo, promociones) para el resto.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6345936" y="210312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6547104" y="2304288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6547104" y="2880360"/>
            <a:ext cx="22951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satisfacción como alerta temprana</a:t>
            </a:r>
            <a:endParaRPr lang="en-US" sz="1250"/>
          </a:p>
        </p:txBody>
      </p:sp>
      <p:sp>
        <p:nvSpPr>
          <p:cNvPr id="15" name="Text 13"/>
          <p:cNvSpPr/>
          <p:nvPr/>
        </p:nvSpPr>
        <p:spPr>
          <a:xfrm>
            <a:off x="6547104" y="3886200"/>
            <a:ext cx="229514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Trackear el puntaje por segmento; la caída de 8.5 a 7.2 precede la salida efectiva de fondos.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9244584" y="210312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232C6E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9445752" y="2304288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9445752" y="2880360"/>
            <a:ext cx="22951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Vigilar Efectibank y cajas de mayor ticket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9445752" y="3886200"/>
            <a:ext cx="2295144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BanBif, Caja Huancayo y GNB muestran los tickets promedio más altos fuera del Big Four.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documento fusiona el análisis transaccional de junio 2026 (App, Inmediatas + Diferidas) con la encuesta cualitativa a clientes de alto retiro. Preparado por Data Analytics Hub Pasivos — uso interno confidencial.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6858000" y="6537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117957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CONCENTRACIÓN TRANSACCIONAL VS. FINANCIERA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Pocas operaciones de alto valor concentran el mayor riesgo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tramo 'Menos de S/500' concentra el 60.9% de las operaciones (173,407 tx) pero solo el 8.0% del valor transferido (S/16.2M). A la inversa, los tramos Alto y Crítico agrupan apenas 2.3% de las operaciones (6,406 tx) pero el 47.5% del monto total (S/96.1M) — la relación inversa entre volumen transaccional e impacto financiero.</a:t>
            </a:r>
            <a:endParaRPr lang="en-US" sz="1250"/>
          </a:p>
        </p:txBody>
      </p:sp>
      <p:sp>
        <p:nvSpPr>
          <p:cNvPr id="5" name="Text 3"/>
          <p:cNvSpPr/>
          <p:nvPr/>
        </p:nvSpPr>
        <p:spPr>
          <a:xfrm>
            <a:off x="678028" y="21031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DE OPERACIONES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678028" y="235000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transacciones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7033108" y="210312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MONETARIO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7033108" y="2350008"/>
            <a:ext cx="4480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del monto transferido</a:t>
            </a:r>
            <a:endParaRPr lang="en-US" sz="850"/>
          </a:p>
        </p:txBody>
      </p:sp>
      <p:sp>
        <p:nvSpPr>
          <p:cNvPr id="9" name="Text 7"/>
          <p:cNvSpPr/>
          <p:nvPr/>
        </p:nvSpPr>
        <p:spPr>
          <a:xfrm>
            <a:off x="5158588" y="26060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</a:t>
            </a:r>
            <a:endParaRPr lang="en-US" sz="9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500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2278228" y="2777490"/>
            <a:ext cx="2880360" cy="3429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586588" y="26060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173,407 tx  |  60.9%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7033108" y="2777490"/>
            <a:ext cx="910786" cy="342900"/>
          </a:xfrm>
          <a:prstGeom prst="rect">
            <a:avLst/>
          </a:prstGeom>
          <a:solidFill>
            <a:srgbClr val="C7D0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8035333" y="26060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 |  S/ 16.2 MM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5158588" y="32918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9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 500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829554" y="3463290"/>
            <a:ext cx="1329033" cy="342900"/>
          </a:xfrm>
          <a:prstGeom prst="rect">
            <a:avLst/>
          </a:prstGeom>
          <a:solidFill>
            <a:srgbClr val="C7D0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2137914" y="3291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80,082 tx  |  28.1%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7033108" y="3463290"/>
            <a:ext cx="2254195" cy="342900"/>
          </a:xfrm>
          <a:prstGeom prst="rect">
            <a:avLst/>
          </a:prstGeom>
          <a:solidFill>
            <a:srgbClr val="C7D0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378742" y="3291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  |  S/ 40.0 MM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5158588" y="39776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Moderado</a:t>
            </a:r>
            <a:endParaRPr lang="en-US" sz="9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S/501–S/5,000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747108" y="4149090"/>
            <a:ext cx="411480" cy="342900"/>
          </a:xfrm>
          <a:prstGeom prst="rect">
            <a:avLst/>
          </a:prstGeom>
          <a:solidFill>
            <a:srgbClr val="C7D0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3055468" y="39776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24,875 tx  |  8.7%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7033108" y="4149090"/>
            <a:ext cx="2812051" cy="342900"/>
          </a:xfrm>
          <a:prstGeom prst="rect">
            <a:avLst/>
          </a:prstGeom>
          <a:solidFill>
            <a:srgbClr val="C7D0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9936599" y="39776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24.7%  |  S/ 50.0 MM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5158588" y="46634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S/5,001–S/20,000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5078183" y="4834890"/>
            <a:ext cx="80404" cy="342900"/>
          </a:xfrm>
          <a:prstGeom prst="rect">
            <a:avLst/>
          </a:prstGeom>
          <a:solidFill>
            <a:srgbClr val="C7D0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3386543" y="46634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4,780 tx  |  1.7%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7033108" y="4834890"/>
            <a:ext cx="2880360" cy="3429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10004908" y="46634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  |  S/ 51.1 MM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5158588" y="534924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5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S/20,000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5122012" y="5520690"/>
            <a:ext cx="36576" cy="342900"/>
          </a:xfrm>
          <a:prstGeom prst="rect">
            <a:avLst/>
          </a:prstGeom>
          <a:solidFill>
            <a:srgbClr val="C7D0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3430372" y="53492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1,626 tx  |  0.6%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7033108" y="5520690"/>
            <a:ext cx="2527431" cy="342900"/>
          </a:xfrm>
          <a:prstGeom prst="rect">
            <a:avLst/>
          </a:prstGeom>
          <a:solidFill>
            <a:srgbClr val="C7D0E3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/>
          <p:nvPr/>
        </p:nvSpPr>
        <p:spPr>
          <a:xfrm>
            <a:off x="9651978" y="53492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22.2%  |  S/ 45.0 MM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548640" y="6172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OPERACIONES: 284,770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7033108" y="6172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TOTAL: S/ 202.4 MM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80768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773591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ESTRATÉGICO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Four: BCP concentra el 57.0% de la fuga sistémica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los cuatro grandes bancos se analizaron S/171.4M en 268,907 operaciones de 32,332 clientes únicos. BCP lidera con 57.0% de participación, concentrando S/25.5M en el tramo Moderado y 15,216 clientes en 'Menos de S/500' — la mayor masa crítica de todo el análisis.</a:t>
            </a:r>
            <a:endParaRPr lang="en-US" sz="1200"/>
          </a:p>
        </p:txBody>
      </p:sp>
      <p:pic>
        <p:nvPicPr>
          <p:cNvPr id="5" name="Image 0" descr="img/matriz_bigf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2011680"/>
            <a:ext cx="8833104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80768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204163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ESTRATÉGICO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 de Mercado: Efectibank lidera con 21.7% de participación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grupo de competencia directa se analizaron S/17.1M en 6,959 operaciones de 2,178 clientes únicos. Efectibank lidera con 21.7% de participación, concentrando S/1.79M en el tramo Crítico — mientras Banco Falabella destaca por masa crítica: 578 clientes únicos en 'Menos de S/500', la mayor cifra de todo el grupo competencia.</a:t>
            </a:r>
            <a:endParaRPr lang="en-US" sz="1200"/>
          </a:p>
        </p:txBody>
      </p:sp>
      <p:pic>
        <p:nvPicPr>
          <p:cNvPr id="5" name="Image 0" descr="img/matriz_compet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31" y="2011680"/>
            <a:ext cx="10308240" cy="4343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7" name="Text 4"/>
          <p:cNvSpPr/>
          <p:nvPr/>
        </p:nvSpPr>
        <p:spPr>
          <a:xfrm>
            <a:off x="80768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8" name="Text 5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974699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C9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CUALITATIVO — EJES 2 Y 3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Ganan con tasa, no con mejor app ni servicio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motivo 'mejor tasa de interés' triplica al ecosistema y multiplica por diez a la usabilidad de la app como razón de salida. La banca tradicional captura 2 de cada 3 soles (66%); un bloque de tasa pura — cajas, financieras y fintech — se lleva el 22% comprando saldo directamente con TREA.</a:t>
            </a:r>
            <a:endParaRPr lang="en-US" sz="120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48640" y="2057400"/>
          <a:ext cx="11091672" cy="3072384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 destino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Sueldo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BCP (n=27)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Interbank (n=15)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BBVA (n=10)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Banbif (n=9)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B33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Cajas (n=17)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B33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Financieras (n=8)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B33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212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clientes de cada entidad que menciona cada motivo · χ² tipo de competidor × motivo tasa: p=0.0008</a:t>
            </a:r>
            <a:endParaRPr lang="en-US" sz="950"/>
          </a:p>
        </p:txBody>
      </p:sp>
      <p:sp>
        <p:nvSpPr>
          <p:cNvPr id="7" name="Shape 4"/>
          <p:cNvSpPr/>
          <p:nvPr/>
        </p:nvSpPr>
        <p:spPr>
          <a:xfrm>
            <a:off x="548640" y="5532120"/>
            <a:ext cx="11091672" cy="777240"/>
          </a:xfrm>
          <a:prstGeom prst="rect">
            <a:avLst/>
          </a:prstGeom>
          <a:solidFill>
            <a:srgbClr val="F2F4F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8" name="Text 5"/>
          <p:cNvSpPr/>
          <p:nvPr/>
        </p:nvSpPr>
        <p:spPr>
          <a:xfrm>
            <a:off x="822960" y="564184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y Banbif ganan por tasa en el 100% de los casos; BCP gana por ecosistema (solo 37% tasa). La hipótesis 'perdemos por experiencia digital' queda descartada con data.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PICHINCHA  |  Data Analytics Hub Pasivos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80768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1146017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86232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14</Notes>
  <HiddenSlides>4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2026-08-04T21:42:26Z</dcterms:created>
  <dcterms:modified xsi:type="dcterms:W3CDTF">2026-08-10T22:32:16Z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17a5ba-086b-43a5-ac20-78afcb57e39e_Enabled">
    <vt:lpwstr>true</vt:lpwstr>
  </property>
  <property fmtid="{D5CDD505-2E9C-101B-9397-08002B2CF9AE}" pid="3" name="MSIP_Label_b117a5ba-086b-43a5-ac20-78afcb57e39e_SetDate">
    <vt:lpwstr>2026-08-04T21:49:14Z</vt:lpwstr>
  </property>
  <property fmtid="{D5CDD505-2E9C-101B-9397-08002B2CF9AE}" pid="4" name="MSIP_Label_b117a5ba-086b-43a5-ac20-78afcb57e39e_Method">
    <vt:lpwstr>Standard</vt:lpwstr>
  </property>
  <property fmtid="{D5CDD505-2E9C-101B-9397-08002B2CF9AE}" pid="5" name="MSIP_Label_b117a5ba-086b-43a5-ac20-78afcb57e39e_Name">
    <vt:lpwstr>Información Interna_Producción</vt:lpwstr>
  </property>
  <property fmtid="{D5CDD505-2E9C-101B-9397-08002B2CF9AE}" pid="6" name="MSIP_Label_b117a5ba-086b-43a5-ac20-78afcb57e39e_SiteId">
    <vt:lpwstr>517e0e98-94c4-4cdc-aedf-9a5d64ccdfb2</vt:lpwstr>
  </property>
  <property fmtid="{D5CDD505-2E9C-101B-9397-08002B2CF9AE}" pid="7" name="MSIP_Label_b117a5ba-086b-43a5-ac20-78afcb57e39e_ActionId">
    <vt:lpwstr>108a96db-20bc-4eed-9dab-1cc86c7e96aa</vt:lpwstr>
  </property>
  <property fmtid="{D5CDD505-2E9C-101B-9397-08002B2CF9AE}" pid="8" name="MSIP_Label_b117a5ba-086b-43a5-ac20-78afcb57e39e_ContentBits">
    <vt:lpwstr>2</vt:lpwstr>
  </property>
  <property fmtid="{D5CDD505-2E9C-101B-9397-08002B2CF9AE}" pid="9" name="MSIP_Label_b117a5ba-086b-43a5-ac20-78afcb57e39e_Tag">
    <vt:lpwstr>10, 3, 0, 2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Información Interna</vt:lpwstr>
  </property>
</Properties>
</file>