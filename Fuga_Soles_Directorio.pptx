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l Ochoa" userId="S::saul.ochoa@pichincha.pe::ea295e30-9476-4161-be30-84961aa327ee" providerId="AD" clId="Web-{20798C0E-0B4B-69F2-CC11-29B878A7720F}"/>
    <pc:docChg chg="mod modMainMaster">
      <pc:chgData name="Saul Ochoa" userId="S::saul.ochoa@pichincha.pe::ea295e30-9476-4161-be30-84961aa327ee" providerId="AD" clId="Web-{20798C0E-0B4B-69F2-CC11-29B878A7720F}" dt="2026-08-04T20:54:48.743" v="1" actId="33475"/>
      <pc:docMkLst>
        <pc:docMk/>
      </pc:docMkLst>
      <pc:sldMasterChg chg="addSp">
        <pc:chgData name="Saul Ochoa" userId="S::saul.ochoa@pichincha.pe::ea295e30-9476-4161-be30-84961aa327ee" providerId="AD" clId="Web-{20798C0E-0B4B-69F2-CC11-29B878A7720F}" dt="2026-08-04T20:54:48.727" v="0" actId="33475"/>
        <pc:sldMasterMkLst>
          <pc:docMk/>
          <pc:sldMasterMk cId="0" sldId="2147483648"/>
        </pc:sldMasterMkLst>
        <pc:spChg chg="add">
          <ac:chgData name="Saul Ochoa" userId="S::saul.ochoa@pichincha.pe::ea295e30-9476-4161-be30-84961aa327ee" providerId="AD" clId="Web-{20798C0E-0B4B-69F2-CC11-29B878A7720F}" dt="2026-08-04T20:54:48.727" v="0" actId="33475"/>
          <ac:spMkLst>
            <pc:docMk/>
            <pc:sldMasterMk cId="0" sldId="2147483648"/>
            <ac:spMk id="3" creationId="{5BC26B5C-6295-F24B-8A9A-C5416F2F3ACE}"/>
          </ac:spMkLst>
        </pc:sp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72787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72787A"/>
                </a:solidFill>
                <a:latin typeface="Arial"/>
              </a:rPr>
              <a:t>Motivo principal para utilizar los ahorros (n=194; excluye 'otros' de baja frecuencia)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rgbClr val="72787A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278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34-4445-82B4-7EF82B8114FC}"/>
              </c:ext>
            </c:extLst>
          </c:dPt>
          <c:dPt>
            <c:idx val="1"/>
            <c:invertIfNegative val="0"/>
            <c:bubble3D val="0"/>
            <c:spPr>
              <a:solidFill>
                <a:srgbClr val="7278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34-4445-82B4-7EF82B8114FC}"/>
              </c:ext>
            </c:extLst>
          </c:dPt>
          <c:dPt>
            <c:idx val="2"/>
            <c:invertIfNegative val="0"/>
            <c:bubble3D val="0"/>
            <c:spPr>
              <a:solidFill>
                <a:srgbClr val="D64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34-4445-82B4-7EF82B8114FC}"/>
              </c:ext>
            </c:extLst>
          </c:dPt>
          <c:dPt>
            <c:idx val="3"/>
            <c:invertIfNegative val="0"/>
            <c:bubble3D val="0"/>
            <c:spPr>
              <a:solidFill>
                <a:srgbClr val="D64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34-4445-82B4-7EF82B8114FC}"/>
              </c:ext>
            </c:extLst>
          </c:dPt>
          <c:dPt>
            <c:idx val="4"/>
            <c:invertIfNegative val="0"/>
            <c:bubble3D val="0"/>
            <c:spPr>
              <a:solidFill>
                <a:srgbClr val="0F2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234-4445-82B4-7EF82B8114FC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Gasto inesperado</c:v>
                </c:pt>
                <c:pt idx="1">
                  <c:v>Quería pagar o reducir deuda</c:v>
                </c:pt>
                <c:pt idx="2">
                  <c:v>Alternativa de ahorro/inversión más conveniente</c:v>
                </c:pt>
                <c:pt idx="3">
                  <c:v>Buscaba una mejor tasa de interés</c:v>
                </c:pt>
                <c:pt idx="4">
                  <c:v>Había planificado utilizar ese dinero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28</c:v>
                </c:pt>
                <c:pt idx="2">
                  <c:v>32</c:v>
                </c:pt>
                <c:pt idx="3">
                  <c:v>38</c:v>
                </c:pt>
                <c:pt idx="4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234-4445-82B4-7EF82B8114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72787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72787A"/>
                </a:solidFill>
                <a:latin typeface="Arial"/>
              </a:rPr>
              <a:t>% de clientes que transfirió a otra entidad, por segmento de satisfacción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que transfirió</c:v>
                </c:pt>
              </c:strCache>
            </c:strRef>
          </c:tx>
          <c:spPr>
            <a:solidFill>
              <a:srgbClr val="D6454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382-4794-8A7B-69CA3DEC3DA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382-4794-8A7B-69CA3DEC3DAA}"/>
              </c:ext>
            </c:extLst>
          </c:dPt>
          <c:dPt>
            <c:idx val="2"/>
            <c:invertIfNegative val="0"/>
            <c:bubble3D val="0"/>
            <c:spPr>
              <a:solidFill>
                <a:srgbClr val="0F2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382-4794-8A7B-69CA3DEC3DA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Detractor (1-6)</c:v>
                </c:pt>
                <c:pt idx="1">
                  <c:v>Pasivo (7-8)</c:v>
                </c:pt>
                <c:pt idx="2">
                  <c:v>Promotor (9-10)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76.7</c:v>
                </c:pt>
                <c:pt idx="1">
                  <c:v>77.5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382-4794-8A7B-69CA3DEC3D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72787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72787A"/>
                </a:solidFill>
                <a:latin typeface="Arial"/>
              </a:rPr>
              <a:t>Entidad destino principal declarada (n=125 fugados con destino identificado)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rgbClr val="FFDD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96-4255-86C5-83006BECD34E}"/>
              </c:ext>
            </c:extLst>
          </c:dPt>
          <c:dPt>
            <c:idx val="1"/>
            <c:invertIfNegative val="0"/>
            <c:bubble3D val="0"/>
            <c:spPr>
              <a:solidFill>
                <a:srgbClr val="0F2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96-4255-86C5-83006BECD34E}"/>
              </c:ext>
            </c:extLst>
          </c:dPt>
          <c:dPt>
            <c:idx val="2"/>
            <c:invertIfNegative val="0"/>
            <c:bubble3D val="0"/>
            <c:spPr>
              <a:solidFill>
                <a:srgbClr val="0F2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96-4255-86C5-83006BECD34E}"/>
              </c:ext>
            </c:extLst>
          </c:dPt>
          <c:dPt>
            <c:idx val="3"/>
            <c:invertIfNegative val="0"/>
            <c:bubble3D val="0"/>
            <c:spPr>
              <a:solidFill>
                <a:srgbClr val="D64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96-4255-86C5-83006BECD34E}"/>
              </c:ext>
            </c:extLst>
          </c:dPt>
          <c:dPt>
            <c:idx val="4"/>
            <c:invertIfNegative val="0"/>
            <c:bubble3D val="0"/>
            <c:spPr>
              <a:solidFill>
                <a:srgbClr val="D64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96-4255-86C5-83006BECD34E}"/>
              </c:ext>
            </c:extLst>
          </c:dPt>
          <c:dPt>
            <c:idx val="5"/>
            <c:invertIfNegative val="0"/>
            <c:bubble3D val="0"/>
            <c:spPr>
              <a:solidFill>
                <a:srgbClr val="D64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996-4255-86C5-83006BECD34E}"/>
              </c:ext>
            </c:extLst>
          </c:dPt>
          <c:dPt>
            <c:idx val="6"/>
            <c:invertIfNegative val="0"/>
            <c:bubble3D val="0"/>
            <c:spPr>
              <a:solidFill>
                <a:srgbClr val="0F2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996-4255-86C5-83006BECD34E}"/>
              </c:ext>
            </c:extLst>
          </c:dPt>
          <c:dPt>
            <c:idx val="7"/>
            <c:invertIfNegative val="0"/>
            <c:bubble3D val="0"/>
            <c:spPr>
              <a:solidFill>
                <a:srgbClr val="D64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996-4255-86C5-83006BECD34E}"/>
              </c:ext>
            </c:extLst>
          </c:dPt>
          <c:dPt>
            <c:idx val="8"/>
            <c:invertIfNegative val="0"/>
            <c:bubble3D val="0"/>
            <c:spPr>
              <a:solidFill>
                <a:srgbClr val="0F2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996-4255-86C5-83006BECD34E}"/>
              </c:ext>
            </c:extLst>
          </c:dPt>
          <c:dPt>
            <c:idx val="9"/>
            <c:invertIfNegative val="0"/>
            <c:bubble3D val="0"/>
            <c:spPr>
              <a:solidFill>
                <a:srgbClr val="B8BE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6996-4255-86C5-83006BECD34E}"/>
              </c:ext>
            </c:extLst>
          </c:dPt>
          <c:dPt>
            <c:idx val="10"/>
            <c:invertIfNegative val="0"/>
            <c:bubble3D val="0"/>
            <c:spPr>
              <a:solidFill>
                <a:srgbClr val="0F2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6996-4255-86C5-83006BECD34E}"/>
              </c:ext>
            </c:extLst>
          </c:dPt>
          <c:dPt>
            <c:idx val="11"/>
            <c:invertIfNegative val="0"/>
            <c:bubble3D val="0"/>
            <c:spPr>
              <a:solidFill>
                <a:srgbClr val="0F2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6996-4255-86C5-83006BECD34E}"/>
              </c:ext>
            </c:extLst>
          </c:dPt>
          <c:dPt>
            <c:idx val="12"/>
            <c:invertIfNegative val="0"/>
            <c:bubble3D val="0"/>
            <c:spPr>
              <a:solidFill>
                <a:srgbClr val="0F2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6996-4255-86C5-83006BECD34E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Inversión / Bolsa / AFP</c:v>
                </c:pt>
                <c:pt idx="1">
                  <c:v>Banco Falabella</c:v>
                </c:pt>
                <c:pt idx="2">
                  <c:v>Scotiabank</c:v>
                </c:pt>
                <c:pt idx="3">
                  <c:v>Fintech / Billeteras</c:v>
                </c:pt>
                <c:pt idx="4">
                  <c:v>Financieras</c:v>
                </c:pt>
                <c:pt idx="5">
                  <c:v>Caja Huancayo</c:v>
                </c:pt>
                <c:pt idx="6">
                  <c:v>Banbif</c:v>
                </c:pt>
                <c:pt idx="7">
                  <c:v>Otras Cajas</c:v>
                </c:pt>
                <c:pt idx="8">
                  <c:v>BBVA</c:v>
                </c:pt>
                <c:pt idx="9">
                  <c:v>Otro / No especifica</c:v>
                </c:pt>
                <c:pt idx="10">
                  <c:v>Interbank</c:v>
                </c:pt>
                <c:pt idx="11">
                  <c:v>Otros bancos</c:v>
                </c:pt>
                <c:pt idx="12">
                  <c:v>BCP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8</c:v>
                </c:pt>
                <c:pt idx="5">
                  <c:v>8</c:v>
                </c:pt>
                <c:pt idx="6">
                  <c:v>9</c:v>
                </c:pt>
                <c:pt idx="7">
                  <c:v>9</c:v>
                </c:pt>
                <c:pt idx="8">
                  <c:v>10</c:v>
                </c:pt>
                <c:pt idx="9">
                  <c:v>12</c:v>
                </c:pt>
                <c:pt idx="10">
                  <c:v>15</c:v>
                </c:pt>
                <c:pt idx="11">
                  <c:v>17</c:v>
                </c:pt>
                <c:pt idx="12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6996-4255-86C5-83006BECD3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72787A"/>
                </a:solidFill>
                <a:latin typeface="Arial"/>
              </a:defRPr>
            </a:pPr>
            <a:r>
              <a:rPr sz="1050" b="0" i="0" u="none" strike="noStrike">
                <a:solidFill>
                  <a:srgbClr val="72787A"/>
                </a:solidFill>
                <a:latin typeface="Arial"/>
              </a:rPr>
              <a:t>Motivo de elección de la entidad destino (multi-selección, base fugados)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Menciones</c:v>
                </c:pt>
              </c:strCache>
            </c:strRef>
          </c:tx>
          <c:spPr>
            <a:solidFill>
              <a:srgbClr val="72787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A6-4E5A-8E1A-E9E86DFEA86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AA6-4E5A-8E1A-E9E86DFEA86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AA6-4E5A-8E1A-E9E86DFEA86C}"/>
              </c:ext>
            </c:extLst>
          </c:dPt>
          <c:dPt>
            <c:idx val="3"/>
            <c:invertIfNegative val="0"/>
            <c:bubble3D val="0"/>
            <c:spPr>
              <a:solidFill>
                <a:srgbClr val="0F2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AA6-4E5A-8E1A-E9E86DFEA86C}"/>
              </c:ext>
            </c:extLst>
          </c:dPt>
          <c:dPt>
            <c:idx val="4"/>
            <c:invertIfNegative val="0"/>
            <c:bubble3D val="0"/>
            <c:spPr>
              <a:solidFill>
                <a:srgbClr val="0F2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AA6-4E5A-8E1A-E9E86DFEA86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EAA6-4E5A-8E1A-E9E86DFEA86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EAA6-4E5A-8E1A-E9E86DFEA86C}"/>
              </c:ext>
            </c:extLst>
          </c:dPt>
          <c:dPt>
            <c:idx val="7"/>
            <c:invertIfNegative val="0"/>
            <c:bubble3D val="0"/>
            <c:spPr>
              <a:solidFill>
                <a:srgbClr val="D64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AA6-4E5A-8E1A-E9E86DFEA86C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Mayor confianza</c:v>
                </c:pt>
                <c:pt idx="1">
                  <c:v>Recomendación</c:v>
                </c:pt>
                <c:pt idx="2">
                  <c:v>App más fácil de usar</c:v>
                </c:pt>
                <c:pt idx="3">
                  <c:v>Recibe su sueldo ahí</c:v>
                </c:pt>
                <c:pt idx="4">
                  <c:v>Ya tenía productos ahí</c:v>
                </c:pt>
                <c:pt idx="5">
                  <c:v>Facilidad para disponer del dinero</c:v>
                </c:pt>
                <c:pt idx="6">
                  <c:v>Promociones / beneficios</c:v>
                </c:pt>
                <c:pt idx="7">
                  <c:v>Mejor tasa de interés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12</c:v>
                </c:pt>
                <c:pt idx="4">
                  <c:v>15</c:v>
                </c:pt>
                <c:pt idx="5">
                  <c:v>16</c:v>
                </c:pt>
                <c:pt idx="6">
                  <c:v>24</c:v>
                </c:pt>
                <c:pt idx="7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AA6-4E5A-8E1A-E9E86DFEA8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72787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72787A"/>
                </a:solidFill>
                <a:latin typeface="Arial"/>
              </a:rPr>
              <a:t>Palancas para volver a incrementar ahorros (% de menciones, n=194)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menciones</c:v>
                </c:pt>
              </c:strCache>
            </c:strRef>
          </c:tx>
          <c:spPr>
            <a:solidFill>
              <a:srgbClr val="72787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A63-4752-B034-5894302C69B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A63-4752-B034-5894302C69B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A63-4752-B034-5894302C69B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A63-4752-B034-5894302C69B9}"/>
              </c:ext>
            </c:extLst>
          </c:dPt>
          <c:dPt>
            <c:idx val="4"/>
            <c:invertIfNegative val="0"/>
            <c:bubble3D val="0"/>
            <c:spPr>
              <a:solidFill>
                <a:srgbClr val="0F26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A63-4752-B034-5894302C69B9}"/>
              </c:ext>
            </c:extLst>
          </c:dPt>
          <c:dPt>
            <c:idx val="5"/>
            <c:invertIfNegative val="0"/>
            <c:bubble3D val="0"/>
            <c:spPr>
              <a:solidFill>
                <a:srgbClr val="FFDD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A63-4752-B034-5894302C69B9}"/>
              </c:ext>
            </c:extLst>
          </c:dPt>
          <c:dPt>
            <c:idx val="6"/>
            <c:invertIfNegative val="0"/>
            <c:bubble3D val="0"/>
            <c:spPr>
              <a:solidFill>
                <a:srgbClr val="FFDD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A63-4752-B034-5894302C69B9}"/>
              </c:ext>
            </c:extLst>
          </c:dPt>
          <c:dPt>
            <c:idx val="7"/>
            <c:invertIfNegative val="0"/>
            <c:bubble3D val="0"/>
            <c:spPr>
              <a:solidFill>
                <a:srgbClr val="D64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A63-4752-B034-5894302C69B9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Mejoras en la aplicación</c:v>
                </c:pt>
                <c:pt idx="1">
                  <c:v>Información personalizada</c:v>
                </c:pt>
                <c:pt idx="2">
                  <c:v>Mayor facilidad de operación</c:v>
                </c:pt>
                <c:pt idx="3">
                  <c:v>Promociones o sorteos</c:v>
                </c:pt>
                <c:pt idx="4">
                  <c:v>No pagar comisiones</c:v>
                </c:pt>
                <c:pt idx="5">
                  <c:v>Beneficios por mantener saldo</c:v>
                </c:pt>
                <c:pt idx="6">
                  <c:v>Beneficios por incrementar ahorros</c:v>
                </c:pt>
                <c:pt idx="7">
                  <c:v>Una mejor tasa de interés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12</c:v>
                </c:pt>
                <c:pt idx="2">
                  <c:v>13</c:v>
                </c:pt>
                <c:pt idx="3">
                  <c:v>20</c:v>
                </c:pt>
                <c:pt idx="4">
                  <c:v>36</c:v>
                </c:pt>
                <c:pt idx="5">
                  <c:v>37</c:v>
                </c:pt>
                <c:pt idx="6">
                  <c:v>43</c:v>
                </c:pt>
                <c:pt idx="7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A63-4752-B034-5894302C69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2603C-4D23-4950-A52A-113ED42F6D6C}" type="datetimeFigureOut">
              <a:t>04/08/2026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7AB3C-8757-49AE-81E4-C39D756CF5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44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C26B5C-6295-F24B-8A9A-C5416F2F3AC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63375" y="6672580"/>
            <a:ext cx="8858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Información Interna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6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DE PASIVOS  ·  ENCUESTA DE FUGA DE AHORROS EN SOLES  ·  AGOSTO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fuga de soles no es una crisis de servicio:</a:t>
            </a:r>
            <a:endParaRPr lang="en-US" sz="36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arbitraje racional de tasa — y es reversible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cada 3 clientes encuestados transfirieron fondos a otra entidad. Lo hicieron estando satisfechos, buscando mejor rendimiento. El 92% de los fugados declara que volvería con una tasa competitiva: el propio cliente dictó el plan.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897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194 clientes · corte 30-jul-2026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el “por qué” de la data transaccional de egresos de junio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fuga es masiva, racional y recuperable: dos tercios de la base transfirió fondos fuera, un tercio de la salida es arbitraje puro de tasa, y nueve de cada diez fugados se declaran recuperables vía pricing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66160" cy="228600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64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5292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transfirió ahorros a otra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financiera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547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de 187 respuestas válidas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66160" cy="228600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9" name="Text 7"/>
          <p:cNvSpPr/>
          <p:nvPr/>
        </p:nvSpPr>
        <p:spPr>
          <a:xfrm>
            <a:off x="4553712" y="1920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53712" y="285292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salida es arbitraje puro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(mejor tasa o alternativa)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3547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resto es gasto planificado: no retenible vía pricing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47304" y="1783080"/>
            <a:ext cx="3566160" cy="228600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13" name="Text 11"/>
          <p:cNvSpPr/>
          <p:nvPr/>
        </p:nvSpPr>
        <p:spPr>
          <a:xfrm>
            <a:off x="8375904" y="1920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375904" y="285292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fugados volvería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una mejor tasa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75904" y="3547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de 126 · el saldo es elástico al pricing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4572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PASÓ (junio, S/)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" y="486460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Egreso alto por transferencias diferidas desde cuentas premium, vía canales digitales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23360" y="4983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325112" y="4434840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572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PASÓ (encuesta)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26280" y="486460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Arbitraje de tasa de clientes satisfechos: el competidor gana por pricing, no por app ni servicio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45552" y="4983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147304" y="4434840"/>
            <a:ext cx="3566160" cy="1600200"/>
          </a:xfrm>
          <a:prstGeom prst="rect">
            <a:avLst/>
          </a:prstGeom>
          <a:solidFill>
            <a:srgbClr val="FFF9D6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4572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HACER (90 días)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48472" y="486460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escalonado por saldo + trigger CRM pre-fuga + campaña de recuperación al segmento arbitrador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Encuesta de ahorro en soles (n=194, corte 30-jul-2026) · Hub de Pasivos. Complementa la data transaccional de egresos de junio.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PUENTE CON JUNIO · MOTIVACIONES DE SALIDA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 mostró el monto; la encuesta explica la decisión: el 36% de la salida es arbitraje financiero — dinero que se fue buscando rendimiento, no cubriendo necesidades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691640"/>
          <a:ext cx="71323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60350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Arbitraje (recuperable vía pricing)   ■ Planificado / necesidad (no recuperable)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863840" y="1691640"/>
            <a:ext cx="3822192" cy="434340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7" name="Text 4"/>
          <p:cNvSpPr/>
          <p:nvPr/>
        </p:nvSpPr>
        <p:spPr>
          <a:xfrm>
            <a:off x="8065008" y="1837944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QUÉ CON ESTO?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65008" y="2148840"/>
            <a:ext cx="341985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de 194 clientes (36%) usó sus ahorros para moverlos a una mejor tasa o alternativa: coincide con el patrón de transferencias diferidas de alto ticket de junio.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bloque de gasto planificado (compra, deuda, emergencia) no es retenible con pricing: debe excluirse del caso de negocio para no inflar el upside.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Dimensionamiento correcto del saldo recuperable: egreso de junio × % arbitraje — validar con data transaccional si el ticket del arbitrador es mayor al promedio.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Encuesta de ahorro en soles (n=194, corte 30-jul-2026) · Hub de Pasivos. Complementa la data transaccional de egresos de junio.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1 · ¿POR QUÉ SE VAN?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“satisfecho” fuga igual que el detractor: la lealtad emocional no compite contra el diferencial de tasa — solo el promotor 9-10 muestra retención real, y aun así la mitad arbitra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68580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897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Satisfacción media:  </a:t>
            </a:r>
            <a:r>
              <a:rPr lang="en-US" sz="1500" b="1" dirty="0">
                <a:solidFill>
                  <a:srgbClr val="D64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r>
              <a:rPr lang="en-US" sz="11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fugados  vs  </a:t>
            </a:r>
            <a:r>
              <a:rPr lang="en-US" sz="15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</a:t>
            </a:r>
            <a:r>
              <a:rPr lang="en-US" sz="11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fugados  (escala 1-10; Mann-Whitney p=0.0006, magnitud pequeña)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863840" y="1783080"/>
            <a:ext cx="3822192" cy="434340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7" name="Text 4"/>
          <p:cNvSpPr/>
          <p:nvPr/>
        </p:nvSpPr>
        <p:spPr>
          <a:xfrm>
            <a:off x="8065008" y="1929384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QUÉ CON ESTO?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65008" y="2240280"/>
            <a:ext cx="341985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Pasivos (7-8) fugan al 78%, estadísticamente igual que los Detractores (77%): el NPS es ciego a esta fuga y no sirve como alerta temprana.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Matiz clave: el fugado es un cliente MÁS digital (valora la app +17 pp). No se va por mala app — su perfil digital le abarata el costo de cambio.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Implicancia: los modelos de churn deben usar señales transaccionales (transferencias diferidas, consultas de tasa), no encuestas de satisfacción.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Encuesta de ahorro en soles (n=194, corte 30-jul-2026) · Hub de Pasivos. Complementa la data transaccional de egresos de junio.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2 · ¿A DÓNDE SE VAN LOS FONDOS?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fuga tiene dos frentes que exigen estrategias distintas: la banca grande captura 2 de cada 3 soles por ecosistema, y un bloque de cajas, financieras y fintech (22%) compra saldo con tasa pura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71323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60350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Banca tradicional (66%)   ■ Tasa pura: cajas, financieras, fintech (22%)   ■ Inversión/Bolsa (2%)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863840" y="1783080"/>
            <a:ext cx="3822192" cy="434340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7" name="Text 4"/>
          <p:cNvSpPr/>
          <p:nvPr/>
        </p:nvSpPr>
        <p:spPr>
          <a:xfrm>
            <a:off x="8065008" y="1929384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QUÉ CON ESTO?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65008" y="2240280"/>
            <a:ext cx="341985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BCP lidera el ranking (22% de la fuga) pero gana por sueldo y productos previos: esa fuga es estructural y de recuperación cara.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bloque de tasa pura gana por tasa en el 96% de sus casos: es el frente donde el diferencial de TREA compra saldo directamente — ahí está el saldo elástico.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 temprana a monitorear: salidas hacia bolsa/APV y fintech anticipan la sofisticación del ahorrista frente a nuevos entrantes digitales.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Encuesta de ahorro en soles (n=194, corte 30-jul-2026) · Hub de Pasivos. Complementa la data transaccional de egresos de junio.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3 · ¿POR QUÉ EL EGRESO ES TAN ALTO?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competidor no gana con mejor app ni mejor servicio: gana con tasa — el motivo “mejor tasa de interés” triplica al ecosistema y multiplica por diez a la usabilidad de la aplicación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60350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812280" y="18288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clientes de cada entidad que menciona cada motivo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2121408"/>
          <a:ext cx="4892040" cy="914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Entidad destino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Sueldo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BCP (n=27)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Interbank (n=15)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BBVA (n=10)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Banbif (n=9)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1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Cajas (n=17)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1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Financieras (n=8)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1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12280" y="4892040"/>
            <a:ext cx="4892040" cy="141732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8" name="Text 4"/>
          <p:cNvSpPr/>
          <p:nvPr/>
        </p:nvSpPr>
        <p:spPr>
          <a:xfrm>
            <a:off x="7013448" y="5038344"/>
            <a:ext cx="4489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QUÉ CON ESTO?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013448" y="5349240"/>
            <a:ext cx="4489704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Cajas y Banbif ganan por tasa en el 100% de los casos; BCP gana por ecosistema (solo 37% tasa). La hipótesis “perdemos por experiencia digital” queda descartada con data.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Encuesta de ahorro en soles (n=194, corte 30-jul-2026) · Hub de Pasivos. Complementa la data transaccional de egresos de junio. χ² tipo de competidor × motivo tasa: p=0.0008.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4 · ESTRATEGIA DE RETENCIÓN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bundle de retorno lo dictó el propio cliente: tasa competitiva + beneficios escalonados por saldo — las mejoras de app son higiénicas, no palancas; y el 92% de los fugados se declara recuperable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71323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60350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Palanca dominante   ■ Bundle complementario (beneficio ligado a saldo)   ■ Higiénicos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863840" y="1783080"/>
            <a:ext cx="3822192" cy="434340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7" name="Text 4"/>
          <p:cNvSpPr/>
          <p:nvPr/>
        </p:nvSpPr>
        <p:spPr>
          <a:xfrm>
            <a:off x="8065008" y="1929384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QUÉ CON ESTO?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65008" y="2240280"/>
            <a:ext cx="341985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co-ocurrencia más frecuente es “mejor tasa + beneficio por incrementar saldo”: el diseño correcto premia el incremento, no el stock — protege margen (misma lógica del umbral de la cuenta preferencial).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69% de los verbatims abiertos menciona la tasa espontáneamente: la voz del cliente y la data estructurada cuentan la misma historia.</a:t>
            </a:r>
            <a:endParaRPr lang="en-US" sz="1150" dirty="0"/>
          </a:p>
          <a:p>
            <a:pPr marL="127000" indent="-1270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de 126 fugados (92%) volvería con mejor tasa: la fuga no es emocional — es reversible con pricing dirigido y medible contra grupo de control.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Encuesta de ahorro en soles (n=194, corte 30-jul-2026) · Hub de Pasivos. Complementa la data transaccional de egresos de junio.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Y ASK AL DIRECTORIO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movimientos en 90 días — pricing segmentado, trigger de retención pre-fuga y campaña de recuperación — con el saldo elástico recuperado como métrica única de éxito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9184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DÍAS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1722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DÍAS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0525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DÍAS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2606040" cy="114300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402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PRICING SEGMENTADO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1488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2221992"/>
            <a:ext cx="245059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Dimensionar costo de tasa vs. costo de reposición del funding con Finanzas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21488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0216" y="2221992"/>
            <a:ext cx="245059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tasa escalonada condicionada a incremento de saldo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52560" y="21488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0576" y="2221992"/>
            <a:ext cx="245059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en segmento arbitrador con medición de saldo neto captado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474720"/>
            <a:ext cx="2606040" cy="114300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6616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TRIGGER CRM PRE-FUGA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347472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3547872"/>
            <a:ext cx="245059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señal: transferencias de egreso atípicas + consultas de tasa (query única a CRM)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347472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3547872"/>
            <a:ext cx="245059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de oferta de retención ANTES de la salida del saldo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52560" y="347472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3547872"/>
            <a:ext cx="245059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de fuga mensual: egresos diferidos + share por entidad destino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800600"/>
            <a:ext cx="2606040" cy="114300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8920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4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CAMPAÑA DE RECUPERACIÓN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480060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4873752"/>
            <a:ext cx="245059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win: oferta de tasa por retorno de fondos al segmento fugado-recuperable (92%)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480060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4873752"/>
            <a:ext cx="245059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 por permanencia para consolidar el saldo retornado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2560" y="480060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0576" y="4873752"/>
            <a:ext cx="245059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 incrementalidad: saldo recuperado vs. grupo de control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989320"/>
            <a:ext cx="11173968" cy="566928"/>
          </a:xfrm>
          <a:prstGeom prst="rect">
            <a:avLst/>
          </a:prstGeom>
          <a:solidFill>
            <a:srgbClr val="FFF9D6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6035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del piloto de pricing segmentado y del presupuesto de la campaña de recuperación, con gobernanza mensual de fuga ante el Directorio.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Encuesta de ahorro en soles (n=194, corte 30-jul-2026) · Hub de Pasivos. Complementa la data transaccional de egresos de junio.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2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</cp:revision>
  <dcterms:created xsi:type="dcterms:W3CDTF">2026-07-31T21:12:39Z</dcterms:created>
  <dcterms:modified xsi:type="dcterms:W3CDTF">2026-08-04T20:54:49Z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17a5ba-086b-43a5-ac20-78afcb57e39e_Enabled">
    <vt:lpwstr>true</vt:lpwstr>
  </property>
  <property fmtid="{D5CDD505-2E9C-101B-9397-08002B2CF9AE}" pid="3" name="MSIP_Label_b117a5ba-086b-43a5-ac20-78afcb57e39e_SetDate">
    <vt:lpwstr>2026-08-04T20:54:48Z</vt:lpwstr>
  </property>
  <property fmtid="{D5CDD505-2E9C-101B-9397-08002B2CF9AE}" pid="4" name="MSIP_Label_b117a5ba-086b-43a5-ac20-78afcb57e39e_Method">
    <vt:lpwstr>Standard</vt:lpwstr>
  </property>
  <property fmtid="{D5CDD505-2E9C-101B-9397-08002B2CF9AE}" pid="5" name="MSIP_Label_b117a5ba-086b-43a5-ac20-78afcb57e39e_Name">
    <vt:lpwstr>Información Interna_Producción</vt:lpwstr>
  </property>
  <property fmtid="{D5CDD505-2E9C-101B-9397-08002B2CF9AE}" pid="6" name="MSIP_Label_b117a5ba-086b-43a5-ac20-78afcb57e39e_SiteId">
    <vt:lpwstr>517e0e98-94c4-4cdc-aedf-9a5d64ccdfb2</vt:lpwstr>
  </property>
  <property fmtid="{D5CDD505-2E9C-101B-9397-08002B2CF9AE}" pid="7" name="MSIP_Label_b117a5ba-086b-43a5-ac20-78afcb57e39e_ActionId">
    <vt:lpwstr>4b7a8db8-a433-40c1-9c05-fcb09950f0ee</vt:lpwstr>
  </property>
  <property fmtid="{D5CDD505-2E9C-101B-9397-08002B2CF9AE}" pid="8" name="MSIP_Label_b117a5ba-086b-43a5-ac20-78afcb57e39e_ContentBits">
    <vt:lpwstr>2</vt:lpwstr>
  </property>
  <property fmtid="{D5CDD505-2E9C-101B-9397-08002B2CF9AE}" pid="9" name="MSIP_Label_b117a5ba-086b-43a5-ac20-78afcb57e39e_Tag">
    <vt:lpwstr>10, 3, 0, 2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Información Interna</vt:lpwstr>
  </property>
</Properties>
</file>